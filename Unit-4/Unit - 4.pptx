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206" autoAdjust="0"/>
  </p:normalViewPr>
  <p:slideViewPr>
    <p:cSldViewPr snapToGrid="0">
      <p:cViewPr>
        <p:scale>
          <a:sx n="75" d="100"/>
          <a:sy n="75" d="100"/>
        </p:scale>
        <p:origin x="540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C2B38-6B8B-8144-9502-D52FD2780971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226FD-0AA1-C14C-A7A7-3D3E3FAEE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2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4493-2CA9-8571-4937-E45C2294E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1036C-6384-5668-A896-8F559C66D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52FCC-C458-4578-09B1-A7F96EF6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DFC3-F3A1-B8C9-8624-B917C1EA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F230D-3CC0-26B9-4D66-CFD85F08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8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FAAA-C090-FF11-A066-5D037A73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08CB-F94A-8780-3C82-AD1340EE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E06A8-829A-BE65-08EE-2D7F3F9B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E45F-FB75-B34E-27F0-544E92E3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04ED-1139-D1C8-97B4-6A9FB8A3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0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4447-F8E8-EC31-5553-D60623A5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9DCF8-A867-D420-A672-6C959A5D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FED3-BE17-9E41-ED8D-B9B42ACD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FFA2-5A46-EBEA-9E9A-D8C485AF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DA7B3-BE26-7D7E-8473-2FB857A9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4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8B39-26AC-466A-D6B5-461E03BF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1A01-4126-5D51-BEDC-E4D44A01C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DED90-651B-4EDC-1F5A-BEFE59B6F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CB8B3-05BB-BAF6-00B6-CD97987C7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4D950-7D44-86BB-087A-5209FF39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ED68-4DC4-1CD3-45DD-44AB832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0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579F-E9B9-4FB3-079C-AC0EE8F9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608D8-61E9-0EC2-1135-4E5AB3694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A57A8-1B67-3DEF-41A5-D689D0D4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2DF143-0F17-FE98-282E-1935E343A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70667-B2E8-5A38-38FA-A6706EAF2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05CCF-F585-0F17-DABE-05E4FF79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47FE8-0E8D-A94F-B474-4909D0E7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5C681-F6A7-1471-4241-23FFAA8C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21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11E3-2766-C194-3035-EA92294F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54F45-D083-1E23-0957-2B94E116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71DE8-9CC0-DE1B-A9E8-E900DDCA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D2338-EB70-78B3-04E8-081C7B22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9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F10A3-7809-E665-6D31-0B72448C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10D3E-488E-86AE-1886-0C478399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70C7-6B8D-6A95-A5E8-91CD215A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4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E71E-D6EB-AD5F-11C9-859F8E79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2502-4DAC-0FAC-7A99-641DFC4D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12D85-CFBA-1710-8727-6E8044116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AF872-86E4-F287-51DC-4C920820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091E-9F74-B1FD-AC91-4BA42242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CCCE-FB4C-AE93-2649-11EF8B40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99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47C5-4675-05F0-572E-81810327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8D475-8AA4-40FA-19E0-C3CAFF96D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74253-2D73-FFBA-52EC-16A6704C6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53DF-4D80-39C5-C82B-0BD5B45D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38F90-7261-DC07-035E-01C5FF9F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4CDC3-BA46-E5C1-BFD7-E02B9982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9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F0DE-07EB-5404-5128-D2B464E7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2F2CA-0910-4A3C-BE51-67A4CBFD3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7D85-B05A-A890-F61A-331F8D0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9AD34-418D-1BD5-4033-0A9C0FE8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C38A-C1A3-02F3-460A-AED17037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6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F4D08-5D6D-E381-F67C-A2A38B5BD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4A61E-3091-96AE-E93F-FD899F09E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3682-979B-BD81-BBE6-E10D5F0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DE2A-6E26-3AB5-63D2-91533C50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2DC8D-491E-1FC1-DD4B-A90886C9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3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99742-43DF-60DD-E25A-A8A794C5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8CF3D-1224-31C1-BC1E-97D09C5B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E14CC-6728-1948-0D35-9401CB296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3085B-59BF-413B-BC82-B4923E5EA610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7C21-BCD5-1B37-9FC5-0B1460643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7B22-005B-A688-B01E-2C4677E63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8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256032" cy="6046927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82296" cy="60469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9049" y="1600200"/>
            <a:ext cx="182880" cy="5029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89049" y="2331720"/>
            <a:ext cx="182880" cy="5029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89049" y="3063240"/>
            <a:ext cx="182880" cy="5029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89049" y="3794760"/>
            <a:ext cx="182880" cy="5029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89049" y="4526280"/>
            <a:ext cx="182880" cy="5029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EC5E2"/>
                </a:solidFill>
                <a:latin typeface="Segoe UI Semibold"/>
              </a:rPr>
              <a:t>CSE276  ·  ARTIFICIAL INTELLIGENCE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9424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7D35"/>
                </a:solidFill>
                <a:latin typeface="Segoe UI Semibold"/>
              </a:rPr>
              <a:t>UNIT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15184"/>
            <a:ext cx="950976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Segoe UI Semibold"/>
              </a:rPr>
              <a:t>Evolution of Modern
Artificial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224528"/>
            <a:ext cx="2377440" cy="457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443984"/>
            <a:ext cx="90525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ACADE"/>
                </a:solidFill>
                <a:latin typeface="Segoe UI"/>
              </a:rPr>
              <a:t>How the field moved from hand-written symbols to learned statistics - and then to models trained once and reused for everything.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75504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A5C4"/>
                </a:solidFill>
                <a:latin typeface="Segoe UI"/>
              </a:rPr>
              <a:t>Symbolic vs Statistical AI  •  Supervised · Unsupervised · Reinforcement  •  Deep Learning  •  Foundation Models  •  Multimodal AI  •  Agentic AI  •  Edge and Tiny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035040"/>
            <a:ext cx="10088849" cy="10972"/>
          </a:xfrm>
          <a:prstGeom prst="rect">
            <a:avLst/>
          </a:prstGeom>
          <a:solidFill>
            <a:srgbClr val="3C5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61813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School of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569" y="61813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Session 2026-27  ·  L:2  T:0  P:2  ·  Credits: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IV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What This Unit Covers - Two Halves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Part A explains how the field got here. Part B is where it currently 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6998177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700" b="0" i="0">
                <a:solidFill>
                  <a:srgbClr val="1C2330"/>
                </a:solidFill>
                <a:latin typeface="Segoe UI"/>
              </a:rPr>
              <a:t>PART A - Evolution of Modern AI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Symbolic and statistical Artificial Intelligence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Machine learning and its three types: supervised, unsupervised, reinforcement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Introduction to deep learning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Types and applications of deep learning</a:t>
            </a:r>
          </a:p>
          <a:p>
            <a:pPr marL="237744" indent="-237744" algn="l"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700" b="0" i="0">
                <a:solidFill>
                  <a:srgbClr val="1C2330"/>
                </a:solidFill>
                <a:latin typeface="Segoe UI"/>
              </a:rPr>
              <a:t>PART B - Foundation Models and Modern Paradigms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Foundation models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Multimodal Artificial Intelligence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Agentic Artificial Intelligence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Edge AI and Tiny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7129" y="23042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E7E9EB"/>
          </a:solidFill>
          <a:ln w="22860">
            <a:solidFill>
              <a:srgbClr val="586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86476"/>
                </a:solidFill>
                <a:latin typeface="Segoe UI Semibold"/>
              </a:rPr>
              <a:t>Symbolic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rules written by people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7129" y="33329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DBF0F7"/>
          </a:solidFill>
          <a:ln w="2286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6C7"/>
                </a:solidFill>
                <a:latin typeface="Segoe UI Semibold"/>
              </a:rPr>
              <a:t>Statistical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patterns learned from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7129" y="43616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DDECE4"/>
          </a:solidFill>
          <a:ln w="2286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7C41"/>
                </a:solidFill>
                <a:latin typeface="Segoe UI Semibold"/>
              </a:rPr>
              <a:t>Deep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features learned too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7129" y="53903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E8E1EF"/>
          </a:solidFill>
          <a:ln w="2286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2D91"/>
                </a:solidFill>
                <a:latin typeface="Segoe UI Semibold"/>
              </a:rPr>
              <a:t>Foundation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train once, reuse everywhere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Symbolic and
Statistical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0096C7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Two traditions, two answers to the same question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What each is good at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statistical methods took over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symbolic methods did not disappear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SYMBOLIC AND STATISTICAL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Symbolic AI vs Statistical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Not right and wrong - two answers to 'where does the knowledge come from?'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2249424"/>
            <a:ext cx="4390628" cy="420624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Symbolic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8420" y="2249424"/>
            <a:ext cx="4390628" cy="420624"/>
          </a:xfrm>
          <a:prstGeom prst="roundRect">
            <a:avLst>
              <a:gd name="adj" fmla="val 12000"/>
            </a:avLst>
          </a:prstGeom>
          <a:solidFill>
            <a:srgbClr val="0096C7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Statistical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Knowledge comes from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9776" y="2761488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Human experts, written down as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9776" y="2761488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98420" y="2761488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Data, learned automatically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8420" y="2761488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920" y="3223260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Representation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9776" y="3223260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Symbols, rules, logic, semantic networks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9776" y="3223260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98420" y="3223260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Numbers - weights, probabilities, vectors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8420" y="3223260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3685032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Reasoning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79776" y="3685032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Deduction from explicit statements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9776" y="3685032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98420" y="3685032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Inference from patterns in examples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8420" y="3685032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4146804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Explainability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4146804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High - you can print the chain of rules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9776" y="4146804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98420" y="4146804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Low to moderate - weights are not an explanation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8420" y="4146804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02920" y="4608576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Handles uncertainty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79776" y="4608576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Poorly - logic is mostly binary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9776" y="4608576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98420" y="4608576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Naturally - probability is built 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8420" y="4608576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5070348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Handles novelty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79776" y="5070348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Badly - brittle outside its rule 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79776" y="5070348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298420" y="5070348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Better - it generalises from similar examples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8420" y="5070348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02920" y="5532120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Data needed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79776" y="5532120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None - it needs an expert instead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79776" y="5532120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298420" y="5532120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A great deal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8420" y="5532120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02920" y="5993892"/>
            <a:ext cx="2148840" cy="333756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Dominant era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79776" y="5993892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1950s to late 1980s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79776" y="5993892"/>
            <a:ext cx="54864" cy="3337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298420" y="5993892"/>
            <a:ext cx="4390628" cy="3337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C2330"/>
                </a:solidFill>
                <a:latin typeface="Segoe UI"/>
              </a:rPr>
              <a:t>1990s to the present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8420" y="5993892"/>
            <a:ext cx="54864" cy="33375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SYMBOLIC AND STATISTICAL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Why the Field Shifted - and Why Symbolic AI Survives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3712463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B49"/>
                </a:solidFill>
                <a:latin typeface="Segoe UI Semibold"/>
              </a:rPr>
              <a:t>What forced the shift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the knowledge acquisition bottleneck. Every rule had to be extracted from a human by hand, and experts frequently cannot articulate what they know.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182B49"/>
                </a:solidFill>
                <a:latin typeface="Segoe UI Semibold"/>
              </a:rPr>
              <a:t>Then three things arrived together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DATA from the internet, COMPUTE from GPUs, and better training ALGORITHMS. Any one alone would not have been enough.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182B49"/>
                </a:solidFill>
                <a:latin typeface="Segoe UI Semibold"/>
              </a:rPr>
              <a:t>The result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learning from data solved perception problems that decades of rule-writing had not.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182B49"/>
                </a:solidFill>
                <a:latin typeface="Segoe UI Semibold"/>
              </a:rPr>
              <a:t>But symbolic methods survive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wherever a decision must be EXPLAINED - medicine, credit, law, safety certification.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182B49"/>
                </a:solidFill>
                <a:latin typeface="Segoe UI Semibold"/>
              </a:rPr>
              <a:t>And wherever rules are known and exact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tax calculation, eligibility, scheduling constraints. Learning those from data would be absurd.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182B49"/>
                </a:solidFill>
                <a:latin typeface="Segoe UI Semibold"/>
              </a:rPr>
              <a:t>Neuro-symbolic AI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the current attempt to combine them: learned perception feeding symbolic reasoning.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Three things changed, and one requirement did not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DECIDE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Calculating income tax owed. Symbolic or statistical?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Machine Learning
and Its Three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107C41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What machine learning is, precisely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Supervised learning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Unsupervised learning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Reinforcement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TYPES OF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Three Types of 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The paradigm is decided by what feedback is available, not by which algorithm you prefer.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0096C7"/>
                </a:solidFill>
                <a:latin typeface="Segoe UI Semibold"/>
              </a:rPr>
              <a:t>TYPE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Supervised learning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Input: features X WITH labels y for every example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Goal: learn f such that f(X) ≈ y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Two families: classification and regression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Success is directly measurable against held-out labels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92480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6568" y="2267712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D97706"/>
                </a:solidFill>
                <a:latin typeface="Segoe UI Semibold"/>
              </a:rPr>
              <a:t>TYPE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Unsupervised learning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Input: features X only - no labels at all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Goal: discover structure already present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Clustering, dimensionality reduction, anomaly detection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No ground truth, so evaluation is indirect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568" y="2267712"/>
            <a:ext cx="5492480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4398264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107C41"/>
                </a:solidFill>
                <a:latin typeface="Segoe UI Semibold"/>
              </a:rPr>
              <a:t>TYPE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Reinforcement learning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An agent acts and receives rewards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Goal: learn a policy maximising long-term reward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Feedback is delayed, sparse and evaluative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Nobody says what the right action was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98264"/>
            <a:ext cx="5492480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6568" y="4398264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5C2D91"/>
                </a:solidFill>
                <a:latin typeface="Segoe UI Semibold"/>
              </a:rPr>
              <a:t>THE DISTINCTION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What feedback you get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Supervised: 'the answer was cat' - instruction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Reinforcement: 'that went badly' - evaluation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Unsupervised: silence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Three kinds of feedback, three paradigms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568" y="4398264"/>
            <a:ext cx="5492480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Traditional Programming vs 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Traditional programming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you supply DATA and RULES; the computer produces ANSWERS.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Machine learning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you supply DATA and ANSWERS; the computer produces RULES.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arrow reverses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and that single inversion is the whole idea.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Why it matters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some tasks humans perform effortlessly cannot be articulated as rules - recognising a face, understanding speech, telling a cat from a dog.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Polanyi's paradox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we know more than we can tell. Machine learning is the response to that gap.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When NOT to use it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if a rule works, write the rule. 'Flag every transaction above fifty thousand rupees' needs an IF statement, not a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inversion that defines the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5C2D91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What makes learning 'deep'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representation learning is the real advance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main architectures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Applications and 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4.3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What Makes Deep Learning Different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definition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neural networks with many hidden layers between input and output.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Classical machine learning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 human decides which measurements matter - this is FEATURE ENGINEERING, and it was most of the work.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Deep learning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you feed raw input, and the network discovers useful features itself.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hierarchy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in vision, early layers find edges, middle layers find shapes, deep layers find objects. Nobody programmed 'edge' or 'whisker'.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This is the real advance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not depth for its own sake, but REPRESENTATION LEARNING - the model builds its own vocabulary.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cost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large data, large compute, and a model whose internal reasoning nobody can 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features are learned, not engineered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4.3 TYPES AND APPLICATIONS OF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Types of Deep Learning and Where They Are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Five families, each shaped by the structure of its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850" b="1" i="0">
                <a:solidFill>
                  <a:srgbClr val="0096C7"/>
                </a:solidFill>
                <a:latin typeface="Segoe UI Semibold"/>
              </a:rPr>
              <a:t>ARCHITECTURE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182B49"/>
                </a:solidFill>
                <a:latin typeface="Segoe UI Semibold"/>
              </a:rPr>
              <a:t>Convolutional networks (CNN)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Built for grid data - images above all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Filters slide across the input, sharing weights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Medical imaging, quality inspection, face recognition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3594597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8685" y="2267712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850" b="1" i="0">
                <a:solidFill>
                  <a:srgbClr val="D97706"/>
                </a:solidFill>
                <a:latin typeface="Segoe UI Semibold"/>
              </a:rPr>
              <a:t>ARCHITECTURE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182B49"/>
                </a:solidFill>
                <a:latin typeface="Segoe UI Semibold"/>
              </a:rPr>
              <a:t>Recurrent networks (RNN, LSTM)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Built for sequences - text, speech, time series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State carried from one step to the next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Largely superseded by transformers for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8685" y="2267712"/>
            <a:ext cx="3594597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4451" y="2267712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850" b="1" i="0">
                <a:solidFill>
                  <a:srgbClr val="107C41"/>
                </a:solidFill>
                <a:latin typeface="Segoe UI Semibold"/>
              </a:rPr>
              <a:t>ARCHITECTURE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182B49"/>
                </a:solidFill>
                <a:latin typeface="Segoe UI Semibold"/>
              </a:rPr>
              <a:t>Transformers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Attention lets every position see every other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Parallelisable, unlike recurrent networks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The basis of every modern large language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4451" y="2267712"/>
            <a:ext cx="3594597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4398264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850" b="1" i="0">
                <a:solidFill>
                  <a:srgbClr val="5C2D91"/>
                </a:solidFill>
                <a:latin typeface="Segoe UI Semibold"/>
              </a:rPr>
              <a:t>ARCHITECTURE 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182B49"/>
                </a:solidFill>
                <a:latin typeface="Segoe UI Semibold"/>
              </a:rPr>
              <a:t>Generative models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GANs, diffusion models, autoencoders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Produce new data rather than classify existing data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Image generation, synthetic data, denoising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98264"/>
            <a:ext cx="3594597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98685" y="4398264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960" b="1" i="0">
                <a:solidFill>
                  <a:srgbClr val="B42318"/>
                </a:solidFill>
                <a:latin typeface="Segoe UI Semibold"/>
              </a:rPr>
              <a:t>ARCHITECTURE 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</a:pPr>
            <a:r>
              <a:rPr sz="1440" b="1" i="0">
                <a:solidFill>
                  <a:srgbClr val="182B49"/>
                </a:solidFill>
                <a:latin typeface="Segoe UI Semibold"/>
              </a:rPr>
              <a:t>Graph neural networks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Built for data with explicit relationships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Molecules, social networks, road networks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Recommendation and drug discovery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8685" y="4398264"/>
            <a:ext cx="3594597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94451" y="4398264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960" b="1" i="0">
                <a:solidFill>
                  <a:srgbClr val="182B49"/>
                </a:solidFill>
                <a:latin typeface="Segoe UI Semibold"/>
              </a:rPr>
              <a:t>THE LIMITATION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</a:pPr>
            <a:r>
              <a:rPr sz="1440" b="1" i="0">
                <a:solidFill>
                  <a:srgbClr val="182B49"/>
                </a:solidFill>
                <a:latin typeface="Segoe UI Semibold"/>
              </a:rPr>
              <a:t>What they all share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Large data and compute requirements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Poor interpretability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Confident failure outside the training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4451" y="4398264"/>
            <a:ext cx="3594597" cy="68580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Quick Check - Parts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93268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A623"/>
                </a:solidFill>
                <a:latin typeface="Segoe UI Semibold"/>
              </a:rPr>
              <a:t>QUICK CHECK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A hospital must be able to explain, rule by rule, why a treatment was recommended. Which approach fits best?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56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A deep neural network, because accuracy matters most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9992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33728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3496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A symbolic rule-based system, because its reasoning chain is inspectable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6656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Unsupervised clustering of patient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9992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33728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3496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Reinforcement learning from patient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26379"/>
            <a:ext cx="11186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86476"/>
                </a:solidFill>
                <a:latin typeface="Segoe UI"/>
              </a:rPr>
              <a:t>◆  click to reveal the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52059"/>
            <a:ext cx="11186129" cy="960120"/>
          </a:xfrm>
          <a:prstGeom prst="roundRect">
            <a:avLst>
              <a:gd name="adj" fmla="val 6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C41"/>
                </a:solidFill>
                <a:latin typeface="Segoe UI Semibold"/>
              </a:rPr>
              <a:t>ANSWER: B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The binding requirement is EXPLAINABILITY, not raw accuracy. A production-rule system can print the chain of rules that led to its conclusion, which a clinician can inspect and challenge. This is why symbolic methods persist in regulated domains despite being older technology.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52059"/>
            <a:ext cx="77724" cy="9601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Foundation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What a foundation model is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Pre-training and adaptation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the economics changed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Risks of building everything on one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4.4 FOUNDATION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Foundation Models - Train Once, Adapt Many Times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2811962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The definition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a very large model trained on a broad corpus, then ADAPTED to many downstream tasks rather than trained from scratch for each.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How it is trained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self-supervised - the model creates its own labels from the data, typically by predicting hidden parts of the input. No annotation is needed.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Why that matters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it removes the labelling bottleneck, so training can use essentially unlimited raw text or images.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Adaptation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fine-tuning on a small labelled set, or simply prompting with instructions and examples.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The economic change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the expensive training happens once, centrally. Everyone else adapts - which puts capable models within reach of small teams.</a:t>
            </a:r>
          </a:p>
          <a:p>
            <a:pPr algn="l">
              <a:lnSpc>
                <a:spcPct val="120000"/>
              </a:lnSpc>
              <a:spcBef>
                <a:spcPts val="680"/>
              </a:spcBef>
              <a:spcAft>
                <a:spcPts val="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Examples  </a:t>
            </a:r>
            <a:r>
              <a:rPr sz="1010" b="0" i="0">
                <a:solidFill>
                  <a:srgbClr val="1C2330"/>
                </a:solidFill>
                <a:latin typeface="Segoe UI"/>
              </a:rPr>
              <a:t>large language models, vision-language models, speech models, and protein-structure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A change in how AI systems are built, not just in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05354"/>
            <a:ext cx="11186129" cy="152229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01168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The risks of the same foundation everywhere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Homogenisation - one model's biases propagate into every application built on it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A single point of failure across an entire ecosystem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Concentration - very few organisations can afford to train 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4.5 MODERN AI PARADIGMS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Four Modern AI Paradigms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Two paradigms about capability, and two about where the computation physically happens.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0096C7"/>
                </a:solidFill>
                <a:latin typeface="Segoe UI Semibold"/>
              </a:rPr>
              <a:t>PARADIGM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Multimodal AI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One model handling text, images, audio and video together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Closer to how perception actually works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Describe an image, answer questions about a chart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Blurs the neat single-modality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92480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6568" y="2267712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107C41"/>
                </a:solidFill>
                <a:latin typeface="Segoe UI Semibold"/>
              </a:rPr>
              <a:t>PARADIGM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Agentic AI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Models that PLAN and ACT over multiple steps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Call tools, use results, decide the next step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Unit III's agent ideas, built on a foundation model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Open problem: reliability over long action chains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568" y="2267712"/>
            <a:ext cx="5492480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4398264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D97706"/>
                </a:solidFill>
                <a:latin typeface="Segoe UI Semibold"/>
              </a:rPr>
              <a:t>PARADIGM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Edge AI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Inference on the device, not in the cloud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Lower latency, works offline, data stays local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Phones, cameras, vehicles, industrial sensors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Constrained by memory and power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98264"/>
            <a:ext cx="5492480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6568" y="4398264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5C2D91"/>
                </a:solidFill>
                <a:latin typeface="Segoe UI Semibold"/>
              </a:rPr>
              <a:t>PARADIGM 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Tiny AI (TinyML)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Models small enough for microcontrollers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Kilobytes of memory, milliwatts of power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Keyword spotting, vibration monitoring, wearables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30" b="0" i="0">
                <a:solidFill>
                  <a:srgbClr val="1C2330"/>
                </a:solidFill>
                <a:latin typeface="Segoe UI"/>
              </a:rPr>
              <a:t>Quantisation and pruning make it possible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568" y="4398264"/>
            <a:ext cx="5492480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4.5 EDGE AND TINY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Edge AI and Tiny AI - Why Move the Computation?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The same trade-off in both: accept a smaller model to gain independence from the network.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55904" cy="40599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Latency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no network round trip. A vehicle cannot wait for a server to answer.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Availability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it works with no connectivity - a farm, a mine, a moving train.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Privacy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raw data never leaves the device, which matters for health, home and camera data.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Cost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no per-request inference bill and no bandwidth charges at scale.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Energy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sending data over a radio often costs more power than computing locally.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55904" cy="3840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Reasons to run on the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2267712"/>
            <a:ext cx="5455904" cy="40599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Model size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must fit in device memory - sometimes only kilobytes.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Accuracy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quantisation and pruning shrink the model and usually cost some accuracy.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Updating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pushing a new model to a million devices is harder than updating one server.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Monitoring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you cannot easily observe what a deployed edge model is doing.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The trade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you accept a smaller, slightly worse model in exchange for latency, privacy and independence.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2267712"/>
            <a:ext cx="5455904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6024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What it costs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4.1-4.5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Evolution in One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Each era answered the previous era's bottleneck.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11186129" cy="32004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249424"/>
            <a:ext cx="212018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97706"/>
                </a:solidFill>
                <a:latin typeface="Segoe UI Semibold"/>
              </a:rPr>
              <a:t>1956-80s</a:t>
            </a:r>
          </a:p>
        </p:txBody>
      </p:sp>
      <p:sp>
        <p:nvSpPr>
          <p:cNvPr id="14" name="Oval 13"/>
          <p:cNvSpPr/>
          <p:nvPr/>
        </p:nvSpPr>
        <p:spPr>
          <a:xfrm>
            <a:off x="1485287" y="2578608"/>
            <a:ext cx="155448" cy="1554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907791"/>
            <a:ext cx="2120182" cy="34198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28016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82B49"/>
                </a:solidFill>
                <a:latin typeface="Segoe UI Semibold"/>
              </a:rPr>
              <a:t>Symbolic AI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Rules written by experts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Search and logic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Expert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2120182" cy="594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69406" y="2249424"/>
            <a:ext cx="212018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96C7"/>
                </a:solidFill>
                <a:latin typeface="Segoe UI Semibold"/>
              </a:rPr>
              <a:t>1990s</a:t>
            </a:r>
          </a:p>
        </p:txBody>
      </p:sp>
      <p:sp>
        <p:nvSpPr>
          <p:cNvPr id="18" name="Oval 17"/>
          <p:cNvSpPr/>
          <p:nvPr/>
        </p:nvSpPr>
        <p:spPr>
          <a:xfrm>
            <a:off x="3751774" y="2578608"/>
            <a:ext cx="155448" cy="155448"/>
          </a:xfrm>
          <a:prstGeom prst="ellipse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69406" y="2907791"/>
            <a:ext cx="2120182" cy="34198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28016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82B49"/>
                </a:solidFill>
                <a:latin typeface="Segoe UI Semibold"/>
              </a:rPr>
              <a:t>Statistical AI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Learning from data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Probability and ML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Feature engineering by hand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9406" y="2907791"/>
            <a:ext cx="2120182" cy="5943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35893" y="2249424"/>
            <a:ext cx="212018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7C41"/>
                </a:solidFill>
                <a:latin typeface="Segoe UI Semibold"/>
              </a:rPr>
              <a:t>2012</a:t>
            </a:r>
          </a:p>
        </p:txBody>
      </p:sp>
      <p:sp>
        <p:nvSpPr>
          <p:cNvPr id="22" name="Oval 21"/>
          <p:cNvSpPr/>
          <p:nvPr/>
        </p:nvSpPr>
        <p:spPr>
          <a:xfrm>
            <a:off x="6018260" y="2578608"/>
            <a:ext cx="155448" cy="155448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35893" y="2907791"/>
            <a:ext cx="2120182" cy="34198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28016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82B49"/>
                </a:solidFill>
                <a:latin typeface="Segoe UI Semibold"/>
              </a:rPr>
              <a:t>Deep learning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Features learned, not engineered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AlexNet and GPUs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Perception largely solved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5893" y="2907791"/>
            <a:ext cx="2120182" cy="59436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02380" y="2249424"/>
            <a:ext cx="212018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C2D91"/>
                </a:solidFill>
                <a:latin typeface="Segoe UI Semibold"/>
              </a:rPr>
              <a:t>2017-20</a:t>
            </a:r>
          </a:p>
        </p:txBody>
      </p:sp>
      <p:sp>
        <p:nvSpPr>
          <p:cNvPr id="26" name="Oval 25"/>
          <p:cNvSpPr/>
          <p:nvPr/>
        </p:nvSpPr>
        <p:spPr>
          <a:xfrm>
            <a:off x="8284747" y="2578608"/>
            <a:ext cx="155448" cy="155448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02380" y="2907791"/>
            <a:ext cx="2120182" cy="34198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28016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82B49"/>
                </a:solidFill>
                <a:latin typeface="Segoe UI Semibold"/>
              </a:rPr>
              <a:t>Transformers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Attention replaces recurrence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Scales with data and compute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Foundation models become possible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2380" y="2907791"/>
            <a:ext cx="2120182" cy="59436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8866" y="2249424"/>
            <a:ext cx="212018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42318"/>
                </a:solidFill>
                <a:latin typeface="Segoe UI Semibold"/>
              </a:rPr>
              <a:t>2022-now</a:t>
            </a:r>
          </a:p>
        </p:txBody>
      </p:sp>
      <p:sp>
        <p:nvSpPr>
          <p:cNvPr id="30" name="Oval 29"/>
          <p:cNvSpPr/>
          <p:nvPr/>
        </p:nvSpPr>
        <p:spPr>
          <a:xfrm>
            <a:off x="10551234" y="2578608"/>
            <a:ext cx="155448" cy="155448"/>
          </a:xfrm>
          <a:prstGeom prst="ellipse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68866" y="2907791"/>
            <a:ext cx="2120182" cy="341985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201168" rIns="128016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82B49"/>
                </a:solidFill>
                <a:latin typeface="Segoe UI Semibold"/>
              </a:rPr>
              <a:t>Foundation &amp; agentic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Train once, adapt everywhere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Multimodal and agentic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1C2330"/>
                </a:solidFill>
                <a:latin typeface="Segoe UI"/>
              </a:rPr>
              <a:t>Pushing outward to the 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68866" y="2907791"/>
            <a:ext cx="2120182" cy="5943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IV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Activity: Place the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84124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GROUP WORK   ·   12 minutes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In groups of 3-4, take four AI systems and place each on the evolution timeline - then justify the placement.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8412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90"/>
              </a:spcAft>
            </a:pPr>
            <a:r>
              <a:rPr sz="990" b="1" i="0">
                <a:solidFill>
                  <a:srgbClr val="182B49"/>
                </a:solidFill>
                <a:latin typeface="Segoe UI Semibold"/>
              </a:rPr>
              <a:t>The four systems</a:t>
            </a:r>
          </a:p>
          <a:p>
            <a:pPr marL="237744" indent="-237744" algn="l">
              <a:lnSpc>
                <a:spcPct val="116000"/>
              </a:lnSpc>
              <a:spcBef>
                <a:spcPts val="3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850" b="0" i="0">
                <a:solidFill>
                  <a:srgbClr val="1C2330"/>
                </a:solidFill>
                <a:latin typeface="Segoe UI"/>
              </a:rPr>
              <a:t>A spam filter using hand-written keyword rules</a:t>
            </a:r>
          </a:p>
          <a:p>
            <a:pPr marL="237744" indent="-237744" algn="l">
              <a:lnSpc>
                <a:spcPct val="116000"/>
              </a:lnSpc>
              <a:spcBef>
                <a:spcPts val="3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850" b="0" i="0">
                <a:solidFill>
                  <a:srgbClr val="1C2330"/>
                </a:solidFill>
                <a:latin typeface="Segoe UI"/>
              </a:rPr>
              <a:t>A hospital triage model trained on 50,000 labelled records</a:t>
            </a:r>
          </a:p>
          <a:p>
            <a:pPr marL="237744" indent="-237744" algn="l">
              <a:lnSpc>
                <a:spcPct val="116000"/>
              </a:lnSpc>
              <a:spcBef>
                <a:spcPts val="3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850" b="0" i="0">
                <a:solidFill>
                  <a:srgbClr val="1C2330"/>
                </a:solidFill>
                <a:latin typeface="Segoe UI"/>
              </a:rPr>
              <a:t>A phone that unlocks with your face, entirely offline</a:t>
            </a:r>
          </a:p>
          <a:p>
            <a:pPr marL="237744" indent="-237744" algn="l">
              <a:lnSpc>
                <a:spcPct val="116000"/>
              </a:lnSpc>
              <a:spcBef>
                <a:spcPts val="35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850" b="0" i="0">
                <a:solidFill>
                  <a:srgbClr val="1C2330"/>
                </a:solidFill>
                <a:latin typeface="Segoe UI"/>
              </a:rPr>
              <a:t>An assistant that reads your email and books a meeting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6028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82B49"/>
                </a:solidFill>
                <a:latin typeface="Segoe UI Semibold"/>
              </a:rPr>
              <a:t>For each, decide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Symbolic, statistical, deep, foundation or agentic?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Which type of machine learning, if any?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Cloud or edge, and why?</a:t>
            </a:r>
          </a:p>
        </p:txBody>
      </p:sp>
      <p:sp>
        <p:nvSpPr>
          <p:cNvPr id="16" name="Oval 15"/>
          <p:cNvSpPr/>
          <p:nvPr/>
        </p:nvSpPr>
        <p:spPr>
          <a:xfrm>
            <a:off x="3518908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9136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82B49"/>
                </a:solidFill>
                <a:latin typeface="Segoe UI Semibold"/>
              </a:rPr>
              <a:t>Then argue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Which one could have been built in 1990, and which could not?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What specifically was missing before?</a:t>
            </a:r>
          </a:p>
        </p:txBody>
      </p:sp>
      <p:sp>
        <p:nvSpPr>
          <p:cNvPr id="18" name="Oval 17"/>
          <p:cNvSpPr/>
          <p:nvPr/>
        </p:nvSpPr>
        <p:spPr>
          <a:xfrm>
            <a:off x="6352016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2245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82B49"/>
                </a:solidFill>
                <a:latin typeface="Segoe UI Semibold"/>
              </a:rPr>
              <a:t>The awkward question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Which of the four would you NOT build with a foundation model, and why?</a:t>
            </a:r>
          </a:p>
        </p:txBody>
      </p:sp>
      <p:sp>
        <p:nvSpPr>
          <p:cNvPr id="20" name="Oval 19"/>
          <p:cNvSpPr/>
          <p:nvPr/>
        </p:nvSpPr>
        <p:spPr>
          <a:xfrm>
            <a:off x="9185125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41264"/>
            <a:ext cx="11186129" cy="786384"/>
          </a:xfrm>
          <a:prstGeom prst="roundRect">
            <a:avLst>
              <a:gd name="adj" fmla="val 7000"/>
            </a:avLst>
          </a:prstGeom>
          <a:solidFill>
            <a:srgbClr val="FEF3E0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DELIVERABLE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One speaker per group: 60 seconds on the system your group found hardest to place, and why it resisted classification.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41264"/>
            <a:ext cx="77724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IV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Unit IV - The Seven Ideas Worth Remembering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CSE276  ·  Unit 4: Evolution of Modern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2376" y="2000250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38528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Symbolic and statistical AI answer the same question differently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Symbolic gets its knowledge from experts as rules; statistical learns it from data. Neither is obsolete.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280" y="1792224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8280" y="1792224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97736" y="2000250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8088" y="1938528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The knowledge acquisition bottleneck forced the shift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Experts cannot always articulate what they know, and hand-writing rules does not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56915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756915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2376" y="2964941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2903220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Machine learning inverts traditional programming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Data plus rules gives answers; data plus answers gives rules. That inversion is the whole idea.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280" y="2756915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8280" y="2756915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97736" y="2964941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8088" y="2903220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The three types differ by the feedback available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Supervised gets instruction, reinforcement gets evaluation, unsupervised gets silence.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21608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3721608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2376" y="392963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3867912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Deep learning's advance is representation learning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The features are discovered by the model rather than engineered by a human. Depth is the means, not the point.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8280" y="3721608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8280" y="3721608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97736" y="392963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8088" y="3867912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Foundation models change the economics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Train once on broad data with self-supervision, then adapt cheaply to many tasks - at the cost of homogenised risk.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686300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4686300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2376" y="4894326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4832604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Edge and Tiny AI move computation to the device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Trading model size and some accuracy for latency, privacy, offline operation and cost.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96128"/>
            <a:ext cx="11186129" cy="731520"/>
          </a:xfrm>
          <a:prstGeom prst="roundRect">
            <a:avLst>
              <a:gd name="adj" fmla="val 7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A623"/>
                </a:solidFill>
                <a:latin typeface="Segoe UI Semibold"/>
              </a:rPr>
              <a:t>NEXT UP   </a:t>
            </a:r>
            <a:r>
              <a:rPr sz="1350" b="0" i="0">
                <a:solidFill>
                  <a:srgbClr val="D6E2F0"/>
                </a:solidFill>
                <a:latin typeface="Segoe UI"/>
              </a:rPr>
              <a:t>Unit V - Generative AI and Responsible AI: large language models, prompt engineering, RAG and hallucination; then explainability, fairness, privacy and governance.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596128"/>
            <a:ext cx="77724" cy="7315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6080</TotalTime>
  <Words>2563</Words>
  <Application>Microsoft Office PowerPoint</Application>
  <PresentationFormat>Widescreen</PresentationFormat>
  <Paragraphs>363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CSE276 Unit 4 - Evolution of Modern Artificial Intelligence</dc:title>
  <dc:subject>Artificial Intelligence Foundations</dc:subject>
  <dc:creator>School of Computer Science &amp; Engineering</dc:creator>
  <cp:lastModifiedBy>Piyush Sharma</cp:lastModifiedBy>
  <cp:revision>95</cp:revision>
  <dcterms:created xsi:type="dcterms:W3CDTF">2025-07-15T03:53:59Z</dcterms:created>
  <dcterms:modified xsi:type="dcterms:W3CDTF">2026-10-07T06:22:37Z</dcterms:modified>
</cp:coreProperties>
</file>
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77757" autoAdjust="0"/>
  </p:normalViewPr>
  <p:slideViewPr>
    <p:cSldViewPr snapToGrid="0">
      <p:cViewPr varScale="1">
        <p:scale>
          <a:sx n="55" d="100"/>
          <a:sy n="55" d="100"/>
        </p:scale>
        <p:origin x="1338" y="78"/>
      </p:cViewPr>
      <p:guideLst/>
    </p:cSldViewPr>
  </p:slideViewPr>
  <p:notesTextViewPr>
    <p:cViewPr>
      <p:scale>
        <a:sx n="1" d="1"/>
        <a:sy n="1" d="1"/>
      </p:scale>
      <p:origin x="0" y="0"/>
    </p:cViewPr>
  </p:notesTextViewPr>
  <p:sorterViewPr>
    <p:cViewPr>
      <p:scale>
        <a:sx n="86" d="100"/>
        <a:sy n="8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C2B38-6B8B-8144-9502-D52FD2780971}"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D226FD-0AA1-C14C-A7A7-3D3E3FAEEC78}" type="slidenum">
              <a:rPr lang="en-US" smtClean="0"/>
              <a:t>‹#›</a:t>
            </a:fld>
            <a:endParaRPr lang="en-US"/>
          </a:p>
        </p:txBody>
      </p:sp>
    </p:spTree>
    <p:extLst>
      <p:ext uri="{BB962C8B-B14F-4D97-AF65-F5344CB8AC3E}">
        <p14:creationId xmlns:p14="http://schemas.microsoft.com/office/powerpoint/2010/main" val="3977120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64493-2CA9-8571-4937-E45C2294EF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E01036C-6384-5668-A896-8F559C66D5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352FCC-C458-4578-09B1-A7F96EF6AB48}"/>
              </a:ext>
            </a:extLst>
          </p:cNvPr>
          <p:cNvSpPr>
            <a:spLocks noGrp="1"/>
          </p:cNvSpPr>
          <p:nvPr>
            <p:ph type="dt" sz="half" idx="10"/>
          </p:nvPr>
        </p:nvSpPr>
        <p:spPr/>
        <p:txBody>
          <a:bodyPr/>
          <a:lstStyle/>
          <a:p>
            <a:fld id="{34C3085B-59BF-413B-BC82-B4923E5EA610}" type="datetimeFigureOut">
              <a:rPr lang="en-IN" smtClean="0"/>
              <a:t>21-10-2026</a:t>
            </a:fld>
            <a:endParaRPr lang="en-IN"/>
          </a:p>
        </p:txBody>
      </p:sp>
      <p:sp>
        <p:nvSpPr>
          <p:cNvPr id="5" name="Footer Placeholder 4">
            <a:extLst>
              <a:ext uri="{FF2B5EF4-FFF2-40B4-BE49-F238E27FC236}">
                <a16:creationId xmlns:a16="http://schemas.microsoft.com/office/drawing/2014/main" id="{8A68DFC3-F3A1-B8C9-8624-B917C1EAE1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2F230D-3CC0-26B9-4D66-CFD85F08D0CF}"/>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3347485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DFAAA-C090-FF11-A066-5D037A73A2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8008CB-F94A-8780-3C82-AD1340EEB0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6E06A8-829A-BE65-08EE-2D7F3F9BD467}"/>
              </a:ext>
            </a:extLst>
          </p:cNvPr>
          <p:cNvSpPr>
            <a:spLocks noGrp="1"/>
          </p:cNvSpPr>
          <p:nvPr>
            <p:ph type="dt" sz="half" idx="10"/>
          </p:nvPr>
        </p:nvSpPr>
        <p:spPr/>
        <p:txBody>
          <a:bodyPr/>
          <a:lstStyle/>
          <a:p>
            <a:fld id="{34C3085B-59BF-413B-BC82-B4923E5EA610}" type="datetimeFigureOut">
              <a:rPr lang="en-IN" smtClean="0"/>
              <a:t>21-10-2026</a:t>
            </a:fld>
            <a:endParaRPr lang="en-IN"/>
          </a:p>
        </p:txBody>
      </p:sp>
      <p:sp>
        <p:nvSpPr>
          <p:cNvPr id="5" name="Footer Placeholder 4">
            <a:extLst>
              <a:ext uri="{FF2B5EF4-FFF2-40B4-BE49-F238E27FC236}">
                <a16:creationId xmlns:a16="http://schemas.microsoft.com/office/drawing/2014/main" id="{58E3E45F-FB75-B34E-27F0-544E92E359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0404ED-1139-D1C8-97B4-6A9FB8A34EDA}"/>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3050203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04447-F8E8-EC31-5553-D60623A552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09DCF8-A867-D420-A672-6C959A5DE9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BEFED3-BE17-9E41-ED8D-B9B42ACDC7C7}"/>
              </a:ext>
            </a:extLst>
          </p:cNvPr>
          <p:cNvSpPr>
            <a:spLocks noGrp="1"/>
          </p:cNvSpPr>
          <p:nvPr>
            <p:ph type="dt" sz="half" idx="10"/>
          </p:nvPr>
        </p:nvSpPr>
        <p:spPr/>
        <p:txBody>
          <a:bodyPr/>
          <a:lstStyle/>
          <a:p>
            <a:fld id="{34C3085B-59BF-413B-BC82-B4923E5EA610}" type="datetimeFigureOut">
              <a:rPr lang="en-IN" smtClean="0"/>
              <a:t>21-10-2026</a:t>
            </a:fld>
            <a:endParaRPr lang="en-IN"/>
          </a:p>
        </p:txBody>
      </p:sp>
      <p:sp>
        <p:nvSpPr>
          <p:cNvPr id="5" name="Footer Placeholder 4">
            <a:extLst>
              <a:ext uri="{FF2B5EF4-FFF2-40B4-BE49-F238E27FC236}">
                <a16:creationId xmlns:a16="http://schemas.microsoft.com/office/drawing/2014/main" id="{22FAFFA2-5A46-EBEA-9E9A-D8C485AF42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1DA7B3-BE26-7D7E-8473-2FB857A9F246}"/>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1044142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88B39-26AC-466A-D6B5-461E03BF3B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4B1A01-4126-5D51-BEDC-E4D44A01C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0FDED90-651B-4EDC-1F5A-BEFE59B6F9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08CB8B3-05BB-BAF6-00B6-CD97987C7421}"/>
              </a:ext>
            </a:extLst>
          </p:cNvPr>
          <p:cNvSpPr>
            <a:spLocks noGrp="1"/>
          </p:cNvSpPr>
          <p:nvPr>
            <p:ph type="dt" sz="half" idx="10"/>
          </p:nvPr>
        </p:nvSpPr>
        <p:spPr/>
        <p:txBody>
          <a:bodyPr/>
          <a:lstStyle/>
          <a:p>
            <a:fld id="{34C3085B-59BF-413B-BC82-B4923E5EA610}" type="datetimeFigureOut">
              <a:rPr lang="en-IN" smtClean="0"/>
              <a:t>21-10-2026</a:t>
            </a:fld>
            <a:endParaRPr lang="en-IN"/>
          </a:p>
        </p:txBody>
      </p:sp>
      <p:sp>
        <p:nvSpPr>
          <p:cNvPr id="6" name="Footer Placeholder 5">
            <a:extLst>
              <a:ext uri="{FF2B5EF4-FFF2-40B4-BE49-F238E27FC236}">
                <a16:creationId xmlns:a16="http://schemas.microsoft.com/office/drawing/2014/main" id="{8094D950-7D44-86BB-087A-5209FF3914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17ED68-4DC4-1CD3-45DD-44AB832EBFFD}"/>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3052500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F579F-E9B9-4FB3-079C-AC0EE8F9A75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3608D8-61E9-0EC2-1135-4E5AB3694D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9A57A8-1B67-3DEF-41A5-D689D0D4A5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F2DF143-0F17-FE98-282E-1935E343A6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D70667-B2E8-5A38-38FA-A6706EAF2E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505CCF-F585-0F17-DABE-05E4FF795B83}"/>
              </a:ext>
            </a:extLst>
          </p:cNvPr>
          <p:cNvSpPr>
            <a:spLocks noGrp="1"/>
          </p:cNvSpPr>
          <p:nvPr>
            <p:ph type="dt" sz="half" idx="10"/>
          </p:nvPr>
        </p:nvSpPr>
        <p:spPr/>
        <p:txBody>
          <a:bodyPr/>
          <a:lstStyle/>
          <a:p>
            <a:fld id="{34C3085B-59BF-413B-BC82-B4923E5EA610}" type="datetimeFigureOut">
              <a:rPr lang="en-IN" smtClean="0"/>
              <a:t>21-10-2026</a:t>
            </a:fld>
            <a:endParaRPr lang="en-IN"/>
          </a:p>
        </p:txBody>
      </p:sp>
      <p:sp>
        <p:nvSpPr>
          <p:cNvPr id="8" name="Footer Placeholder 7">
            <a:extLst>
              <a:ext uri="{FF2B5EF4-FFF2-40B4-BE49-F238E27FC236}">
                <a16:creationId xmlns:a16="http://schemas.microsoft.com/office/drawing/2014/main" id="{AB947FE8-0E8D-A94F-B474-4909D0E7890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4E5C681-F6A7-1471-4241-23FFAA8CC065}"/>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2303217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711E3-2766-C194-3035-EA92294F713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D254F45-D083-1E23-0957-2B94E1164928}"/>
              </a:ext>
            </a:extLst>
          </p:cNvPr>
          <p:cNvSpPr>
            <a:spLocks noGrp="1"/>
          </p:cNvSpPr>
          <p:nvPr>
            <p:ph type="dt" sz="half" idx="10"/>
          </p:nvPr>
        </p:nvSpPr>
        <p:spPr/>
        <p:txBody>
          <a:bodyPr/>
          <a:lstStyle/>
          <a:p>
            <a:fld id="{34C3085B-59BF-413B-BC82-B4923E5EA610}" type="datetimeFigureOut">
              <a:rPr lang="en-IN" smtClean="0"/>
              <a:t>21-10-2026</a:t>
            </a:fld>
            <a:endParaRPr lang="en-IN"/>
          </a:p>
        </p:txBody>
      </p:sp>
      <p:sp>
        <p:nvSpPr>
          <p:cNvPr id="4" name="Footer Placeholder 3">
            <a:extLst>
              <a:ext uri="{FF2B5EF4-FFF2-40B4-BE49-F238E27FC236}">
                <a16:creationId xmlns:a16="http://schemas.microsoft.com/office/drawing/2014/main" id="{D0571DE8-9CC0-DE1B-A9E8-E900DDCAE60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5DD2338-EB70-78B3-04E8-081C7B2293E2}"/>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3276397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6F10A3-7809-E665-6D31-0B72448C2EBC}"/>
              </a:ext>
            </a:extLst>
          </p:cNvPr>
          <p:cNvSpPr>
            <a:spLocks noGrp="1"/>
          </p:cNvSpPr>
          <p:nvPr>
            <p:ph type="dt" sz="half" idx="10"/>
          </p:nvPr>
        </p:nvSpPr>
        <p:spPr/>
        <p:txBody>
          <a:bodyPr/>
          <a:lstStyle/>
          <a:p>
            <a:fld id="{34C3085B-59BF-413B-BC82-B4923E5EA610}" type="datetimeFigureOut">
              <a:rPr lang="en-IN" smtClean="0"/>
              <a:t>21-10-2026</a:t>
            </a:fld>
            <a:endParaRPr lang="en-IN"/>
          </a:p>
        </p:txBody>
      </p:sp>
      <p:sp>
        <p:nvSpPr>
          <p:cNvPr id="3" name="Footer Placeholder 2">
            <a:extLst>
              <a:ext uri="{FF2B5EF4-FFF2-40B4-BE49-F238E27FC236}">
                <a16:creationId xmlns:a16="http://schemas.microsoft.com/office/drawing/2014/main" id="{22A10D3E-488E-86AE-1886-0C478399E05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94E70C7-6B8D-6A95-A5E8-91CD215A617E}"/>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1633342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5E71E-D6EB-AD5F-11C9-859F8E795F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D662502-4DAC-0FAC-7A99-641DFC4DB7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412D85-CFBA-1710-8727-6E8044116C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1AF872-86E4-F287-51DC-4C920820B0D5}"/>
              </a:ext>
            </a:extLst>
          </p:cNvPr>
          <p:cNvSpPr>
            <a:spLocks noGrp="1"/>
          </p:cNvSpPr>
          <p:nvPr>
            <p:ph type="dt" sz="half" idx="10"/>
          </p:nvPr>
        </p:nvSpPr>
        <p:spPr/>
        <p:txBody>
          <a:bodyPr/>
          <a:lstStyle/>
          <a:p>
            <a:fld id="{34C3085B-59BF-413B-BC82-B4923E5EA610}" type="datetimeFigureOut">
              <a:rPr lang="en-IN" smtClean="0"/>
              <a:t>21-10-2026</a:t>
            </a:fld>
            <a:endParaRPr lang="en-IN"/>
          </a:p>
        </p:txBody>
      </p:sp>
      <p:sp>
        <p:nvSpPr>
          <p:cNvPr id="6" name="Footer Placeholder 5">
            <a:extLst>
              <a:ext uri="{FF2B5EF4-FFF2-40B4-BE49-F238E27FC236}">
                <a16:creationId xmlns:a16="http://schemas.microsoft.com/office/drawing/2014/main" id="{EA65091E-9F74-B1FD-AC91-4BA4224274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D5CCCE-FB4C-AE93-2649-11EF8B40CDC7}"/>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3885995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547C5-4675-05F0-572E-818103276A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E8D475-8AA4-40FA-19E0-C3CAFF96D1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BB74253-2D73-FFBA-52EC-16A6704C69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3753DF-4D80-39C5-C82B-0BD5B45DC8E3}"/>
              </a:ext>
            </a:extLst>
          </p:cNvPr>
          <p:cNvSpPr>
            <a:spLocks noGrp="1"/>
          </p:cNvSpPr>
          <p:nvPr>
            <p:ph type="dt" sz="half" idx="10"/>
          </p:nvPr>
        </p:nvSpPr>
        <p:spPr/>
        <p:txBody>
          <a:bodyPr/>
          <a:lstStyle/>
          <a:p>
            <a:fld id="{34C3085B-59BF-413B-BC82-B4923E5EA610}" type="datetimeFigureOut">
              <a:rPr lang="en-IN" smtClean="0"/>
              <a:t>21-10-2026</a:t>
            </a:fld>
            <a:endParaRPr lang="en-IN"/>
          </a:p>
        </p:txBody>
      </p:sp>
      <p:sp>
        <p:nvSpPr>
          <p:cNvPr id="6" name="Footer Placeholder 5">
            <a:extLst>
              <a:ext uri="{FF2B5EF4-FFF2-40B4-BE49-F238E27FC236}">
                <a16:creationId xmlns:a16="http://schemas.microsoft.com/office/drawing/2014/main" id="{F4938F90-7261-DC07-035E-01C5FF9F01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E4CDC3-BA46-E5C1-BFD7-E02B99826A2F}"/>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3654296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1F0DE-07EB-5404-5128-D2B464E707D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52F2CA-0910-4A3C-BE51-67A4CBFD30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007D85-B05A-A890-F61A-331F8D038723}"/>
              </a:ext>
            </a:extLst>
          </p:cNvPr>
          <p:cNvSpPr>
            <a:spLocks noGrp="1"/>
          </p:cNvSpPr>
          <p:nvPr>
            <p:ph type="dt" sz="half" idx="10"/>
          </p:nvPr>
        </p:nvSpPr>
        <p:spPr/>
        <p:txBody>
          <a:bodyPr/>
          <a:lstStyle/>
          <a:p>
            <a:fld id="{34C3085B-59BF-413B-BC82-B4923E5EA610}" type="datetimeFigureOut">
              <a:rPr lang="en-IN" smtClean="0"/>
              <a:t>21-10-2026</a:t>
            </a:fld>
            <a:endParaRPr lang="en-IN"/>
          </a:p>
        </p:txBody>
      </p:sp>
      <p:sp>
        <p:nvSpPr>
          <p:cNvPr id="5" name="Footer Placeholder 4">
            <a:extLst>
              <a:ext uri="{FF2B5EF4-FFF2-40B4-BE49-F238E27FC236}">
                <a16:creationId xmlns:a16="http://schemas.microsoft.com/office/drawing/2014/main" id="{2689AD34-418D-1BD5-4033-0A9C0FE87E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B7C38A-C1A3-02F3-460A-AED170379B94}"/>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764367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AF4D08-5D6D-E381-F67C-A2A38B5BDC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34A61E-3091-96AE-E93F-FD899F09E4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2D3682-979B-BD81-BBE6-E10D5F02CA63}"/>
              </a:ext>
            </a:extLst>
          </p:cNvPr>
          <p:cNvSpPr>
            <a:spLocks noGrp="1"/>
          </p:cNvSpPr>
          <p:nvPr>
            <p:ph type="dt" sz="half" idx="10"/>
          </p:nvPr>
        </p:nvSpPr>
        <p:spPr/>
        <p:txBody>
          <a:bodyPr/>
          <a:lstStyle/>
          <a:p>
            <a:fld id="{34C3085B-59BF-413B-BC82-B4923E5EA610}" type="datetimeFigureOut">
              <a:rPr lang="en-IN" smtClean="0"/>
              <a:t>21-10-2026</a:t>
            </a:fld>
            <a:endParaRPr lang="en-IN"/>
          </a:p>
        </p:txBody>
      </p:sp>
      <p:sp>
        <p:nvSpPr>
          <p:cNvPr id="5" name="Footer Placeholder 4">
            <a:extLst>
              <a:ext uri="{FF2B5EF4-FFF2-40B4-BE49-F238E27FC236}">
                <a16:creationId xmlns:a16="http://schemas.microsoft.com/office/drawing/2014/main" id="{1DEBDE2A-6E26-3AB5-63D2-91533C506C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52DC8D-491E-1FC1-DD4B-A90886C94B3B}"/>
              </a:ext>
            </a:extLst>
          </p:cNvPr>
          <p:cNvSpPr>
            <a:spLocks noGrp="1"/>
          </p:cNvSpPr>
          <p:nvPr>
            <p:ph type="sldNum" sz="quarter" idx="12"/>
          </p:nvPr>
        </p:nvSpPr>
        <p:spPr/>
        <p:txBody>
          <a:bodyPr/>
          <a:lstStyle/>
          <a:p>
            <a:fld id="{AB5C793E-F706-40D9-8BEC-FAE7851A491D}" type="slidenum">
              <a:rPr lang="en-IN" smtClean="0"/>
              <a:t>‹#›</a:t>
            </a:fld>
            <a:endParaRPr lang="en-IN"/>
          </a:p>
        </p:txBody>
      </p:sp>
    </p:spTree>
    <p:extLst>
      <p:ext uri="{BB962C8B-B14F-4D97-AF65-F5344CB8AC3E}">
        <p14:creationId xmlns:p14="http://schemas.microsoft.com/office/powerpoint/2010/main" val="2093131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9" name="Rectangle 8"/>
          <p:cNvSpPr/>
          <p:nvPr userDrawn="1"/>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
        <p:nvSpPr>
          <p:cNvPr id="2" name="Rectangle 1">
            <a:extLst>
              <a:ext uri="{FF2B5EF4-FFF2-40B4-BE49-F238E27FC236}">
                <a16:creationId xmlns:a16="http://schemas.microsoft.com/office/drawing/2014/main" id="{7E43606C-9B53-79F1-02DD-16BC50BEB5CE}"/>
              </a:ext>
            </a:extLst>
          </p:cNvPr>
          <p:cNvSpPr/>
          <p:nvPr userDrawn="1"/>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1E07FF37-7309-52C1-8095-3F729737C23E}"/>
              </a:ext>
            </a:extLst>
          </p:cNvPr>
          <p:cNvPicPr>
            <a:picLocks noChangeAspect="1"/>
          </p:cNvPicPr>
          <p:nvPr userDrawn="1"/>
        </p:nvPicPr>
        <p:blipFill>
          <a:blip r:embed="rId2"/>
          <a:stretch>
            <a:fillRect/>
          </a:stretch>
        </p:blipFill>
        <p:spPr>
          <a:xfrm>
            <a:off x="10355072" y="178307"/>
            <a:ext cx="1547520" cy="418630"/>
          </a:xfrm>
          <a:prstGeom prst="rect">
            <a:avLst/>
          </a:prstGeom>
        </p:spPr>
      </p:pic>
      <p:pic>
        <p:nvPicPr>
          <p:cNvPr id="4" name="Picture 3">
            <a:extLst>
              <a:ext uri="{FF2B5EF4-FFF2-40B4-BE49-F238E27FC236}">
                <a16:creationId xmlns:a16="http://schemas.microsoft.com/office/drawing/2014/main" id="{C148388E-C341-A5AF-55B7-4442EC1A9BDB}"/>
              </a:ext>
            </a:extLst>
          </p:cNvPr>
          <p:cNvPicPr>
            <a:picLocks noChangeAspect="1"/>
          </p:cNvPicPr>
          <p:nvPr userDrawn="1"/>
        </p:nvPicPr>
        <p:blipFill>
          <a:blip r:embed="rId3"/>
          <a:stretch>
            <a:fillRect/>
          </a:stretch>
        </p:blipFill>
        <p:spPr>
          <a:xfrm>
            <a:off x="328281" y="178308"/>
            <a:ext cx="1581202" cy="505420"/>
          </a:xfrm>
          <a:prstGeom prst="rect">
            <a:avLst/>
          </a:prstGeom>
        </p:spPr>
      </p:pic>
    </p:spTree>
    <p:extLst>
      <p:ext uri="{BB962C8B-B14F-4D97-AF65-F5344CB8AC3E}">
        <p14:creationId xmlns:p14="http://schemas.microsoft.com/office/powerpoint/2010/main" val="2404081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D99742-43DF-60DD-E25A-A8A794C58F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A8CF3D-1224-31C1-BC1E-97D09C5BA1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5E14CC-6728-1948-0D35-9401CB2966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C3085B-59BF-413B-BC82-B4923E5EA610}" type="datetimeFigureOut">
              <a:rPr lang="en-IN" smtClean="0"/>
              <a:t>21-10-2026</a:t>
            </a:fld>
            <a:endParaRPr lang="en-IN"/>
          </a:p>
        </p:txBody>
      </p:sp>
      <p:sp>
        <p:nvSpPr>
          <p:cNvPr id="5" name="Footer Placeholder 4">
            <a:extLst>
              <a:ext uri="{FF2B5EF4-FFF2-40B4-BE49-F238E27FC236}">
                <a16:creationId xmlns:a16="http://schemas.microsoft.com/office/drawing/2014/main" id="{56CF7C21-BCD5-1B37-9FC5-0B14606436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1837B22-005B-A688-B01E-2C4677E63D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5C793E-F706-40D9-8BEC-FAE7851A491D}" type="slidenum">
              <a:rPr lang="en-IN" smtClean="0"/>
              <a:t>‹#›</a:t>
            </a:fld>
            <a:endParaRPr lang="en-IN"/>
          </a:p>
        </p:txBody>
      </p:sp>
    </p:spTree>
    <p:extLst>
      <p:ext uri="{BB962C8B-B14F-4D97-AF65-F5344CB8AC3E}">
        <p14:creationId xmlns:p14="http://schemas.microsoft.com/office/powerpoint/2010/main" val="1169086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31520"/>
            <a:ext cx="12191969" cy="6046927"/>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731520"/>
            <a:ext cx="256032" cy="6046927"/>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256032" y="731520"/>
            <a:ext cx="82296" cy="6046927"/>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Rectangle 4"/>
          <p:cNvSpPr/>
          <p:nvPr/>
        </p:nvSpPr>
        <p:spPr>
          <a:xfrm>
            <a:off x="11689049" y="1600200"/>
            <a:ext cx="182880" cy="50292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11689049" y="2331720"/>
            <a:ext cx="182880" cy="50292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11689049" y="3063240"/>
            <a:ext cx="182880" cy="502920"/>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11689049" y="3794760"/>
            <a:ext cx="182880" cy="50292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11689049" y="4526280"/>
            <a:ext cx="182880" cy="50292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051560" y="1810512"/>
            <a:ext cx="8778240" cy="365760"/>
          </a:xfrm>
          <a:prstGeom prst="rect">
            <a:avLst/>
          </a:prstGeom>
          <a:noFill/>
        </p:spPr>
        <p:txBody>
          <a:bodyPr wrap="square" lIns="0" tIns="0" rIns="0" bIns="0" anchor="t">
            <a:spAutoFit/>
          </a:bodyPr>
          <a:lstStyle/>
          <a:p>
            <a:pPr algn="l">
              <a:lnSpc>
                <a:spcPct val="115000"/>
              </a:lnSpc>
              <a:spcBef>
                <a:spcPts val="0"/>
              </a:spcBef>
              <a:spcAft>
                <a:spcPts val="0"/>
              </a:spcAft>
            </a:pPr>
            <a:r>
              <a:rPr sz="1250" b="1" i="0">
                <a:solidFill>
                  <a:srgbClr val="7EC5E2"/>
                </a:solidFill>
                <a:latin typeface="Segoe UI Semibold"/>
              </a:rPr>
              <a:t>CSE276  ·  ARTIFICIAL INTELLIGENCE FOUNDATIONS</a:t>
            </a:r>
          </a:p>
        </p:txBody>
      </p:sp>
      <p:sp>
        <p:nvSpPr>
          <p:cNvPr id="11" name="TextBox 10"/>
          <p:cNvSpPr txBox="1"/>
          <p:nvPr/>
        </p:nvSpPr>
        <p:spPr>
          <a:xfrm>
            <a:off x="1051560" y="2249424"/>
            <a:ext cx="9326880" cy="384048"/>
          </a:xfrm>
          <a:prstGeom prst="rect">
            <a:avLst/>
          </a:prstGeom>
          <a:noFill/>
        </p:spPr>
        <p:txBody>
          <a:bodyPr wrap="square" lIns="0" tIns="0" rIns="0" bIns="0" anchor="t">
            <a:spAutoFit/>
          </a:bodyPr>
          <a:lstStyle/>
          <a:p>
            <a:pPr algn="l">
              <a:lnSpc>
                <a:spcPct val="115000"/>
              </a:lnSpc>
              <a:spcBef>
                <a:spcPts val="0"/>
              </a:spcBef>
              <a:spcAft>
                <a:spcPts val="0"/>
              </a:spcAft>
            </a:pPr>
            <a:r>
              <a:rPr sz="1500" b="1" i="0">
                <a:solidFill>
                  <a:srgbClr val="F47D35"/>
                </a:solidFill>
                <a:latin typeface="Segoe UI Semibold"/>
              </a:rPr>
              <a:t>UNIT 5</a:t>
            </a:r>
          </a:p>
        </p:txBody>
      </p:sp>
      <p:sp>
        <p:nvSpPr>
          <p:cNvPr id="12" name="TextBox 11"/>
          <p:cNvSpPr txBox="1"/>
          <p:nvPr/>
        </p:nvSpPr>
        <p:spPr>
          <a:xfrm>
            <a:off x="1051560" y="2615184"/>
            <a:ext cx="9509760" cy="1481328"/>
          </a:xfrm>
          <a:prstGeom prst="rect">
            <a:avLst/>
          </a:prstGeom>
          <a:noFill/>
        </p:spPr>
        <p:txBody>
          <a:bodyPr wrap="square" lIns="0" tIns="0" rIns="0" bIns="0" anchor="t">
            <a:spAutoFit/>
          </a:bodyPr>
          <a:lstStyle/>
          <a:p>
            <a:pPr algn="l">
              <a:lnSpc>
                <a:spcPct val="103000"/>
              </a:lnSpc>
              <a:spcBef>
                <a:spcPts val="0"/>
              </a:spcBef>
              <a:spcAft>
                <a:spcPts val="0"/>
              </a:spcAft>
            </a:pPr>
            <a:r>
              <a:rPr sz="3500" b="1" i="0">
                <a:solidFill>
                  <a:srgbClr val="FFFFFF"/>
                </a:solidFill>
                <a:latin typeface="Segoe UI Semibold"/>
              </a:rPr>
              <a:t>Generative AI and
Responsible Artificial Intelligence</a:t>
            </a:r>
          </a:p>
        </p:txBody>
      </p:sp>
      <p:sp>
        <p:nvSpPr>
          <p:cNvPr id="13" name="Rectangle 12"/>
          <p:cNvSpPr/>
          <p:nvPr/>
        </p:nvSpPr>
        <p:spPr>
          <a:xfrm>
            <a:off x="1051560" y="4224528"/>
            <a:ext cx="2377440" cy="45720"/>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1051560" y="4443984"/>
            <a:ext cx="9052560" cy="621792"/>
          </a:xfrm>
          <a:prstGeom prst="rect">
            <a:avLst/>
          </a:prstGeom>
          <a:noFill/>
        </p:spPr>
        <p:txBody>
          <a:bodyPr wrap="square" lIns="0" tIns="0" rIns="0" bIns="0" anchor="t">
            <a:spAutoFit/>
          </a:bodyPr>
          <a:lstStyle/>
          <a:p>
            <a:pPr algn="l">
              <a:lnSpc>
                <a:spcPct val="125000"/>
              </a:lnSpc>
              <a:spcBef>
                <a:spcPts val="0"/>
              </a:spcBef>
              <a:spcAft>
                <a:spcPts val="0"/>
              </a:spcAft>
            </a:pPr>
            <a:r>
              <a:rPr sz="1500" b="0" i="0">
                <a:solidFill>
                  <a:srgbClr val="BACADE"/>
                </a:solidFill>
                <a:latin typeface="Segoe UI"/>
              </a:rPr>
              <a:t>How large language models work, how to get useful output from them - and the obligations that come with deploying systems that affect people.</a:t>
            </a:r>
          </a:p>
        </p:txBody>
      </p:sp>
      <p:sp>
        <p:nvSpPr>
          <p:cNvPr id="15" name="TextBox 14"/>
          <p:cNvSpPr txBox="1"/>
          <p:nvPr/>
        </p:nvSpPr>
        <p:spPr>
          <a:xfrm>
            <a:off x="1051560" y="5175504"/>
            <a:ext cx="9326880" cy="457200"/>
          </a:xfrm>
          <a:prstGeom prst="rect">
            <a:avLst/>
          </a:prstGeom>
          <a:noFill/>
        </p:spPr>
        <p:txBody>
          <a:bodyPr wrap="square" lIns="0" tIns="0" rIns="0" bIns="0" anchor="t">
            <a:spAutoFit/>
          </a:bodyPr>
          <a:lstStyle/>
          <a:p>
            <a:pPr algn="l">
              <a:lnSpc>
                <a:spcPct val="115000"/>
              </a:lnSpc>
              <a:spcBef>
                <a:spcPts val="0"/>
              </a:spcBef>
              <a:spcAft>
                <a:spcPts val="0"/>
              </a:spcAft>
            </a:pPr>
            <a:r>
              <a:rPr sz="1150" b="0" i="0">
                <a:solidFill>
                  <a:srgbClr val="8CA5C4"/>
                </a:solidFill>
                <a:latin typeface="Segoe UI"/>
              </a:rPr>
              <a:t>Generative AI  •  Large Language Models  •  Prompt Engineering  •  RAG  •  Hallucination  •  Explainable AI  •  Fairness &amp; Bias  •  Privacy · Governance · Ethics</a:t>
            </a:r>
          </a:p>
        </p:txBody>
      </p:sp>
      <p:sp>
        <p:nvSpPr>
          <p:cNvPr id="16" name="Rectangle 15"/>
          <p:cNvSpPr/>
          <p:nvPr/>
        </p:nvSpPr>
        <p:spPr>
          <a:xfrm>
            <a:off x="1051560" y="6035040"/>
            <a:ext cx="10088849" cy="10972"/>
          </a:xfrm>
          <a:prstGeom prst="rect">
            <a:avLst/>
          </a:prstGeom>
          <a:solidFill>
            <a:srgbClr val="3C588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1051560" y="6181344"/>
            <a:ext cx="5943600" cy="365760"/>
          </a:xfrm>
          <a:prstGeom prst="rect">
            <a:avLst/>
          </a:prstGeom>
          <a:noFill/>
        </p:spPr>
        <p:txBody>
          <a:bodyPr wrap="square" lIns="0" tIns="0" rIns="0" bIns="0" anchor="t">
            <a:spAutoFit/>
          </a:bodyPr>
          <a:lstStyle/>
          <a:p>
            <a:pPr algn="l">
              <a:lnSpc>
                <a:spcPct val="115000"/>
              </a:lnSpc>
              <a:spcBef>
                <a:spcPts val="0"/>
              </a:spcBef>
              <a:spcAft>
                <a:spcPts val="0"/>
              </a:spcAft>
            </a:pPr>
            <a:r>
              <a:rPr sz="1150" b="0" i="0">
                <a:solidFill>
                  <a:srgbClr val="96AFCD"/>
                </a:solidFill>
                <a:latin typeface="Segoe UI"/>
              </a:rPr>
              <a:t>School of Computer Science &amp; Engineering</a:t>
            </a:r>
          </a:p>
        </p:txBody>
      </p:sp>
      <p:sp>
        <p:nvSpPr>
          <p:cNvPr id="18" name="TextBox 17"/>
          <p:cNvSpPr txBox="1"/>
          <p:nvPr/>
        </p:nvSpPr>
        <p:spPr>
          <a:xfrm>
            <a:off x="6705569" y="6181344"/>
            <a:ext cx="4572000" cy="365760"/>
          </a:xfrm>
          <a:prstGeom prst="rect">
            <a:avLst/>
          </a:prstGeom>
          <a:noFill/>
        </p:spPr>
        <p:txBody>
          <a:bodyPr wrap="square" lIns="0" tIns="0" rIns="0" bIns="0" anchor="t">
            <a:spAutoFit/>
          </a:bodyPr>
          <a:lstStyle/>
          <a:p>
            <a:pPr algn="r">
              <a:lnSpc>
                <a:spcPct val="115000"/>
              </a:lnSpc>
              <a:spcBef>
                <a:spcPts val="0"/>
              </a:spcBef>
              <a:spcAft>
                <a:spcPts val="0"/>
              </a:spcAft>
            </a:pPr>
            <a:r>
              <a:rPr sz="1150" b="0" i="0">
                <a:solidFill>
                  <a:srgbClr val="96AFCD"/>
                </a:solidFill>
                <a:latin typeface="Segoe UI"/>
              </a:rPr>
              <a:t>Session 2026-27  ·  L:2  T:0  P:2  ·  Credits: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UNIT V ROADMAP</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What This Unit Covers - Two Halves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5</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CSE276  ·  Unit 5: Generative AI and Responsible Artificial Intelligence</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2</a:t>
            </a:r>
          </a:p>
        </p:txBody>
      </p:sp>
      <p:sp>
        <p:nvSpPr>
          <p:cNvPr id="11" name="TextBox 10"/>
          <p:cNvSpPr txBox="1"/>
          <p:nvPr/>
        </p:nvSpPr>
        <p:spPr>
          <a:xfrm>
            <a:off x="502920" y="1792224"/>
            <a:ext cx="11186129" cy="457200"/>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Part A is capability. Part B is the obligation that comes with it.</a:t>
            </a:r>
          </a:p>
        </p:txBody>
      </p:sp>
      <p:sp>
        <p:nvSpPr>
          <p:cNvPr id="12" name="TextBox 11"/>
          <p:cNvSpPr txBox="1"/>
          <p:nvPr/>
        </p:nvSpPr>
        <p:spPr>
          <a:xfrm>
            <a:off x="502920" y="2304288"/>
            <a:ext cx="6998177" cy="4023360"/>
          </a:xfrm>
          <a:prstGeom prst="rect">
            <a:avLst/>
          </a:prstGeom>
          <a:noFill/>
        </p:spPr>
        <p:txBody>
          <a:bodyPr wrap="square" lIns="0" tIns="0" rIns="0" bIns="0" anchor="t">
            <a:spAutoFit/>
          </a:bodyPr>
          <a:lstStyle/>
          <a:p>
            <a:pPr marL="237744" indent="-237744" algn="l">
              <a:lnSpc>
                <a:spcPct val="116000"/>
              </a:lnSpc>
              <a:spcBef>
                <a:spcPts val="0"/>
              </a:spcBef>
              <a:spcAft>
                <a:spcPts val="0"/>
              </a:spcAft>
              <a:buClr>
                <a:srgbClr val="0096C7"/>
              </a:buClr>
              <a:buSzPct val="86000"/>
              <a:buFont typeface="Arial"/>
              <a:buChar char="▪"/>
            </a:pPr>
            <a:r>
              <a:rPr sz="1700" b="0" i="0">
                <a:solidFill>
                  <a:srgbClr val="1C2330"/>
                </a:solidFill>
                <a:latin typeface="Segoe UI"/>
              </a:rPr>
              <a:t>PART A - Generative Artificial Intelligence</a:t>
            </a:r>
          </a:p>
          <a:p>
            <a:pPr marL="475488" indent="-237744" algn="l">
              <a:lnSpc>
                <a:spcPct val="114000"/>
              </a:lnSpc>
              <a:spcBef>
                <a:spcPts val="500"/>
              </a:spcBef>
              <a:spcAft>
                <a:spcPts val="0"/>
              </a:spcAft>
              <a:buClr>
                <a:srgbClr val="586476"/>
              </a:buClr>
              <a:buSzPct val="86000"/>
              <a:buFont typeface="Arial"/>
              <a:buChar char="–"/>
            </a:pPr>
            <a:r>
              <a:rPr sz="1400" b="0" i="0">
                <a:solidFill>
                  <a:srgbClr val="586476"/>
                </a:solidFill>
                <a:latin typeface="Segoe UI"/>
              </a:rPr>
              <a:t>Generative AI concepts and their applications</a:t>
            </a:r>
          </a:p>
          <a:p>
            <a:pPr marL="475488" indent="-237744" algn="l">
              <a:lnSpc>
                <a:spcPct val="114000"/>
              </a:lnSpc>
              <a:spcBef>
                <a:spcPts val="500"/>
              </a:spcBef>
              <a:spcAft>
                <a:spcPts val="0"/>
              </a:spcAft>
              <a:buClr>
                <a:srgbClr val="586476"/>
              </a:buClr>
              <a:buSzPct val="86000"/>
              <a:buFont typeface="Arial"/>
              <a:buChar char="–"/>
            </a:pPr>
            <a:r>
              <a:rPr sz="1400" b="0" i="0">
                <a:solidFill>
                  <a:srgbClr val="586476"/>
                </a:solidFill>
                <a:latin typeface="Segoe UI"/>
              </a:rPr>
              <a:t>Large Language Models</a:t>
            </a:r>
          </a:p>
          <a:p>
            <a:pPr marL="475488" indent="-237744" algn="l">
              <a:lnSpc>
                <a:spcPct val="114000"/>
              </a:lnSpc>
              <a:spcBef>
                <a:spcPts val="500"/>
              </a:spcBef>
              <a:spcAft>
                <a:spcPts val="0"/>
              </a:spcAft>
              <a:buClr>
                <a:srgbClr val="586476"/>
              </a:buClr>
              <a:buSzPct val="86000"/>
              <a:buFont typeface="Arial"/>
              <a:buChar char="–"/>
            </a:pPr>
            <a:r>
              <a:rPr sz="1400" b="0" i="0">
                <a:solidFill>
                  <a:srgbClr val="586476"/>
                </a:solidFill>
                <a:latin typeface="Segoe UI"/>
              </a:rPr>
              <a:t>Prompt engineering fundamentals and prompt design techniques</a:t>
            </a:r>
          </a:p>
          <a:p>
            <a:pPr marL="475488" indent="-237744" algn="l">
              <a:lnSpc>
                <a:spcPct val="114000"/>
              </a:lnSpc>
              <a:spcBef>
                <a:spcPts val="500"/>
              </a:spcBef>
              <a:spcAft>
                <a:spcPts val="0"/>
              </a:spcAft>
              <a:buClr>
                <a:srgbClr val="586476"/>
              </a:buClr>
              <a:buSzPct val="86000"/>
              <a:buFont typeface="Arial"/>
              <a:buChar char="–"/>
            </a:pPr>
            <a:r>
              <a:rPr sz="1400" b="0" i="0">
                <a:solidFill>
                  <a:srgbClr val="586476"/>
                </a:solidFill>
                <a:latin typeface="Segoe UI"/>
              </a:rPr>
              <a:t>Retrieval-Augmented Generation (RAG)</a:t>
            </a:r>
          </a:p>
          <a:p>
            <a:pPr marL="475488" indent="-237744" algn="l">
              <a:lnSpc>
                <a:spcPct val="114000"/>
              </a:lnSpc>
              <a:spcBef>
                <a:spcPts val="500"/>
              </a:spcBef>
              <a:spcAft>
                <a:spcPts val="0"/>
              </a:spcAft>
              <a:buClr>
                <a:srgbClr val="586476"/>
              </a:buClr>
              <a:buSzPct val="86000"/>
              <a:buFont typeface="Arial"/>
              <a:buChar char="–"/>
            </a:pPr>
            <a:r>
              <a:rPr sz="1400" b="0" i="0">
                <a:solidFill>
                  <a:srgbClr val="586476"/>
                </a:solidFill>
                <a:latin typeface="Segoe UI"/>
              </a:rPr>
              <a:t>Hallucination in LLMs and mitigation strategies</a:t>
            </a:r>
          </a:p>
          <a:p>
            <a:pPr marL="237744" indent="-237744" algn="l">
              <a:lnSpc>
                <a:spcPct val="116000"/>
              </a:lnSpc>
              <a:spcBef>
                <a:spcPts val="1100"/>
              </a:spcBef>
              <a:spcAft>
                <a:spcPts val="0"/>
              </a:spcAft>
              <a:buClr>
                <a:srgbClr val="0096C7"/>
              </a:buClr>
              <a:buSzPct val="86000"/>
              <a:buFont typeface="Arial"/>
              <a:buChar char="▪"/>
            </a:pPr>
            <a:r>
              <a:rPr sz="1700" b="0" i="0">
                <a:solidFill>
                  <a:srgbClr val="1C2330"/>
                </a:solidFill>
                <a:latin typeface="Segoe UI"/>
              </a:rPr>
              <a:t>PART B - Responsible and Explainable AI</a:t>
            </a:r>
          </a:p>
          <a:p>
            <a:pPr marL="475488" indent="-237744" algn="l">
              <a:lnSpc>
                <a:spcPct val="114000"/>
              </a:lnSpc>
              <a:spcBef>
                <a:spcPts val="500"/>
              </a:spcBef>
              <a:spcAft>
                <a:spcPts val="0"/>
              </a:spcAft>
              <a:buClr>
                <a:srgbClr val="586476"/>
              </a:buClr>
              <a:buSzPct val="86000"/>
              <a:buFont typeface="Arial"/>
              <a:buChar char="–"/>
            </a:pPr>
            <a:r>
              <a:rPr sz="1400" b="0" i="0">
                <a:solidFill>
                  <a:srgbClr val="586476"/>
                </a:solidFill>
                <a:latin typeface="Segoe UI"/>
              </a:rPr>
              <a:t>Explainable Artificial Intelligence</a:t>
            </a:r>
          </a:p>
          <a:p>
            <a:pPr marL="475488" indent="-237744" algn="l">
              <a:lnSpc>
                <a:spcPct val="114000"/>
              </a:lnSpc>
              <a:spcBef>
                <a:spcPts val="500"/>
              </a:spcBef>
              <a:spcAft>
                <a:spcPts val="0"/>
              </a:spcAft>
              <a:buClr>
                <a:srgbClr val="586476"/>
              </a:buClr>
              <a:buSzPct val="86000"/>
              <a:buFont typeface="Arial"/>
              <a:buChar char="–"/>
            </a:pPr>
            <a:r>
              <a:rPr sz="1400" b="0" i="0">
                <a:solidFill>
                  <a:srgbClr val="586476"/>
                </a:solidFill>
                <a:latin typeface="Segoe UI"/>
              </a:rPr>
              <a:t>Fairness, bias and transparency</a:t>
            </a:r>
          </a:p>
          <a:p>
            <a:pPr marL="475488" indent="-237744" algn="l">
              <a:lnSpc>
                <a:spcPct val="114000"/>
              </a:lnSpc>
              <a:spcBef>
                <a:spcPts val="500"/>
              </a:spcBef>
              <a:spcAft>
                <a:spcPts val="0"/>
              </a:spcAft>
              <a:buClr>
                <a:srgbClr val="586476"/>
              </a:buClr>
              <a:buSzPct val="86000"/>
              <a:buFont typeface="Arial"/>
              <a:buChar char="–"/>
            </a:pPr>
            <a:r>
              <a:rPr sz="1400" b="0" i="0">
                <a:solidFill>
                  <a:srgbClr val="586476"/>
                </a:solidFill>
                <a:latin typeface="Segoe UI"/>
              </a:rPr>
              <a:t>Privacy and security</a:t>
            </a:r>
          </a:p>
          <a:p>
            <a:pPr marL="475488" indent="-237744" algn="l">
              <a:lnSpc>
                <a:spcPct val="114000"/>
              </a:lnSpc>
              <a:spcBef>
                <a:spcPts val="500"/>
              </a:spcBef>
              <a:spcAft>
                <a:spcPts val="0"/>
              </a:spcAft>
              <a:buClr>
                <a:srgbClr val="586476"/>
              </a:buClr>
              <a:buSzPct val="86000"/>
              <a:buFont typeface="Arial"/>
              <a:buChar char="–"/>
            </a:pPr>
            <a:r>
              <a:rPr sz="1400" b="0" i="0">
                <a:solidFill>
                  <a:srgbClr val="586476"/>
                </a:solidFill>
                <a:latin typeface="Segoe UI"/>
              </a:rPr>
              <a:t>AI governance, ethical and societal implications</a:t>
            </a:r>
          </a:p>
        </p:txBody>
      </p:sp>
      <p:sp>
        <p:nvSpPr>
          <p:cNvPr id="13" name="Rounded Rectangle 12"/>
          <p:cNvSpPr/>
          <p:nvPr/>
        </p:nvSpPr>
        <p:spPr>
          <a:xfrm>
            <a:off x="7757129" y="2304288"/>
            <a:ext cx="3931920" cy="937260"/>
          </a:xfrm>
          <a:prstGeom prst="roundRect">
            <a:avLst>
              <a:gd name="adj" fmla="val 8000"/>
            </a:avLst>
          </a:prstGeom>
          <a:solidFill>
            <a:srgbClr val="DBF0F7"/>
          </a:solidFill>
          <a:ln w="2286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lnSpc>
                <a:spcPct val="115000"/>
              </a:lnSpc>
              <a:spcBef>
                <a:spcPts val="0"/>
              </a:spcBef>
              <a:spcAft>
                <a:spcPts val="0"/>
              </a:spcAft>
            </a:pPr>
            <a:r>
              <a:rPr sz="1200" b="1" i="0">
                <a:solidFill>
                  <a:srgbClr val="0096C7"/>
                </a:solidFill>
                <a:latin typeface="Segoe UI Semibold"/>
              </a:rPr>
              <a:t>Generate</a:t>
            </a:r>
          </a:p>
          <a:p>
            <a:pPr algn="l">
              <a:lnSpc>
                <a:spcPct val="110000"/>
              </a:lnSpc>
              <a:spcBef>
                <a:spcPts val="200"/>
              </a:spcBef>
              <a:spcAft>
                <a:spcPts val="0"/>
              </a:spcAft>
            </a:pPr>
            <a:r>
              <a:rPr sz="950" b="0" i="0">
                <a:solidFill>
                  <a:srgbClr val="586476"/>
                </a:solidFill>
                <a:latin typeface="Segoe UI"/>
              </a:rPr>
              <a:t>LLMs and their applications</a:t>
            </a:r>
          </a:p>
        </p:txBody>
      </p:sp>
      <p:sp>
        <p:nvSpPr>
          <p:cNvPr id="14" name="Rounded Rectangle 13"/>
          <p:cNvSpPr/>
          <p:nvPr/>
        </p:nvSpPr>
        <p:spPr>
          <a:xfrm>
            <a:off x="7757129" y="3332988"/>
            <a:ext cx="3931920" cy="937260"/>
          </a:xfrm>
          <a:prstGeom prst="roundRect">
            <a:avLst>
              <a:gd name="adj" fmla="val 8000"/>
            </a:avLst>
          </a:prstGeom>
          <a:solidFill>
            <a:srgbClr val="DDECE4"/>
          </a:solidFill>
          <a:ln w="22860">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lnSpc>
                <a:spcPct val="115000"/>
              </a:lnSpc>
              <a:spcBef>
                <a:spcPts val="0"/>
              </a:spcBef>
              <a:spcAft>
                <a:spcPts val="0"/>
              </a:spcAft>
            </a:pPr>
            <a:r>
              <a:rPr sz="1200" b="1" i="0">
                <a:solidFill>
                  <a:srgbClr val="107C41"/>
                </a:solidFill>
                <a:latin typeface="Segoe UI Semibold"/>
              </a:rPr>
              <a:t>Control</a:t>
            </a:r>
          </a:p>
          <a:p>
            <a:pPr algn="l">
              <a:lnSpc>
                <a:spcPct val="110000"/>
              </a:lnSpc>
              <a:spcBef>
                <a:spcPts val="200"/>
              </a:spcBef>
              <a:spcAft>
                <a:spcPts val="0"/>
              </a:spcAft>
            </a:pPr>
            <a:r>
              <a:rPr sz="950" b="0" i="0">
                <a:solidFill>
                  <a:srgbClr val="586476"/>
                </a:solidFill>
                <a:latin typeface="Segoe UI"/>
              </a:rPr>
              <a:t>prompting and RAG</a:t>
            </a:r>
          </a:p>
        </p:txBody>
      </p:sp>
      <p:sp>
        <p:nvSpPr>
          <p:cNvPr id="15" name="Rounded Rectangle 14"/>
          <p:cNvSpPr/>
          <p:nvPr/>
        </p:nvSpPr>
        <p:spPr>
          <a:xfrm>
            <a:off x="7757129" y="4361688"/>
            <a:ext cx="3931920" cy="937260"/>
          </a:xfrm>
          <a:prstGeom prst="roundRect">
            <a:avLst>
              <a:gd name="adj" fmla="val 8000"/>
            </a:avLst>
          </a:prstGeom>
          <a:solidFill>
            <a:srgbClr val="F9EBDC"/>
          </a:solidFill>
          <a:ln w="2286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lnSpc>
                <a:spcPct val="115000"/>
              </a:lnSpc>
              <a:spcBef>
                <a:spcPts val="0"/>
              </a:spcBef>
              <a:spcAft>
                <a:spcPts val="0"/>
              </a:spcAft>
            </a:pPr>
            <a:r>
              <a:rPr sz="1200" b="1" i="0">
                <a:solidFill>
                  <a:srgbClr val="D97706"/>
                </a:solidFill>
                <a:latin typeface="Segoe UI Semibold"/>
              </a:rPr>
              <a:t>Verify</a:t>
            </a:r>
          </a:p>
          <a:p>
            <a:pPr algn="l">
              <a:lnSpc>
                <a:spcPct val="110000"/>
              </a:lnSpc>
              <a:spcBef>
                <a:spcPts val="200"/>
              </a:spcBef>
              <a:spcAft>
                <a:spcPts val="0"/>
              </a:spcAft>
            </a:pPr>
            <a:r>
              <a:rPr sz="950" b="0" i="0">
                <a:solidFill>
                  <a:srgbClr val="586476"/>
                </a:solidFill>
                <a:latin typeface="Segoe UI"/>
              </a:rPr>
              <a:t>hallucination and explainability</a:t>
            </a:r>
          </a:p>
        </p:txBody>
      </p:sp>
      <p:sp>
        <p:nvSpPr>
          <p:cNvPr id="16" name="Rounded Rectangle 15"/>
          <p:cNvSpPr/>
          <p:nvPr/>
        </p:nvSpPr>
        <p:spPr>
          <a:xfrm>
            <a:off x="7757129" y="5390388"/>
            <a:ext cx="3931920" cy="937260"/>
          </a:xfrm>
          <a:prstGeom prst="roundRect">
            <a:avLst>
              <a:gd name="adj" fmla="val 8000"/>
            </a:avLst>
          </a:prstGeom>
          <a:solidFill>
            <a:srgbClr val="F4E0DE"/>
          </a:solidFill>
          <a:ln w="22860">
            <a:solidFill>
              <a:srgbClr val="B42318"/>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lnSpc>
                <a:spcPct val="115000"/>
              </a:lnSpc>
              <a:spcBef>
                <a:spcPts val="0"/>
              </a:spcBef>
              <a:spcAft>
                <a:spcPts val="0"/>
              </a:spcAft>
            </a:pPr>
            <a:r>
              <a:rPr sz="1200" b="1" i="0">
                <a:solidFill>
                  <a:srgbClr val="B42318"/>
                </a:solidFill>
                <a:latin typeface="Segoe UI Semibold"/>
              </a:rPr>
              <a:t>Govern</a:t>
            </a:r>
          </a:p>
          <a:p>
            <a:pPr algn="l">
              <a:lnSpc>
                <a:spcPct val="110000"/>
              </a:lnSpc>
              <a:spcBef>
                <a:spcPts val="200"/>
              </a:spcBef>
              <a:spcAft>
                <a:spcPts val="0"/>
              </a:spcAft>
            </a:pPr>
            <a:r>
              <a:rPr sz="950" b="0" i="0">
                <a:solidFill>
                  <a:srgbClr val="586476"/>
                </a:solidFill>
                <a:latin typeface="Segoe UI"/>
              </a:rPr>
              <a:t>fairness, privacy, ethics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31520"/>
            <a:ext cx="12191969" cy="6046927"/>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731520"/>
            <a:ext cx="12191969" cy="82296"/>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6696151"/>
            <a:ext cx="12191969" cy="82296"/>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914400" y="1810512"/>
            <a:ext cx="3108960" cy="2011680"/>
          </a:xfrm>
          <a:prstGeom prst="rect">
            <a:avLst/>
          </a:prstGeom>
          <a:noFill/>
        </p:spPr>
        <p:txBody>
          <a:bodyPr wrap="square" lIns="0" tIns="0" rIns="0" bIns="0" anchor="t">
            <a:spAutoFit/>
          </a:bodyPr>
          <a:lstStyle/>
          <a:p>
            <a:pPr algn="l">
              <a:lnSpc>
                <a:spcPct val="92000"/>
              </a:lnSpc>
              <a:spcBef>
                <a:spcPts val="0"/>
              </a:spcBef>
              <a:spcAft>
                <a:spcPts val="0"/>
              </a:spcAft>
            </a:pPr>
            <a:r>
              <a:rPr sz="10800" b="1" i="0">
                <a:solidFill>
                  <a:srgbClr val="2B4770"/>
                </a:solidFill>
                <a:latin typeface="Segoe UI Semibold"/>
              </a:rPr>
              <a:t>01</a:t>
            </a:r>
          </a:p>
        </p:txBody>
      </p:sp>
      <p:sp>
        <p:nvSpPr>
          <p:cNvPr id="6" name="TextBox 5"/>
          <p:cNvSpPr txBox="1"/>
          <p:nvPr/>
        </p:nvSpPr>
        <p:spPr>
          <a:xfrm>
            <a:off x="960120" y="3529584"/>
            <a:ext cx="4663440" cy="310896"/>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F47D35"/>
                </a:solidFill>
                <a:latin typeface="Segoe UI Semibold"/>
              </a:rPr>
              <a:t>SECTION</a:t>
            </a:r>
          </a:p>
        </p:txBody>
      </p:sp>
      <p:sp>
        <p:nvSpPr>
          <p:cNvPr id="7" name="TextBox 6"/>
          <p:cNvSpPr txBox="1"/>
          <p:nvPr/>
        </p:nvSpPr>
        <p:spPr>
          <a:xfrm>
            <a:off x="960120" y="3822191"/>
            <a:ext cx="4846320" cy="1737360"/>
          </a:xfrm>
          <a:prstGeom prst="rect">
            <a:avLst/>
          </a:prstGeom>
          <a:noFill/>
        </p:spPr>
        <p:txBody>
          <a:bodyPr wrap="square" lIns="0" tIns="0" rIns="0" bIns="0" anchor="t">
            <a:spAutoFit/>
          </a:bodyPr>
          <a:lstStyle/>
          <a:p>
            <a:pPr algn="l">
              <a:lnSpc>
                <a:spcPct val="106000"/>
              </a:lnSpc>
              <a:spcBef>
                <a:spcPts val="0"/>
              </a:spcBef>
              <a:spcAft>
                <a:spcPts val="0"/>
              </a:spcAft>
            </a:pPr>
            <a:r>
              <a:rPr sz="2500" b="1" i="0">
                <a:solidFill>
                  <a:srgbClr val="FFFFFF"/>
                </a:solidFill>
                <a:latin typeface="Segoe UI Semibold"/>
              </a:rPr>
              <a:t>Generative AI and
Large Language Models</a:t>
            </a:r>
          </a:p>
        </p:txBody>
      </p:sp>
      <p:sp>
        <p:nvSpPr>
          <p:cNvPr id="8" name="Rounded Rectangle 7"/>
          <p:cNvSpPr/>
          <p:nvPr/>
        </p:nvSpPr>
        <p:spPr>
          <a:xfrm>
            <a:off x="6263640" y="1810512"/>
            <a:ext cx="4983480" cy="4069080"/>
          </a:xfrm>
          <a:prstGeom prst="roundRect">
            <a:avLst>
              <a:gd name="adj" fmla="val 4500"/>
            </a:avLst>
          </a:prstGeom>
          <a:solidFill>
            <a:srgbClr val="1F3558"/>
          </a:solidFill>
          <a:ln w="1270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t"/>
          <a:lstStyle/>
          <a:p>
            <a:pPr algn="l">
              <a:lnSpc>
                <a:spcPct val="115000"/>
              </a:lnSpc>
              <a:spcBef>
                <a:spcPts val="0"/>
              </a:spcBef>
              <a:spcAft>
                <a:spcPts val="1200"/>
              </a:spcAft>
            </a:pPr>
            <a:r>
              <a:rPr sz="1150" b="1" i="0">
                <a:solidFill>
                  <a:srgbClr val="0096C7"/>
                </a:solidFill>
                <a:latin typeface="Segoe UI Semibold"/>
              </a:rPr>
              <a:t>IN THIS SECTION</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Discriminative versus generative models</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What a large language model actually does</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Why next-token prediction produces so much</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Applications and limits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5.1 GENERATIVE AI CONCEPTS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Discriminative vs Generative Models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5</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CSE276  ·  Unit 5: Generative AI and Responsible Artificial Intelligence</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4</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One draws a line between categories. The other learns what the data looks like well enough to produce more of it.</a:t>
            </a:r>
          </a:p>
        </p:txBody>
      </p:sp>
      <p:sp>
        <p:nvSpPr>
          <p:cNvPr id="12" name="Rounded Rectangle 11"/>
          <p:cNvSpPr/>
          <p:nvPr/>
        </p:nvSpPr>
        <p:spPr>
          <a:xfrm>
            <a:off x="2779776" y="2249424"/>
            <a:ext cx="4390628" cy="420624"/>
          </a:xfrm>
          <a:prstGeom prst="roundRect">
            <a:avLst>
              <a:gd name="adj" fmla="val 12000"/>
            </a:avLst>
          </a:prstGeom>
          <a:solidFill>
            <a:srgbClr val="0096C7"/>
          </a:solidFill>
          <a:ln w="12700">
            <a:solidFill>
              <a:srgbClr val="0096C7"/>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300" b="1" i="0">
                <a:solidFill>
                  <a:srgbClr val="FFFFFF"/>
                </a:solidFill>
                <a:latin typeface="Segoe UI Semibold"/>
              </a:rPr>
              <a:t>Discriminative</a:t>
            </a:r>
          </a:p>
        </p:txBody>
      </p:sp>
      <p:sp>
        <p:nvSpPr>
          <p:cNvPr id="13" name="Rounded Rectangle 12"/>
          <p:cNvSpPr/>
          <p:nvPr/>
        </p:nvSpPr>
        <p:spPr>
          <a:xfrm>
            <a:off x="7298420" y="2249424"/>
            <a:ext cx="4390628" cy="420624"/>
          </a:xfrm>
          <a:prstGeom prst="roundRect">
            <a:avLst>
              <a:gd name="adj" fmla="val 12000"/>
            </a:avLst>
          </a:prstGeom>
          <a:solidFill>
            <a:srgbClr val="5C2D91"/>
          </a:solidFill>
          <a:ln w="12700">
            <a:solidFill>
              <a:srgbClr val="5C2D9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300" b="1" i="0">
                <a:solidFill>
                  <a:srgbClr val="FFFFFF"/>
                </a:solidFill>
                <a:latin typeface="Segoe UI Semibold"/>
              </a:rPr>
              <a:t>Generative</a:t>
            </a:r>
          </a:p>
        </p:txBody>
      </p:sp>
      <p:sp>
        <p:nvSpPr>
          <p:cNvPr id="14" name="Rounded Rectangle 13"/>
          <p:cNvSpPr/>
          <p:nvPr/>
        </p:nvSpPr>
        <p:spPr>
          <a:xfrm>
            <a:off x="502920" y="2761488"/>
            <a:ext cx="2148840" cy="487680"/>
          </a:xfrm>
          <a:prstGeom prst="roundRect">
            <a:avLst>
              <a:gd name="adj" fmla="val 6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2000"/>
              </a:lnSpc>
              <a:spcBef>
                <a:spcPts val="0"/>
              </a:spcBef>
              <a:spcAft>
                <a:spcPts val="0"/>
              </a:spcAft>
            </a:pPr>
            <a:r>
              <a:rPr sz="1250" b="1" i="0">
                <a:solidFill>
                  <a:srgbClr val="FFFFFF"/>
                </a:solidFill>
                <a:latin typeface="Segoe UI Semibold"/>
              </a:rPr>
              <a:t>What it learns</a:t>
            </a:r>
          </a:p>
        </p:txBody>
      </p:sp>
      <p:sp>
        <p:nvSpPr>
          <p:cNvPr id="15" name="Rounded Rectangle 14"/>
          <p:cNvSpPr/>
          <p:nvPr/>
        </p:nvSpPr>
        <p:spPr>
          <a:xfrm>
            <a:off x="2779776" y="2761488"/>
            <a:ext cx="4390628" cy="487680"/>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1200" b="0" i="0">
                <a:solidFill>
                  <a:srgbClr val="1C2330"/>
                </a:solidFill>
                <a:latin typeface="Segoe UI"/>
              </a:rPr>
              <a:t>The boundary between classes: P(y | x)</a:t>
            </a:r>
          </a:p>
        </p:txBody>
      </p:sp>
      <p:sp>
        <p:nvSpPr>
          <p:cNvPr id="16" name="Rectangle 15"/>
          <p:cNvSpPr/>
          <p:nvPr/>
        </p:nvSpPr>
        <p:spPr>
          <a:xfrm>
            <a:off x="2779776" y="2761488"/>
            <a:ext cx="54864" cy="4876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ounded Rectangle 16"/>
          <p:cNvSpPr/>
          <p:nvPr/>
        </p:nvSpPr>
        <p:spPr>
          <a:xfrm>
            <a:off x="7298420" y="2761488"/>
            <a:ext cx="4390628" cy="487680"/>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1200" b="0" i="0">
                <a:solidFill>
                  <a:srgbClr val="1C2330"/>
                </a:solidFill>
                <a:latin typeface="Segoe UI"/>
              </a:rPr>
              <a:t>How the data itself is distributed: P(x) or P(x, y)</a:t>
            </a:r>
          </a:p>
        </p:txBody>
      </p:sp>
      <p:sp>
        <p:nvSpPr>
          <p:cNvPr id="18" name="Rectangle 17"/>
          <p:cNvSpPr/>
          <p:nvPr/>
        </p:nvSpPr>
        <p:spPr>
          <a:xfrm>
            <a:off x="7298420" y="2761488"/>
            <a:ext cx="54864" cy="48768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ounded Rectangle 18"/>
          <p:cNvSpPr/>
          <p:nvPr/>
        </p:nvSpPr>
        <p:spPr>
          <a:xfrm>
            <a:off x="502920" y="3377184"/>
            <a:ext cx="2148840" cy="487680"/>
          </a:xfrm>
          <a:prstGeom prst="roundRect">
            <a:avLst>
              <a:gd name="adj" fmla="val 6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2000"/>
              </a:lnSpc>
              <a:spcBef>
                <a:spcPts val="0"/>
              </a:spcBef>
              <a:spcAft>
                <a:spcPts val="0"/>
              </a:spcAft>
            </a:pPr>
            <a:r>
              <a:rPr sz="1250" b="1" i="0">
                <a:solidFill>
                  <a:srgbClr val="FFFFFF"/>
                </a:solidFill>
                <a:latin typeface="Segoe UI Semibold"/>
              </a:rPr>
              <a:t>Question answered</a:t>
            </a:r>
          </a:p>
        </p:txBody>
      </p:sp>
      <p:sp>
        <p:nvSpPr>
          <p:cNvPr id="20" name="Rounded Rectangle 19"/>
          <p:cNvSpPr/>
          <p:nvPr/>
        </p:nvSpPr>
        <p:spPr>
          <a:xfrm>
            <a:off x="2779776" y="3377184"/>
            <a:ext cx="4390628" cy="487680"/>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1200" b="0" i="0">
                <a:solidFill>
                  <a:srgbClr val="1C2330"/>
                </a:solidFill>
                <a:latin typeface="Segoe UI"/>
              </a:rPr>
              <a:t>Given this input, which class?</a:t>
            </a:r>
          </a:p>
        </p:txBody>
      </p:sp>
      <p:sp>
        <p:nvSpPr>
          <p:cNvPr id="21" name="Rectangle 20"/>
          <p:cNvSpPr/>
          <p:nvPr/>
        </p:nvSpPr>
        <p:spPr>
          <a:xfrm>
            <a:off x="2779776" y="3377184"/>
            <a:ext cx="54864" cy="4876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ounded Rectangle 21"/>
          <p:cNvSpPr/>
          <p:nvPr/>
        </p:nvSpPr>
        <p:spPr>
          <a:xfrm>
            <a:off x="7298420" y="3377184"/>
            <a:ext cx="4390628" cy="487680"/>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1200" b="0" i="0">
                <a:solidFill>
                  <a:srgbClr val="1C2330"/>
                </a:solidFill>
                <a:latin typeface="Segoe UI"/>
              </a:rPr>
              <a:t>What does data of this kind look like?</a:t>
            </a:r>
          </a:p>
        </p:txBody>
      </p:sp>
      <p:sp>
        <p:nvSpPr>
          <p:cNvPr id="23" name="Rectangle 22"/>
          <p:cNvSpPr/>
          <p:nvPr/>
        </p:nvSpPr>
        <p:spPr>
          <a:xfrm>
            <a:off x="7298420" y="3377184"/>
            <a:ext cx="54864" cy="48768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ounded Rectangle 23"/>
          <p:cNvSpPr/>
          <p:nvPr/>
        </p:nvSpPr>
        <p:spPr>
          <a:xfrm>
            <a:off x="502920" y="3992880"/>
            <a:ext cx="2148840" cy="487680"/>
          </a:xfrm>
          <a:prstGeom prst="roundRect">
            <a:avLst>
              <a:gd name="adj" fmla="val 6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2000"/>
              </a:lnSpc>
              <a:spcBef>
                <a:spcPts val="0"/>
              </a:spcBef>
              <a:spcAft>
                <a:spcPts val="0"/>
              </a:spcAft>
            </a:pPr>
            <a:r>
              <a:rPr sz="1250" b="1" i="0">
                <a:solidFill>
                  <a:srgbClr val="FFFFFF"/>
                </a:solidFill>
                <a:latin typeface="Segoe UI Semibold"/>
              </a:rPr>
              <a:t>Output</a:t>
            </a:r>
          </a:p>
        </p:txBody>
      </p:sp>
      <p:sp>
        <p:nvSpPr>
          <p:cNvPr id="25" name="Rounded Rectangle 24"/>
          <p:cNvSpPr/>
          <p:nvPr/>
        </p:nvSpPr>
        <p:spPr>
          <a:xfrm>
            <a:off x="2779776" y="3992880"/>
            <a:ext cx="4390628" cy="487680"/>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1200" b="0" i="0">
                <a:solidFill>
                  <a:srgbClr val="1C2330"/>
                </a:solidFill>
                <a:latin typeface="Segoe UI"/>
              </a:rPr>
              <a:t>A label or a number</a:t>
            </a:r>
          </a:p>
        </p:txBody>
      </p:sp>
      <p:sp>
        <p:nvSpPr>
          <p:cNvPr id="26" name="Rectangle 25"/>
          <p:cNvSpPr/>
          <p:nvPr/>
        </p:nvSpPr>
        <p:spPr>
          <a:xfrm>
            <a:off x="2779776" y="3992880"/>
            <a:ext cx="54864" cy="4876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Rounded Rectangle 26"/>
          <p:cNvSpPr/>
          <p:nvPr/>
        </p:nvSpPr>
        <p:spPr>
          <a:xfrm>
            <a:off x="7298420" y="3992880"/>
            <a:ext cx="4390628" cy="487680"/>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1200" b="0" i="0">
                <a:solidFill>
                  <a:srgbClr val="1C2330"/>
                </a:solidFill>
                <a:latin typeface="Segoe UI"/>
              </a:rPr>
              <a:t>New data - text, image, audio, code</a:t>
            </a:r>
          </a:p>
        </p:txBody>
      </p:sp>
      <p:sp>
        <p:nvSpPr>
          <p:cNvPr id="28" name="Rectangle 27"/>
          <p:cNvSpPr/>
          <p:nvPr/>
        </p:nvSpPr>
        <p:spPr>
          <a:xfrm>
            <a:off x="7298420" y="3992880"/>
            <a:ext cx="54864" cy="48768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Rounded Rectangle 28"/>
          <p:cNvSpPr/>
          <p:nvPr/>
        </p:nvSpPr>
        <p:spPr>
          <a:xfrm>
            <a:off x="502920" y="4608576"/>
            <a:ext cx="2148840" cy="487680"/>
          </a:xfrm>
          <a:prstGeom prst="roundRect">
            <a:avLst>
              <a:gd name="adj" fmla="val 6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2000"/>
              </a:lnSpc>
              <a:spcBef>
                <a:spcPts val="0"/>
              </a:spcBef>
              <a:spcAft>
                <a:spcPts val="0"/>
              </a:spcAft>
            </a:pPr>
            <a:r>
              <a:rPr sz="1250" b="1" i="0">
                <a:solidFill>
                  <a:srgbClr val="FFFFFF"/>
                </a:solidFill>
                <a:latin typeface="Segoe UI Semibold"/>
              </a:rPr>
              <a:t>Examples</a:t>
            </a:r>
          </a:p>
        </p:txBody>
      </p:sp>
      <p:sp>
        <p:nvSpPr>
          <p:cNvPr id="30" name="Rounded Rectangle 29"/>
          <p:cNvSpPr/>
          <p:nvPr/>
        </p:nvSpPr>
        <p:spPr>
          <a:xfrm>
            <a:off x="2779776" y="4608576"/>
            <a:ext cx="4390628" cy="487680"/>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1200" b="0" i="0">
                <a:solidFill>
                  <a:srgbClr val="1C2330"/>
                </a:solidFill>
                <a:latin typeface="Segoe UI"/>
              </a:rPr>
              <a:t>Logistic regression, SVM, most classifiers</a:t>
            </a:r>
          </a:p>
        </p:txBody>
      </p:sp>
      <p:sp>
        <p:nvSpPr>
          <p:cNvPr id="31" name="Rectangle 30"/>
          <p:cNvSpPr/>
          <p:nvPr/>
        </p:nvSpPr>
        <p:spPr>
          <a:xfrm>
            <a:off x="2779776" y="4608576"/>
            <a:ext cx="54864" cy="4876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Rounded Rectangle 31"/>
          <p:cNvSpPr/>
          <p:nvPr/>
        </p:nvSpPr>
        <p:spPr>
          <a:xfrm>
            <a:off x="7298420" y="4608576"/>
            <a:ext cx="4390628" cy="487680"/>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1200" b="0" i="0">
                <a:solidFill>
                  <a:srgbClr val="1C2330"/>
                </a:solidFill>
                <a:latin typeface="Segoe UI"/>
              </a:rPr>
              <a:t>LLMs, diffusion models, GANs, VAEs</a:t>
            </a:r>
          </a:p>
        </p:txBody>
      </p:sp>
      <p:sp>
        <p:nvSpPr>
          <p:cNvPr id="33" name="Rectangle 32"/>
          <p:cNvSpPr/>
          <p:nvPr/>
        </p:nvSpPr>
        <p:spPr>
          <a:xfrm>
            <a:off x="7298420" y="4608576"/>
            <a:ext cx="54864" cy="48768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Rounded Rectangle 33"/>
          <p:cNvSpPr/>
          <p:nvPr/>
        </p:nvSpPr>
        <p:spPr>
          <a:xfrm>
            <a:off x="502920" y="5224272"/>
            <a:ext cx="2148840" cy="487680"/>
          </a:xfrm>
          <a:prstGeom prst="roundRect">
            <a:avLst>
              <a:gd name="adj" fmla="val 6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2000"/>
              </a:lnSpc>
              <a:spcBef>
                <a:spcPts val="0"/>
              </a:spcBef>
              <a:spcAft>
                <a:spcPts val="0"/>
              </a:spcAft>
            </a:pPr>
            <a:r>
              <a:rPr sz="1250" b="1" i="0">
                <a:solidFill>
                  <a:srgbClr val="FFFFFF"/>
                </a:solidFill>
                <a:latin typeface="Segoe UI Semibold"/>
              </a:rPr>
              <a:t>Training signal</a:t>
            </a:r>
          </a:p>
        </p:txBody>
      </p:sp>
      <p:sp>
        <p:nvSpPr>
          <p:cNvPr id="35" name="Rounded Rectangle 34"/>
          <p:cNvSpPr/>
          <p:nvPr/>
        </p:nvSpPr>
        <p:spPr>
          <a:xfrm>
            <a:off x="2779776" y="5224272"/>
            <a:ext cx="4390628" cy="487680"/>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1200" b="0" i="0">
                <a:solidFill>
                  <a:srgbClr val="1C2330"/>
                </a:solidFill>
                <a:latin typeface="Segoe UI"/>
              </a:rPr>
              <a:t>Usually labels</a:t>
            </a:r>
          </a:p>
        </p:txBody>
      </p:sp>
      <p:sp>
        <p:nvSpPr>
          <p:cNvPr id="36" name="Rectangle 35"/>
          <p:cNvSpPr/>
          <p:nvPr/>
        </p:nvSpPr>
        <p:spPr>
          <a:xfrm>
            <a:off x="2779776" y="5224272"/>
            <a:ext cx="54864" cy="4876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Rounded Rectangle 36"/>
          <p:cNvSpPr/>
          <p:nvPr/>
        </p:nvSpPr>
        <p:spPr>
          <a:xfrm>
            <a:off x="7298420" y="5224272"/>
            <a:ext cx="4390628" cy="487680"/>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1200" b="0" i="0">
                <a:solidFill>
                  <a:srgbClr val="1C2330"/>
                </a:solidFill>
                <a:latin typeface="Segoe UI"/>
              </a:rPr>
              <a:t>Usually the data itself</a:t>
            </a:r>
          </a:p>
        </p:txBody>
      </p:sp>
      <p:sp>
        <p:nvSpPr>
          <p:cNvPr id="38" name="Rectangle 37"/>
          <p:cNvSpPr/>
          <p:nvPr/>
        </p:nvSpPr>
        <p:spPr>
          <a:xfrm>
            <a:off x="7298420" y="5224272"/>
            <a:ext cx="54864" cy="48768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Rounded Rectangle 38"/>
          <p:cNvSpPr/>
          <p:nvPr/>
        </p:nvSpPr>
        <p:spPr>
          <a:xfrm>
            <a:off x="502920" y="5839968"/>
            <a:ext cx="2148840" cy="487680"/>
          </a:xfrm>
          <a:prstGeom prst="roundRect">
            <a:avLst>
              <a:gd name="adj" fmla="val 6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2000"/>
              </a:lnSpc>
              <a:spcBef>
                <a:spcPts val="0"/>
              </a:spcBef>
              <a:spcAft>
                <a:spcPts val="0"/>
              </a:spcAft>
            </a:pPr>
            <a:r>
              <a:rPr sz="1250" b="1" i="0">
                <a:solidFill>
                  <a:srgbClr val="FFFFFF"/>
                </a:solidFill>
                <a:latin typeface="Segoe UI Semibold"/>
              </a:rPr>
              <a:t>Typical use</a:t>
            </a:r>
          </a:p>
        </p:txBody>
      </p:sp>
      <p:sp>
        <p:nvSpPr>
          <p:cNvPr id="40" name="Rounded Rectangle 39"/>
          <p:cNvSpPr/>
          <p:nvPr/>
        </p:nvSpPr>
        <p:spPr>
          <a:xfrm>
            <a:off x="2779776" y="5839968"/>
            <a:ext cx="4390628" cy="487680"/>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1200" b="0" i="0">
                <a:solidFill>
                  <a:srgbClr val="1C2330"/>
                </a:solidFill>
                <a:latin typeface="Segoe UI"/>
              </a:rPr>
              <a:t>Decide, classify, predict</a:t>
            </a:r>
          </a:p>
        </p:txBody>
      </p:sp>
      <p:sp>
        <p:nvSpPr>
          <p:cNvPr id="41" name="Rectangle 40"/>
          <p:cNvSpPr/>
          <p:nvPr/>
        </p:nvSpPr>
        <p:spPr>
          <a:xfrm>
            <a:off x="2779776" y="5839968"/>
            <a:ext cx="54864" cy="4876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Rounded Rectangle 41"/>
          <p:cNvSpPr/>
          <p:nvPr/>
        </p:nvSpPr>
        <p:spPr>
          <a:xfrm>
            <a:off x="7298420" y="5839968"/>
            <a:ext cx="4390628" cy="487680"/>
          </a:xfrm>
          <a:prstGeom prst="roundRect">
            <a:avLst>
              <a:gd name="adj" fmla="val 6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64592" tIns="0" rIns="128016" bIns="0" rtlCol="0" anchor="ctr"/>
          <a:lstStyle/>
          <a:p>
            <a:pPr algn="l">
              <a:lnSpc>
                <a:spcPct val="116000"/>
              </a:lnSpc>
              <a:spcBef>
                <a:spcPts val="0"/>
              </a:spcBef>
              <a:spcAft>
                <a:spcPts val="0"/>
              </a:spcAft>
            </a:pPr>
            <a:r>
              <a:rPr sz="1200" b="0" i="0">
                <a:solidFill>
                  <a:srgbClr val="1C2330"/>
                </a:solidFill>
                <a:latin typeface="Segoe UI"/>
              </a:rPr>
              <a:t>Draft, summarise, translate, create</a:t>
            </a:r>
          </a:p>
        </p:txBody>
      </p:sp>
      <p:sp>
        <p:nvSpPr>
          <p:cNvPr id="43" name="Rectangle 42"/>
          <p:cNvSpPr/>
          <p:nvPr/>
        </p:nvSpPr>
        <p:spPr>
          <a:xfrm>
            <a:off x="7298420" y="5839968"/>
            <a:ext cx="54864" cy="48768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5.1 LARGE LANGUAGE MODELS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What a Large Language Model Actually Does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5</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CSE276  ·  Unit 5: Generative AI and Responsible Artificial Intelligence</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5</a:t>
            </a:r>
          </a:p>
        </p:txBody>
      </p:sp>
      <p:sp>
        <p:nvSpPr>
          <p:cNvPr id="11" name="Rounded Rectangle 10"/>
          <p:cNvSpPr/>
          <p:nvPr/>
        </p:nvSpPr>
        <p:spPr>
          <a:xfrm>
            <a:off x="502920" y="1792224"/>
            <a:ext cx="11186129" cy="2811962"/>
          </a:xfrm>
          <a:prstGeom prst="roundRect">
            <a:avLst>
              <a:gd name="adj" fmla="val 3500"/>
            </a:avLst>
          </a:prstGeom>
          <a:solidFill>
            <a:srgbClr val="EEF2F8"/>
          </a:solidFill>
          <a:ln w="15875">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256032" tIns="603504" rIns="237744" bIns="0" rtlCol="0" anchor="t"/>
          <a:lstStyle/>
          <a:p>
            <a:pPr algn="l">
              <a:lnSpc>
                <a:spcPct val="120000"/>
              </a:lnSpc>
              <a:spcBef>
                <a:spcPts val="0"/>
              </a:spcBef>
              <a:spcAft>
                <a:spcPts val="0"/>
              </a:spcAft>
            </a:pPr>
            <a:r>
              <a:rPr sz="930" b="1" i="0">
                <a:solidFill>
                  <a:srgbClr val="182B49"/>
                </a:solidFill>
                <a:latin typeface="Segoe UI Semibold"/>
              </a:rPr>
              <a:t>The training objective  </a:t>
            </a:r>
            <a:r>
              <a:rPr sz="930" b="0" i="0">
                <a:solidFill>
                  <a:srgbClr val="1C2330"/>
                </a:solidFill>
                <a:latin typeface="Segoe UI"/>
              </a:rPr>
              <a:t>given a sequence of text, predict the next token. That is essentially all of it.</a:t>
            </a:r>
          </a:p>
          <a:p>
            <a:pPr algn="l">
              <a:lnSpc>
                <a:spcPct val="120000"/>
              </a:lnSpc>
              <a:spcBef>
                <a:spcPts val="620"/>
              </a:spcBef>
              <a:spcAft>
                <a:spcPts val="0"/>
              </a:spcAft>
            </a:pPr>
            <a:r>
              <a:rPr sz="930" b="1" i="0">
                <a:solidFill>
                  <a:srgbClr val="182B49"/>
                </a:solidFill>
                <a:latin typeface="Segoe UI Semibold"/>
              </a:rPr>
              <a:t>A token  </a:t>
            </a:r>
            <a:r>
              <a:rPr sz="930" b="0" i="0">
                <a:solidFill>
                  <a:srgbClr val="1C2330"/>
                </a:solidFill>
                <a:latin typeface="Segoe UI"/>
              </a:rPr>
              <a:t>a chunk of text - roughly a word or part of one. Text is split into tokens before anything else happens.</a:t>
            </a:r>
          </a:p>
          <a:p>
            <a:pPr algn="l">
              <a:lnSpc>
                <a:spcPct val="120000"/>
              </a:lnSpc>
              <a:spcBef>
                <a:spcPts val="620"/>
              </a:spcBef>
              <a:spcAft>
                <a:spcPts val="0"/>
              </a:spcAft>
            </a:pPr>
            <a:r>
              <a:rPr sz="930" b="1" i="0">
                <a:solidFill>
                  <a:srgbClr val="182B49"/>
                </a:solidFill>
                <a:latin typeface="Segoe UI Semibold"/>
              </a:rPr>
              <a:t>Self-supervised  </a:t>
            </a:r>
            <a:r>
              <a:rPr sz="930" b="0" i="0">
                <a:solidFill>
                  <a:srgbClr val="1C2330"/>
                </a:solidFill>
                <a:latin typeface="Segoe UI"/>
              </a:rPr>
              <a:t>the label is simply the next token in the existing text, so no human annotation is required. This is why training can use enormous corpora.</a:t>
            </a:r>
          </a:p>
          <a:p>
            <a:pPr algn="l">
              <a:lnSpc>
                <a:spcPct val="120000"/>
              </a:lnSpc>
              <a:spcBef>
                <a:spcPts val="620"/>
              </a:spcBef>
              <a:spcAft>
                <a:spcPts val="0"/>
              </a:spcAft>
            </a:pPr>
            <a:r>
              <a:rPr sz="930" b="1" i="0">
                <a:solidFill>
                  <a:srgbClr val="182B49"/>
                </a:solidFill>
                <a:latin typeface="Segoe UI Semibold"/>
              </a:rPr>
              <a:t>The architecture  </a:t>
            </a:r>
            <a:r>
              <a:rPr sz="930" b="0" i="0">
                <a:solidFill>
                  <a:srgbClr val="1C2330"/>
                </a:solidFill>
                <a:latin typeface="Segoe UI"/>
              </a:rPr>
              <a:t>a transformer. Attention lets every position consider every other, which is what captures long-range context.</a:t>
            </a:r>
          </a:p>
          <a:p>
            <a:pPr algn="l">
              <a:lnSpc>
                <a:spcPct val="120000"/>
              </a:lnSpc>
              <a:spcBef>
                <a:spcPts val="620"/>
              </a:spcBef>
              <a:spcAft>
                <a:spcPts val="0"/>
              </a:spcAft>
            </a:pPr>
            <a:r>
              <a:rPr sz="930" b="1" i="0">
                <a:solidFill>
                  <a:srgbClr val="182B49"/>
                </a:solidFill>
                <a:latin typeface="Segoe UI Semibold"/>
              </a:rPr>
              <a:t>Why so much emerges  </a:t>
            </a:r>
            <a:r>
              <a:rPr sz="930" b="0" i="0">
                <a:solidFill>
                  <a:srgbClr val="1C2330"/>
                </a:solidFill>
                <a:latin typeface="Segoe UI"/>
              </a:rPr>
              <a:t>to predict the next token well across a huge range of text, the model must implicitly capture grammar, facts, style and some reasoning patterns.</a:t>
            </a:r>
          </a:p>
          <a:p>
            <a:pPr algn="l">
              <a:lnSpc>
                <a:spcPct val="120000"/>
              </a:lnSpc>
              <a:spcBef>
                <a:spcPts val="620"/>
              </a:spcBef>
              <a:spcAft>
                <a:spcPts val="0"/>
              </a:spcAft>
            </a:pPr>
            <a:r>
              <a:rPr sz="930" b="1" i="0">
                <a:solidFill>
                  <a:srgbClr val="182B49"/>
                </a:solidFill>
                <a:latin typeface="Segoe UI Semibold"/>
              </a:rPr>
              <a:t>What it does NOT have  </a:t>
            </a:r>
            <a:r>
              <a:rPr sz="930" b="0" i="0">
                <a:solidFill>
                  <a:srgbClr val="1C2330"/>
                </a:solidFill>
                <a:latin typeface="Segoe UI"/>
              </a:rPr>
              <a:t>a database of facts it looks things up in, a notion of truth, or awareness of what it does not know.</a:t>
            </a:r>
          </a:p>
        </p:txBody>
      </p:sp>
      <p:sp>
        <p:nvSpPr>
          <p:cNvPr id="12" name="Rectangle 11"/>
          <p:cNvSpPr/>
          <p:nvPr/>
        </p:nvSpPr>
        <p:spPr>
          <a:xfrm>
            <a:off x="502920" y="1792224"/>
            <a:ext cx="11186129" cy="420624"/>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704088" y="1883664"/>
            <a:ext cx="10728929" cy="274320"/>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FFFFFF"/>
                </a:solidFill>
                <a:latin typeface="Segoe UI Semibold"/>
              </a:rPr>
              <a:t>KEY CONCEPT   ·   </a:t>
            </a:r>
            <a:r>
              <a:rPr sz="1400" b="1" i="0">
                <a:solidFill>
                  <a:srgbClr val="FFFFFF"/>
                </a:solidFill>
                <a:latin typeface="Segoe UI Semibold"/>
              </a:rPr>
              <a:t>One deceptively simple objective</a:t>
            </a:r>
          </a:p>
        </p:txBody>
      </p:sp>
      <p:sp>
        <p:nvSpPr>
          <p:cNvPr id="14" name="Rounded Rectangle 13"/>
          <p:cNvSpPr/>
          <p:nvPr/>
        </p:nvSpPr>
        <p:spPr>
          <a:xfrm>
            <a:off x="502920" y="4805354"/>
            <a:ext cx="11186129" cy="1522293"/>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19456" tIns="164592" rIns="201168" bIns="0" rtlCol="0" anchor="t"/>
          <a:lstStyle/>
          <a:p>
            <a:pPr algn="l">
              <a:lnSpc>
                <a:spcPct val="115000"/>
              </a:lnSpc>
              <a:spcBef>
                <a:spcPts val="0"/>
              </a:spcBef>
              <a:spcAft>
                <a:spcPts val="700"/>
              </a:spcAft>
            </a:pPr>
            <a:r>
              <a:rPr sz="1250" b="1" i="0">
                <a:solidFill>
                  <a:srgbClr val="182B49"/>
                </a:solidFill>
                <a:latin typeface="Segoe UI Semibold"/>
              </a:rPr>
              <a:t>Consequences you should be able to state</a:t>
            </a:r>
          </a:p>
          <a:p>
            <a:pPr marL="237744" indent="-237744" algn="l">
              <a:lnSpc>
                <a:spcPct val="116000"/>
              </a:lnSpc>
              <a:spcBef>
                <a:spcPts val="500"/>
              </a:spcBef>
              <a:spcAft>
                <a:spcPts val="0"/>
              </a:spcAft>
              <a:buClr>
                <a:srgbClr val="0096C7"/>
              </a:buClr>
              <a:buSzPct val="86000"/>
              <a:buFont typeface="Arial"/>
              <a:buChar char="▪"/>
            </a:pPr>
            <a:r>
              <a:rPr sz="1300" b="0" i="0">
                <a:solidFill>
                  <a:srgbClr val="1C2330"/>
                </a:solidFill>
                <a:latin typeface="Segoe UI"/>
              </a:rPr>
              <a:t>Fluency and correctness are separate - it optimises the first</a:t>
            </a:r>
          </a:p>
          <a:p>
            <a:pPr marL="237744" indent="-237744" algn="l">
              <a:lnSpc>
                <a:spcPct val="116000"/>
              </a:lnSpc>
              <a:spcBef>
                <a:spcPts val="500"/>
              </a:spcBef>
              <a:spcAft>
                <a:spcPts val="0"/>
              </a:spcAft>
              <a:buClr>
                <a:srgbClr val="0096C7"/>
              </a:buClr>
              <a:buSzPct val="86000"/>
              <a:buFont typeface="Arial"/>
              <a:buChar char="▪"/>
            </a:pPr>
            <a:r>
              <a:rPr sz="1300" b="0" i="0">
                <a:solidFill>
                  <a:srgbClr val="1C2330"/>
                </a:solidFill>
                <a:latin typeface="Segoe UI"/>
              </a:rPr>
              <a:t>It cannot cite a source unless the source is in its input</a:t>
            </a:r>
          </a:p>
          <a:p>
            <a:pPr marL="237744" indent="-237744" algn="l">
              <a:lnSpc>
                <a:spcPct val="116000"/>
              </a:lnSpc>
              <a:spcBef>
                <a:spcPts val="500"/>
              </a:spcBef>
              <a:spcAft>
                <a:spcPts val="0"/>
              </a:spcAft>
              <a:buClr>
                <a:srgbClr val="0096C7"/>
              </a:buClr>
              <a:buSzPct val="86000"/>
              <a:buFont typeface="Arial"/>
              <a:buChar char="▪"/>
            </a:pPr>
            <a:r>
              <a:rPr sz="1300" b="0" i="0">
                <a:solidFill>
                  <a:srgbClr val="1C2330"/>
                </a:solidFill>
                <a:latin typeface="Segoe UI"/>
              </a:rPr>
              <a:t>Its knowledge stops at its training cut-off</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5.1 APPLICATIONS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Applications of Generative AI</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5</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CSE276  ·  Unit 5: Generative AI and Responsible Artificial Intelligence</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6</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The common pattern: strongest where output is cheap to verify and a human stays in the loop.</a:t>
            </a:r>
          </a:p>
        </p:txBody>
      </p:sp>
      <p:sp>
        <p:nvSpPr>
          <p:cNvPr id="12" name="Rounded Rectangle 11"/>
          <p:cNvSpPr/>
          <p:nvPr/>
        </p:nvSpPr>
        <p:spPr>
          <a:xfrm>
            <a:off x="502920" y="2267712"/>
            <a:ext cx="5492480"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400"/>
              </a:spcAft>
            </a:pPr>
            <a:r>
              <a:rPr sz="1000" b="1" i="0">
                <a:solidFill>
                  <a:srgbClr val="0096C7"/>
                </a:solidFill>
                <a:latin typeface="Segoe UI Semibold"/>
              </a:rPr>
              <a:t>TEXT</a:t>
            </a:r>
          </a:p>
          <a:p>
            <a:pPr algn="l">
              <a:lnSpc>
                <a:spcPct val="110000"/>
              </a:lnSpc>
              <a:spcBef>
                <a:spcPts val="0"/>
              </a:spcBef>
              <a:spcAft>
                <a:spcPts val="700"/>
              </a:spcAft>
            </a:pPr>
            <a:r>
              <a:rPr sz="1500" b="1" i="0">
                <a:solidFill>
                  <a:srgbClr val="182B49"/>
                </a:solidFill>
                <a:latin typeface="Segoe UI Semibold"/>
              </a:rPr>
              <a:t>Drafting and transformation</a:t>
            </a:r>
          </a:p>
          <a:p>
            <a:pPr marL="237744" indent="-237744" algn="l">
              <a:lnSpc>
                <a:spcPct val="116000"/>
              </a:lnSpc>
              <a:spcBef>
                <a:spcPts val="500"/>
              </a:spcBef>
              <a:spcAft>
                <a:spcPts val="0"/>
              </a:spcAft>
              <a:buClr>
                <a:srgbClr val="0096C7"/>
              </a:buClr>
              <a:buSzPct val="86000"/>
              <a:buFont typeface="Arial"/>
              <a:buChar char="▪"/>
            </a:pPr>
            <a:r>
              <a:rPr sz="1250" b="0" i="0">
                <a:solidFill>
                  <a:srgbClr val="1C2330"/>
                </a:solidFill>
                <a:latin typeface="Segoe UI"/>
              </a:rPr>
              <a:t>Summarising long documents</a:t>
            </a:r>
          </a:p>
          <a:p>
            <a:pPr marL="237744" indent="-237744" algn="l">
              <a:lnSpc>
                <a:spcPct val="116000"/>
              </a:lnSpc>
              <a:spcBef>
                <a:spcPts val="500"/>
              </a:spcBef>
              <a:spcAft>
                <a:spcPts val="0"/>
              </a:spcAft>
              <a:buClr>
                <a:srgbClr val="0096C7"/>
              </a:buClr>
              <a:buSzPct val="86000"/>
              <a:buFont typeface="Arial"/>
              <a:buChar char="▪"/>
            </a:pPr>
            <a:r>
              <a:rPr sz="1250" b="0" i="0">
                <a:solidFill>
                  <a:srgbClr val="1C2330"/>
                </a:solidFill>
                <a:latin typeface="Segoe UI"/>
              </a:rPr>
              <a:t>Translation and rewriting for an audience</a:t>
            </a:r>
          </a:p>
          <a:p>
            <a:pPr marL="237744" indent="-237744" algn="l">
              <a:lnSpc>
                <a:spcPct val="116000"/>
              </a:lnSpc>
              <a:spcBef>
                <a:spcPts val="500"/>
              </a:spcBef>
              <a:spcAft>
                <a:spcPts val="0"/>
              </a:spcAft>
              <a:buClr>
                <a:srgbClr val="0096C7"/>
              </a:buClr>
              <a:buSzPct val="86000"/>
              <a:buFont typeface="Arial"/>
              <a:buChar char="▪"/>
            </a:pPr>
            <a:r>
              <a:rPr sz="1250" b="0" i="0">
                <a:solidFill>
                  <a:srgbClr val="1C2330"/>
                </a:solidFill>
                <a:latin typeface="Segoe UI"/>
              </a:rPr>
              <a:t>Drafting where a human reviews the output</a:t>
            </a:r>
          </a:p>
        </p:txBody>
      </p:sp>
      <p:sp>
        <p:nvSpPr>
          <p:cNvPr id="13" name="Rectangle 12"/>
          <p:cNvSpPr/>
          <p:nvPr/>
        </p:nvSpPr>
        <p:spPr>
          <a:xfrm>
            <a:off x="502920" y="2267712"/>
            <a:ext cx="5492480" cy="685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6196568" y="2267712"/>
            <a:ext cx="5492480"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400"/>
              </a:spcAft>
            </a:pPr>
            <a:r>
              <a:rPr sz="1000" b="1" i="0">
                <a:solidFill>
                  <a:srgbClr val="107C41"/>
                </a:solidFill>
                <a:latin typeface="Segoe UI Semibold"/>
              </a:rPr>
              <a:t>CODE</a:t>
            </a:r>
          </a:p>
          <a:p>
            <a:pPr algn="l">
              <a:lnSpc>
                <a:spcPct val="110000"/>
              </a:lnSpc>
              <a:spcBef>
                <a:spcPts val="0"/>
              </a:spcBef>
              <a:spcAft>
                <a:spcPts val="700"/>
              </a:spcAft>
            </a:pPr>
            <a:r>
              <a:rPr sz="1500" b="1" i="0">
                <a:solidFill>
                  <a:srgbClr val="182B49"/>
                </a:solidFill>
                <a:latin typeface="Segoe UI Semibold"/>
              </a:rPr>
              <a:t>Programming assistance</a:t>
            </a:r>
          </a:p>
          <a:p>
            <a:pPr marL="237744" indent="-237744" algn="l">
              <a:lnSpc>
                <a:spcPct val="116000"/>
              </a:lnSpc>
              <a:spcBef>
                <a:spcPts val="500"/>
              </a:spcBef>
              <a:spcAft>
                <a:spcPts val="0"/>
              </a:spcAft>
              <a:buClr>
                <a:srgbClr val="107C41"/>
              </a:buClr>
              <a:buSzPct val="86000"/>
              <a:buFont typeface="Arial"/>
              <a:buChar char="▪"/>
            </a:pPr>
            <a:r>
              <a:rPr sz="1250" b="0" i="0">
                <a:solidFill>
                  <a:srgbClr val="1C2330"/>
                </a:solidFill>
                <a:latin typeface="Segoe UI"/>
              </a:rPr>
              <a:t>Completion, explanation and test generation</a:t>
            </a:r>
          </a:p>
          <a:p>
            <a:pPr marL="237744" indent="-237744" algn="l">
              <a:lnSpc>
                <a:spcPct val="116000"/>
              </a:lnSpc>
              <a:spcBef>
                <a:spcPts val="500"/>
              </a:spcBef>
              <a:spcAft>
                <a:spcPts val="0"/>
              </a:spcAft>
              <a:buClr>
                <a:srgbClr val="107C41"/>
              </a:buClr>
              <a:buSzPct val="86000"/>
              <a:buFont typeface="Arial"/>
              <a:buChar char="▪"/>
            </a:pPr>
            <a:r>
              <a:rPr sz="1250" b="0" i="0">
                <a:solidFill>
                  <a:srgbClr val="1C2330"/>
                </a:solidFill>
                <a:latin typeface="Segoe UI"/>
              </a:rPr>
              <a:t>Translating between languages</a:t>
            </a:r>
          </a:p>
          <a:p>
            <a:pPr marL="237744" indent="-237744" algn="l">
              <a:lnSpc>
                <a:spcPct val="116000"/>
              </a:lnSpc>
              <a:spcBef>
                <a:spcPts val="500"/>
              </a:spcBef>
              <a:spcAft>
                <a:spcPts val="0"/>
              </a:spcAft>
              <a:buClr>
                <a:srgbClr val="107C41"/>
              </a:buClr>
              <a:buSzPct val="86000"/>
              <a:buFont typeface="Arial"/>
              <a:buChar char="▪"/>
            </a:pPr>
            <a:r>
              <a:rPr sz="1250" b="0" i="0">
                <a:solidFill>
                  <a:srgbClr val="1C2330"/>
                </a:solidFill>
                <a:latin typeface="Segoe UI"/>
              </a:rPr>
              <a:t>Strongest where the output is easy to verify</a:t>
            </a:r>
          </a:p>
        </p:txBody>
      </p:sp>
      <p:sp>
        <p:nvSpPr>
          <p:cNvPr id="15" name="Rectangle 14"/>
          <p:cNvSpPr/>
          <p:nvPr/>
        </p:nvSpPr>
        <p:spPr>
          <a:xfrm>
            <a:off x="6196568" y="2267712"/>
            <a:ext cx="5492480" cy="6858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502920" y="4398264"/>
            <a:ext cx="5492480"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400"/>
              </a:spcAft>
            </a:pPr>
            <a:r>
              <a:rPr sz="1000" b="1" i="0">
                <a:solidFill>
                  <a:srgbClr val="D97706"/>
                </a:solidFill>
                <a:latin typeface="Segoe UI Semibold"/>
              </a:rPr>
              <a:t>IMAGES AND AUDIO</a:t>
            </a:r>
          </a:p>
          <a:p>
            <a:pPr algn="l">
              <a:lnSpc>
                <a:spcPct val="110000"/>
              </a:lnSpc>
              <a:spcBef>
                <a:spcPts val="0"/>
              </a:spcBef>
              <a:spcAft>
                <a:spcPts val="700"/>
              </a:spcAft>
            </a:pPr>
            <a:r>
              <a:rPr sz="1500" b="1" i="0">
                <a:solidFill>
                  <a:srgbClr val="182B49"/>
                </a:solidFill>
                <a:latin typeface="Segoe UI Semibold"/>
              </a:rPr>
              <a:t>Synthesis</a:t>
            </a:r>
          </a:p>
          <a:p>
            <a:pPr marL="237744" indent="-237744" algn="l">
              <a:lnSpc>
                <a:spcPct val="116000"/>
              </a:lnSpc>
              <a:spcBef>
                <a:spcPts val="500"/>
              </a:spcBef>
              <a:spcAft>
                <a:spcPts val="0"/>
              </a:spcAft>
              <a:buClr>
                <a:srgbClr val="D97706"/>
              </a:buClr>
              <a:buSzPct val="86000"/>
              <a:buFont typeface="Arial"/>
              <a:buChar char="▪"/>
            </a:pPr>
            <a:r>
              <a:rPr sz="1250" b="0" i="0">
                <a:solidFill>
                  <a:srgbClr val="1C2330"/>
                </a:solidFill>
                <a:latin typeface="Segoe UI"/>
              </a:rPr>
              <a:t>Illustration, design variants, synthetic training data</a:t>
            </a:r>
          </a:p>
          <a:p>
            <a:pPr marL="237744" indent="-237744" algn="l">
              <a:lnSpc>
                <a:spcPct val="116000"/>
              </a:lnSpc>
              <a:spcBef>
                <a:spcPts val="500"/>
              </a:spcBef>
              <a:spcAft>
                <a:spcPts val="0"/>
              </a:spcAft>
              <a:buClr>
                <a:srgbClr val="D97706"/>
              </a:buClr>
              <a:buSzPct val="86000"/>
              <a:buFont typeface="Arial"/>
              <a:buChar char="▪"/>
            </a:pPr>
            <a:r>
              <a:rPr sz="1250" b="0" i="0">
                <a:solidFill>
                  <a:srgbClr val="1C2330"/>
                </a:solidFill>
                <a:latin typeface="Segoe UI"/>
              </a:rPr>
              <a:t>Speech synthesis and transcription</a:t>
            </a:r>
          </a:p>
          <a:p>
            <a:pPr marL="237744" indent="-237744" algn="l">
              <a:lnSpc>
                <a:spcPct val="116000"/>
              </a:lnSpc>
              <a:spcBef>
                <a:spcPts val="500"/>
              </a:spcBef>
              <a:spcAft>
                <a:spcPts val="0"/>
              </a:spcAft>
              <a:buClr>
                <a:srgbClr val="D97706"/>
              </a:buClr>
              <a:buSzPct val="86000"/>
              <a:buFont typeface="Arial"/>
              <a:buChar char="▪"/>
            </a:pPr>
            <a:r>
              <a:rPr sz="1250" b="0" i="0">
                <a:solidFill>
                  <a:srgbClr val="1C2330"/>
                </a:solidFill>
                <a:latin typeface="Segoe UI"/>
              </a:rPr>
              <a:t>Raises provenance and consent questions</a:t>
            </a:r>
          </a:p>
        </p:txBody>
      </p:sp>
      <p:sp>
        <p:nvSpPr>
          <p:cNvPr id="17" name="Rectangle 16"/>
          <p:cNvSpPr/>
          <p:nvPr/>
        </p:nvSpPr>
        <p:spPr>
          <a:xfrm>
            <a:off x="502920" y="4398264"/>
            <a:ext cx="5492480" cy="685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ounded Rectangle 17"/>
          <p:cNvSpPr/>
          <p:nvPr/>
        </p:nvSpPr>
        <p:spPr>
          <a:xfrm>
            <a:off x="6196568" y="4398264"/>
            <a:ext cx="5492480"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400"/>
              </a:spcAft>
            </a:pPr>
            <a:r>
              <a:rPr sz="1000" b="1" i="0">
                <a:solidFill>
                  <a:srgbClr val="5C2D91"/>
                </a:solidFill>
                <a:latin typeface="Segoe UI Semibold"/>
              </a:rPr>
              <a:t>KNOWLEDGE WORK</a:t>
            </a:r>
          </a:p>
          <a:p>
            <a:pPr algn="l">
              <a:lnSpc>
                <a:spcPct val="110000"/>
              </a:lnSpc>
              <a:spcBef>
                <a:spcPts val="0"/>
              </a:spcBef>
              <a:spcAft>
                <a:spcPts val="700"/>
              </a:spcAft>
            </a:pPr>
            <a:r>
              <a:rPr sz="1500" b="1" i="0">
                <a:solidFill>
                  <a:srgbClr val="182B49"/>
                </a:solidFill>
                <a:latin typeface="Segoe UI Semibold"/>
              </a:rPr>
              <a:t>Retrieval and assistance</a:t>
            </a:r>
          </a:p>
          <a:p>
            <a:pPr marL="237744" indent="-237744" algn="l">
              <a:lnSpc>
                <a:spcPct val="116000"/>
              </a:lnSpc>
              <a:spcBef>
                <a:spcPts val="500"/>
              </a:spcBef>
              <a:spcAft>
                <a:spcPts val="0"/>
              </a:spcAft>
              <a:buClr>
                <a:srgbClr val="5C2D91"/>
              </a:buClr>
              <a:buSzPct val="86000"/>
              <a:buFont typeface="Arial"/>
              <a:buChar char="▪"/>
            </a:pPr>
            <a:r>
              <a:rPr sz="1250" b="0" i="0">
                <a:solidFill>
                  <a:srgbClr val="1C2330"/>
                </a:solidFill>
                <a:latin typeface="Segoe UI"/>
              </a:rPr>
              <a:t>Question answering grounded in your own documents</a:t>
            </a:r>
          </a:p>
          <a:p>
            <a:pPr marL="237744" indent="-237744" algn="l">
              <a:lnSpc>
                <a:spcPct val="116000"/>
              </a:lnSpc>
              <a:spcBef>
                <a:spcPts val="500"/>
              </a:spcBef>
              <a:spcAft>
                <a:spcPts val="0"/>
              </a:spcAft>
              <a:buClr>
                <a:srgbClr val="5C2D91"/>
              </a:buClr>
              <a:buSzPct val="86000"/>
              <a:buFont typeface="Arial"/>
              <a:buChar char="▪"/>
            </a:pPr>
            <a:r>
              <a:rPr sz="1250" b="0" i="0">
                <a:solidFill>
                  <a:srgbClr val="1C2330"/>
                </a:solidFill>
                <a:latin typeface="Segoe UI"/>
              </a:rPr>
              <a:t>Triage, routing and first-draft responses</a:t>
            </a:r>
          </a:p>
          <a:p>
            <a:pPr marL="237744" indent="-237744" algn="l">
              <a:lnSpc>
                <a:spcPct val="116000"/>
              </a:lnSpc>
              <a:spcBef>
                <a:spcPts val="500"/>
              </a:spcBef>
              <a:spcAft>
                <a:spcPts val="0"/>
              </a:spcAft>
              <a:buClr>
                <a:srgbClr val="5C2D91"/>
              </a:buClr>
              <a:buSzPct val="86000"/>
              <a:buFont typeface="Arial"/>
              <a:buChar char="▪"/>
            </a:pPr>
            <a:r>
              <a:rPr sz="1250" b="0" i="0">
                <a:solidFill>
                  <a:srgbClr val="1C2330"/>
                </a:solidFill>
                <a:latin typeface="Segoe UI"/>
              </a:rPr>
              <a:t>Best paired with retrieval - section 03</a:t>
            </a:r>
          </a:p>
        </p:txBody>
      </p:sp>
      <p:sp>
        <p:nvSpPr>
          <p:cNvPr id="19" name="Rectangle 18"/>
          <p:cNvSpPr/>
          <p:nvPr/>
        </p:nvSpPr>
        <p:spPr>
          <a:xfrm>
            <a:off x="6196568" y="4398264"/>
            <a:ext cx="5492480" cy="6858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31520"/>
            <a:ext cx="12191969" cy="6046927"/>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731520"/>
            <a:ext cx="12191969" cy="82296"/>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6696151"/>
            <a:ext cx="12191969" cy="82296"/>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914400" y="1810512"/>
            <a:ext cx="3108960" cy="2011680"/>
          </a:xfrm>
          <a:prstGeom prst="rect">
            <a:avLst/>
          </a:prstGeom>
          <a:noFill/>
        </p:spPr>
        <p:txBody>
          <a:bodyPr wrap="square" lIns="0" tIns="0" rIns="0" bIns="0" anchor="t">
            <a:spAutoFit/>
          </a:bodyPr>
          <a:lstStyle/>
          <a:p>
            <a:pPr algn="l">
              <a:lnSpc>
                <a:spcPct val="92000"/>
              </a:lnSpc>
              <a:spcBef>
                <a:spcPts val="0"/>
              </a:spcBef>
              <a:spcAft>
                <a:spcPts val="0"/>
              </a:spcAft>
            </a:pPr>
            <a:r>
              <a:rPr sz="10800" b="1" i="0">
                <a:solidFill>
                  <a:srgbClr val="2B4770"/>
                </a:solidFill>
                <a:latin typeface="Segoe UI Semibold"/>
              </a:rPr>
              <a:t>02</a:t>
            </a:r>
          </a:p>
        </p:txBody>
      </p:sp>
      <p:sp>
        <p:nvSpPr>
          <p:cNvPr id="6" name="TextBox 5"/>
          <p:cNvSpPr txBox="1"/>
          <p:nvPr/>
        </p:nvSpPr>
        <p:spPr>
          <a:xfrm>
            <a:off x="960120" y="3529584"/>
            <a:ext cx="4663440" cy="310896"/>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F47D35"/>
                </a:solidFill>
                <a:latin typeface="Segoe UI Semibold"/>
              </a:rPr>
              <a:t>SECTION</a:t>
            </a:r>
          </a:p>
        </p:txBody>
      </p:sp>
      <p:sp>
        <p:nvSpPr>
          <p:cNvPr id="7" name="TextBox 6"/>
          <p:cNvSpPr txBox="1"/>
          <p:nvPr/>
        </p:nvSpPr>
        <p:spPr>
          <a:xfrm>
            <a:off x="960120" y="3822191"/>
            <a:ext cx="4846320" cy="1737360"/>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FFFFFF"/>
                </a:solidFill>
                <a:latin typeface="Segoe UI Semibold"/>
              </a:rPr>
              <a:t>Prompt
Engineering</a:t>
            </a:r>
          </a:p>
        </p:txBody>
      </p:sp>
      <p:sp>
        <p:nvSpPr>
          <p:cNvPr id="8" name="Rounded Rectangle 7"/>
          <p:cNvSpPr/>
          <p:nvPr/>
        </p:nvSpPr>
        <p:spPr>
          <a:xfrm>
            <a:off x="6263640" y="1810512"/>
            <a:ext cx="4983480" cy="4069080"/>
          </a:xfrm>
          <a:prstGeom prst="roundRect">
            <a:avLst>
              <a:gd name="adj" fmla="val 4500"/>
            </a:avLst>
          </a:prstGeom>
          <a:solidFill>
            <a:srgbClr val="1F3558"/>
          </a:solidFill>
          <a:ln w="1270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t"/>
          <a:lstStyle/>
          <a:p>
            <a:pPr algn="l">
              <a:lnSpc>
                <a:spcPct val="115000"/>
              </a:lnSpc>
              <a:spcBef>
                <a:spcPts val="0"/>
              </a:spcBef>
              <a:spcAft>
                <a:spcPts val="1200"/>
              </a:spcAft>
            </a:pPr>
            <a:r>
              <a:rPr sz="1150" b="1" i="0">
                <a:solidFill>
                  <a:srgbClr val="107C41"/>
                </a:solidFill>
                <a:latin typeface="Segoe UI Semibold"/>
              </a:rPr>
              <a:t>IN THIS SECTION</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What a prompt actually controls</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Zero-shot, few-shot and chain-of-thought</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Prompt design techniques that generalise</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Why prompt claims need evidence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5.2 PROMPT DESIGN TECHNIQUES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Prompt Design Techniques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5</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CSE276  ·  Unit 5: Generative AI and Responsible Artificial Intelligence</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8</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Six techniques that transfer across models and tasks.</a:t>
            </a:r>
          </a:p>
        </p:txBody>
      </p:sp>
      <p:sp>
        <p:nvSpPr>
          <p:cNvPr id="12" name="Rounded Rectangle 11"/>
          <p:cNvSpPr/>
          <p:nvPr/>
        </p:nvSpPr>
        <p:spPr>
          <a:xfrm>
            <a:off x="502920" y="2267712"/>
            <a:ext cx="3594597"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390"/>
              </a:spcAft>
            </a:pPr>
            <a:r>
              <a:rPr sz="960" b="1" i="0">
                <a:solidFill>
                  <a:srgbClr val="0096C7"/>
                </a:solidFill>
                <a:latin typeface="Segoe UI Semibold"/>
              </a:rPr>
              <a:t>TECHNIQUE 1</a:t>
            </a:r>
          </a:p>
          <a:p>
            <a:pPr algn="l">
              <a:lnSpc>
                <a:spcPct val="110000"/>
              </a:lnSpc>
              <a:spcBef>
                <a:spcPts val="0"/>
              </a:spcBef>
              <a:spcAft>
                <a:spcPts val="670"/>
              </a:spcAft>
            </a:pPr>
            <a:r>
              <a:rPr sz="1440" b="1" i="0">
                <a:solidFill>
                  <a:srgbClr val="182B49"/>
                </a:solidFill>
                <a:latin typeface="Segoe UI Semibold"/>
              </a:rPr>
              <a:t>Be specific about the task</a:t>
            </a:r>
          </a:p>
          <a:p>
            <a:pPr marL="237744" indent="-237744" algn="l">
              <a:lnSpc>
                <a:spcPct val="116000"/>
              </a:lnSpc>
              <a:spcBef>
                <a:spcPts val="480"/>
              </a:spcBef>
              <a:spcAft>
                <a:spcPts val="0"/>
              </a:spcAft>
              <a:buClr>
                <a:srgbClr val="0096C7"/>
              </a:buClr>
              <a:buSzPct val="86000"/>
              <a:buFont typeface="Arial"/>
              <a:buChar char="▪"/>
            </a:pPr>
            <a:r>
              <a:rPr sz="1160" b="0" i="0">
                <a:solidFill>
                  <a:srgbClr val="1C2330"/>
                </a:solidFill>
                <a:latin typeface="Segoe UI"/>
              </a:rPr>
              <a:t>State the audience, format and length</a:t>
            </a:r>
          </a:p>
          <a:p>
            <a:pPr marL="237744" indent="-237744" algn="l">
              <a:lnSpc>
                <a:spcPct val="116000"/>
              </a:lnSpc>
              <a:spcBef>
                <a:spcPts val="480"/>
              </a:spcBef>
              <a:spcAft>
                <a:spcPts val="0"/>
              </a:spcAft>
              <a:buClr>
                <a:srgbClr val="0096C7"/>
              </a:buClr>
              <a:buSzPct val="86000"/>
              <a:buFont typeface="Arial"/>
              <a:buChar char="▪"/>
            </a:pPr>
            <a:r>
              <a:rPr sz="1160" b="0" i="0">
                <a:solidFill>
                  <a:srgbClr val="1C2330"/>
                </a:solidFill>
                <a:latin typeface="Segoe UI"/>
              </a:rPr>
              <a:t>'Explain to a first-year student in three bullets'</a:t>
            </a:r>
          </a:p>
          <a:p>
            <a:pPr marL="237744" indent="-237744" algn="l">
              <a:lnSpc>
                <a:spcPct val="116000"/>
              </a:lnSpc>
              <a:spcBef>
                <a:spcPts val="480"/>
              </a:spcBef>
              <a:spcAft>
                <a:spcPts val="0"/>
              </a:spcAft>
              <a:buClr>
                <a:srgbClr val="0096C7"/>
              </a:buClr>
              <a:buSzPct val="86000"/>
              <a:buFont typeface="Arial"/>
              <a:buChar char="▪"/>
            </a:pPr>
            <a:r>
              <a:rPr sz="1160" b="0" i="0">
                <a:solidFill>
                  <a:srgbClr val="1C2330"/>
                </a:solidFill>
                <a:latin typeface="Segoe UI"/>
              </a:rPr>
              <a:t>Vagueness in, vagueness out</a:t>
            </a:r>
          </a:p>
        </p:txBody>
      </p:sp>
      <p:sp>
        <p:nvSpPr>
          <p:cNvPr id="13" name="Rectangle 12"/>
          <p:cNvSpPr/>
          <p:nvPr/>
        </p:nvSpPr>
        <p:spPr>
          <a:xfrm>
            <a:off x="502920" y="2267712"/>
            <a:ext cx="3594597" cy="685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4298685" y="2267712"/>
            <a:ext cx="3594597"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390"/>
              </a:spcAft>
            </a:pPr>
            <a:r>
              <a:rPr sz="960" b="1" i="0">
                <a:solidFill>
                  <a:srgbClr val="D97706"/>
                </a:solidFill>
                <a:latin typeface="Segoe UI Semibold"/>
              </a:rPr>
              <a:t>TECHNIQUE 2</a:t>
            </a:r>
          </a:p>
          <a:p>
            <a:pPr algn="l">
              <a:lnSpc>
                <a:spcPct val="110000"/>
              </a:lnSpc>
              <a:spcBef>
                <a:spcPts val="0"/>
              </a:spcBef>
              <a:spcAft>
                <a:spcPts val="670"/>
              </a:spcAft>
            </a:pPr>
            <a:r>
              <a:rPr sz="1440" b="1" i="0">
                <a:solidFill>
                  <a:srgbClr val="182B49"/>
                </a:solidFill>
                <a:latin typeface="Segoe UI Semibold"/>
              </a:rPr>
              <a:t>Assign a role</a:t>
            </a:r>
          </a:p>
          <a:p>
            <a:pPr marL="237744" indent="-237744" algn="l">
              <a:lnSpc>
                <a:spcPct val="116000"/>
              </a:lnSpc>
              <a:spcBef>
                <a:spcPts val="480"/>
              </a:spcBef>
              <a:spcAft>
                <a:spcPts val="0"/>
              </a:spcAft>
              <a:buClr>
                <a:srgbClr val="D97706"/>
              </a:buClr>
              <a:buSzPct val="86000"/>
              <a:buFont typeface="Arial"/>
              <a:buChar char="▪"/>
            </a:pPr>
            <a:r>
              <a:rPr sz="1160" b="0" i="0">
                <a:solidFill>
                  <a:srgbClr val="1C2330"/>
                </a:solidFill>
                <a:latin typeface="Segoe UI"/>
              </a:rPr>
              <a:t>'You are an experienced examiner marking this answer'</a:t>
            </a:r>
          </a:p>
          <a:p>
            <a:pPr marL="237744" indent="-237744" algn="l">
              <a:lnSpc>
                <a:spcPct val="116000"/>
              </a:lnSpc>
              <a:spcBef>
                <a:spcPts val="480"/>
              </a:spcBef>
              <a:spcAft>
                <a:spcPts val="0"/>
              </a:spcAft>
              <a:buClr>
                <a:srgbClr val="D97706"/>
              </a:buClr>
              <a:buSzPct val="86000"/>
              <a:buFont typeface="Arial"/>
              <a:buChar char="▪"/>
            </a:pPr>
            <a:r>
              <a:rPr sz="1160" b="0" i="0">
                <a:solidFill>
                  <a:srgbClr val="1C2330"/>
                </a:solidFill>
                <a:latin typeface="Segoe UI"/>
              </a:rPr>
              <a:t>Sets vocabulary and level</a:t>
            </a:r>
          </a:p>
          <a:p>
            <a:pPr marL="237744" indent="-237744" algn="l">
              <a:lnSpc>
                <a:spcPct val="116000"/>
              </a:lnSpc>
              <a:spcBef>
                <a:spcPts val="480"/>
              </a:spcBef>
              <a:spcAft>
                <a:spcPts val="0"/>
              </a:spcAft>
              <a:buClr>
                <a:srgbClr val="D97706"/>
              </a:buClr>
              <a:buSzPct val="86000"/>
              <a:buFont typeface="Arial"/>
              <a:buChar char="▪"/>
            </a:pPr>
            <a:r>
              <a:rPr sz="1160" b="0" i="0">
                <a:solidFill>
                  <a:srgbClr val="1C2330"/>
                </a:solidFill>
                <a:latin typeface="Segoe UI"/>
              </a:rPr>
              <a:t>Cheap, and often surprisingly effective</a:t>
            </a:r>
          </a:p>
        </p:txBody>
      </p:sp>
      <p:sp>
        <p:nvSpPr>
          <p:cNvPr id="15" name="Rectangle 14"/>
          <p:cNvSpPr/>
          <p:nvPr/>
        </p:nvSpPr>
        <p:spPr>
          <a:xfrm>
            <a:off x="4298685" y="2267712"/>
            <a:ext cx="3594597" cy="685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8094451" y="2267712"/>
            <a:ext cx="3594597"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300"/>
              </a:spcAft>
            </a:pPr>
            <a:r>
              <a:rPr sz="760" b="1" i="0">
                <a:solidFill>
                  <a:srgbClr val="107C41"/>
                </a:solidFill>
                <a:latin typeface="Segoe UI Semibold"/>
              </a:rPr>
              <a:t>TECHNIQUE 3</a:t>
            </a:r>
          </a:p>
          <a:p>
            <a:pPr algn="l">
              <a:lnSpc>
                <a:spcPct val="110000"/>
              </a:lnSpc>
              <a:spcBef>
                <a:spcPts val="0"/>
              </a:spcBef>
              <a:spcAft>
                <a:spcPts val="530"/>
              </a:spcAft>
            </a:pPr>
            <a:r>
              <a:rPr sz="1140" b="1" i="0">
                <a:solidFill>
                  <a:srgbClr val="182B49"/>
                </a:solidFill>
                <a:latin typeface="Segoe UI Semibold"/>
              </a:rPr>
              <a:t>Few-shot examples</a:t>
            </a:r>
          </a:p>
          <a:p>
            <a:pPr marL="237744" indent="-237744" algn="l">
              <a:lnSpc>
                <a:spcPct val="116000"/>
              </a:lnSpc>
              <a:spcBef>
                <a:spcPts val="380"/>
              </a:spcBef>
              <a:spcAft>
                <a:spcPts val="0"/>
              </a:spcAft>
              <a:buClr>
                <a:srgbClr val="107C41"/>
              </a:buClr>
              <a:buSzPct val="86000"/>
              <a:buFont typeface="Arial"/>
              <a:buChar char="▪"/>
            </a:pPr>
            <a:r>
              <a:rPr sz="910" b="0" i="0">
                <a:solidFill>
                  <a:srgbClr val="1C2330"/>
                </a:solidFill>
                <a:latin typeface="Segoe UI"/>
              </a:rPr>
              <a:t>Show two or three worked input-output pairs</a:t>
            </a:r>
          </a:p>
          <a:p>
            <a:pPr marL="237744" indent="-237744" algn="l">
              <a:lnSpc>
                <a:spcPct val="116000"/>
              </a:lnSpc>
              <a:spcBef>
                <a:spcPts val="380"/>
              </a:spcBef>
              <a:spcAft>
                <a:spcPts val="0"/>
              </a:spcAft>
              <a:buClr>
                <a:srgbClr val="107C41"/>
              </a:buClr>
              <a:buSzPct val="86000"/>
              <a:buFont typeface="Arial"/>
              <a:buChar char="▪"/>
            </a:pPr>
            <a:r>
              <a:rPr sz="910" b="0" i="0">
                <a:solidFill>
                  <a:srgbClr val="1C2330"/>
                </a:solidFill>
                <a:latin typeface="Segoe UI"/>
              </a:rPr>
              <a:t>The model infers the pattern and the format</a:t>
            </a:r>
          </a:p>
          <a:p>
            <a:pPr marL="237744" indent="-237744" algn="l">
              <a:lnSpc>
                <a:spcPct val="116000"/>
              </a:lnSpc>
              <a:spcBef>
                <a:spcPts val="380"/>
              </a:spcBef>
              <a:spcAft>
                <a:spcPts val="0"/>
              </a:spcAft>
              <a:buClr>
                <a:srgbClr val="107C41"/>
              </a:buClr>
              <a:buSzPct val="86000"/>
              <a:buFont typeface="Arial"/>
              <a:buChar char="▪"/>
            </a:pPr>
            <a:r>
              <a:rPr sz="910" b="0" i="0">
                <a:solidFill>
                  <a:srgbClr val="1C2330"/>
                </a:solidFill>
                <a:latin typeface="Segoe UI"/>
              </a:rPr>
              <a:t>Usually beats describing the format in words</a:t>
            </a:r>
          </a:p>
        </p:txBody>
      </p:sp>
      <p:sp>
        <p:nvSpPr>
          <p:cNvPr id="17" name="Rectangle 16"/>
          <p:cNvSpPr/>
          <p:nvPr/>
        </p:nvSpPr>
        <p:spPr>
          <a:xfrm>
            <a:off x="8094451" y="2267712"/>
            <a:ext cx="3594597" cy="6858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ounded Rectangle 17"/>
          <p:cNvSpPr/>
          <p:nvPr/>
        </p:nvSpPr>
        <p:spPr>
          <a:xfrm>
            <a:off x="502920" y="4398264"/>
            <a:ext cx="3594597"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340"/>
              </a:spcAft>
            </a:pPr>
            <a:r>
              <a:rPr sz="850" b="1" i="0">
                <a:solidFill>
                  <a:srgbClr val="5C2D91"/>
                </a:solidFill>
                <a:latin typeface="Segoe UI Semibold"/>
              </a:rPr>
              <a:t>TECHNIQUE 4</a:t>
            </a:r>
          </a:p>
          <a:p>
            <a:pPr algn="l">
              <a:lnSpc>
                <a:spcPct val="110000"/>
              </a:lnSpc>
              <a:spcBef>
                <a:spcPts val="0"/>
              </a:spcBef>
              <a:spcAft>
                <a:spcPts val="600"/>
              </a:spcAft>
            </a:pPr>
            <a:r>
              <a:rPr sz="1280" b="1" i="0">
                <a:solidFill>
                  <a:srgbClr val="182B49"/>
                </a:solidFill>
                <a:latin typeface="Segoe UI Semibold"/>
              </a:rPr>
              <a:t>Chain-of-thought</a:t>
            </a:r>
          </a:p>
          <a:p>
            <a:pPr marL="237744" indent="-237744" algn="l">
              <a:lnSpc>
                <a:spcPct val="116000"/>
              </a:lnSpc>
              <a:spcBef>
                <a:spcPts val="430"/>
              </a:spcBef>
              <a:spcAft>
                <a:spcPts val="0"/>
              </a:spcAft>
              <a:buClr>
                <a:srgbClr val="5C2D91"/>
              </a:buClr>
              <a:buSzPct val="86000"/>
              <a:buFont typeface="Arial"/>
              <a:buChar char="▪"/>
            </a:pPr>
            <a:r>
              <a:rPr sz="1019" b="0" i="0">
                <a:solidFill>
                  <a:srgbClr val="1C2330"/>
                </a:solidFill>
                <a:latin typeface="Segoe UI"/>
              </a:rPr>
              <a:t>'Think step by step, then give a final answer'</a:t>
            </a:r>
          </a:p>
          <a:p>
            <a:pPr marL="237744" indent="-237744" algn="l">
              <a:lnSpc>
                <a:spcPct val="116000"/>
              </a:lnSpc>
              <a:spcBef>
                <a:spcPts val="430"/>
              </a:spcBef>
              <a:spcAft>
                <a:spcPts val="0"/>
              </a:spcAft>
              <a:buClr>
                <a:srgbClr val="5C2D91"/>
              </a:buClr>
              <a:buSzPct val="86000"/>
              <a:buFont typeface="Arial"/>
              <a:buChar char="▪"/>
            </a:pPr>
            <a:r>
              <a:rPr sz="1019" b="0" i="0">
                <a:solidFill>
                  <a:srgbClr val="1C2330"/>
                </a:solidFill>
                <a:latin typeface="Segoe UI"/>
              </a:rPr>
              <a:t>Helps on multi-step reasoning and arithmetic</a:t>
            </a:r>
          </a:p>
          <a:p>
            <a:pPr marL="237744" indent="-237744" algn="l">
              <a:lnSpc>
                <a:spcPct val="116000"/>
              </a:lnSpc>
              <a:spcBef>
                <a:spcPts val="430"/>
              </a:spcBef>
              <a:spcAft>
                <a:spcPts val="0"/>
              </a:spcAft>
              <a:buClr>
                <a:srgbClr val="5C2D91"/>
              </a:buClr>
              <a:buSzPct val="86000"/>
              <a:buFont typeface="Arial"/>
              <a:buChar char="▪"/>
            </a:pPr>
            <a:r>
              <a:rPr sz="1019" b="0" i="0">
                <a:solidFill>
                  <a:srgbClr val="1C2330"/>
                </a:solidFill>
                <a:latin typeface="Segoe UI"/>
              </a:rPr>
              <a:t>Costs more tokens and more time</a:t>
            </a:r>
          </a:p>
        </p:txBody>
      </p:sp>
      <p:sp>
        <p:nvSpPr>
          <p:cNvPr id="19" name="Rectangle 18"/>
          <p:cNvSpPr/>
          <p:nvPr/>
        </p:nvSpPr>
        <p:spPr>
          <a:xfrm>
            <a:off x="502920" y="4398264"/>
            <a:ext cx="3594597" cy="6858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ounded Rectangle 19"/>
          <p:cNvSpPr/>
          <p:nvPr/>
        </p:nvSpPr>
        <p:spPr>
          <a:xfrm>
            <a:off x="4298685" y="4398264"/>
            <a:ext cx="3594597"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340"/>
              </a:spcAft>
            </a:pPr>
            <a:r>
              <a:rPr sz="850" b="1" i="0">
                <a:solidFill>
                  <a:srgbClr val="B42318"/>
                </a:solidFill>
                <a:latin typeface="Segoe UI Semibold"/>
              </a:rPr>
              <a:t>TECHNIQUE 5</a:t>
            </a:r>
          </a:p>
          <a:p>
            <a:pPr algn="l">
              <a:lnSpc>
                <a:spcPct val="110000"/>
              </a:lnSpc>
              <a:spcBef>
                <a:spcPts val="0"/>
              </a:spcBef>
              <a:spcAft>
                <a:spcPts val="600"/>
              </a:spcAft>
            </a:pPr>
            <a:r>
              <a:rPr sz="1280" b="1" i="0">
                <a:solidFill>
                  <a:srgbClr val="182B49"/>
                </a:solidFill>
                <a:latin typeface="Segoe UI Semibold"/>
              </a:rPr>
              <a:t>Constrain the output</a:t>
            </a:r>
          </a:p>
          <a:p>
            <a:pPr marL="237744" indent="-237744" algn="l">
              <a:lnSpc>
                <a:spcPct val="116000"/>
              </a:lnSpc>
              <a:spcBef>
                <a:spcPts val="430"/>
              </a:spcBef>
              <a:spcAft>
                <a:spcPts val="0"/>
              </a:spcAft>
              <a:buClr>
                <a:srgbClr val="B42318"/>
              </a:buClr>
              <a:buSzPct val="86000"/>
              <a:buFont typeface="Arial"/>
              <a:buChar char="▪"/>
            </a:pPr>
            <a:r>
              <a:rPr sz="1019" b="0" i="0">
                <a:solidFill>
                  <a:srgbClr val="1C2330"/>
                </a:solidFill>
                <a:latin typeface="Segoe UI"/>
              </a:rPr>
              <a:t>Specify JSON, a table, or exactly three bullets</a:t>
            </a:r>
          </a:p>
          <a:p>
            <a:pPr marL="237744" indent="-237744" algn="l">
              <a:lnSpc>
                <a:spcPct val="116000"/>
              </a:lnSpc>
              <a:spcBef>
                <a:spcPts val="430"/>
              </a:spcBef>
              <a:spcAft>
                <a:spcPts val="0"/>
              </a:spcAft>
              <a:buClr>
                <a:srgbClr val="B42318"/>
              </a:buClr>
              <a:buSzPct val="86000"/>
              <a:buFont typeface="Arial"/>
              <a:buChar char="▪"/>
            </a:pPr>
            <a:r>
              <a:rPr sz="1019" b="0" i="0">
                <a:solidFill>
                  <a:srgbClr val="1C2330"/>
                </a:solidFill>
                <a:latin typeface="Segoe UI"/>
              </a:rPr>
              <a:t>Makes the output machine-checkable</a:t>
            </a:r>
          </a:p>
          <a:p>
            <a:pPr marL="237744" indent="-237744" algn="l">
              <a:lnSpc>
                <a:spcPct val="116000"/>
              </a:lnSpc>
              <a:spcBef>
                <a:spcPts val="430"/>
              </a:spcBef>
              <a:spcAft>
                <a:spcPts val="0"/>
              </a:spcAft>
              <a:buClr>
                <a:srgbClr val="B42318"/>
              </a:buClr>
              <a:buSzPct val="86000"/>
              <a:buFont typeface="Arial"/>
              <a:buChar char="▪"/>
            </a:pPr>
            <a:r>
              <a:rPr sz="1019" b="0" i="0">
                <a:solidFill>
                  <a:srgbClr val="1C2330"/>
                </a:solidFill>
                <a:latin typeface="Segoe UI"/>
              </a:rPr>
              <a:t>Essential when another program consumes it</a:t>
            </a:r>
          </a:p>
        </p:txBody>
      </p:sp>
      <p:sp>
        <p:nvSpPr>
          <p:cNvPr id="21" name="Rectangle 20"/>
          <p:cNvSpPr/>
          <p:nvPr/>
        </p:nvSpPr>
        <p:spPr>
          <a:xfrm>
            <a:off x="4298685" y="4398264"/>
            <a:ext cx="3594597" cy="6858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ounded Rectangle 21"/>
          <p:cNvSpPr/>
          <p:nvPr/>
        </p:nvSpPr>
        <p:spPr>
          <a:xfrm>
            <a:off x="8094451" y="4398264"/>
            <a:ext cx="3594597"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340"/>
              </a:spcAft>
            </a:pPr>
            <a:r>
              <a:rPr sz="850" b="1" i="0">
                <a:solidFill>
                  <a:srgbClr val="182B49"/>
                </a:solidFill>
                <a:latin typeface="Segoe UI Semibold"/>
              </a:rPr>
              <a:t>TECHNIQUE 6</a:t>
            </a:r>
          </a:p>
          <a:p>
            <a:pPr algn="l">
              <a:lnSpc>
                <a:spcPct val="110000"/>
              </a:lnSpc>
              <a:spcBef>
                <a:spcPts val="0"/>
              </a:spcBef>
              <a:spcAft>
                <a:spcPts val="600"/>
              </a:spcAft>
            </a:pPr>
            <a:r>
              <a:rPr sz="1280" b="1" i="0">
                <a:solidFill>
                  <a:srgbClr val="182B49"/>
                </a:solidFill>
                <a:latin typeface="Segoe UI Semibold"/>
              </a:rPr>
              <a:t>Give it permission to refuse</a:t>
            </a:r>
          </a:p>
          <a:p>
            <a:pPr marL="237744" indent="-237744" algn="l">
              <a:lnSpc>
                <a:spcPct val="116000"/>
              </a:lnSpc>
              <a:spcBef>
                <a:spcPts val="430"/>
              </a:spcBef>
              <a:spcAft>
                <a:spcPts val="0"/>
              </a:spcAft>
              <a:buClr>
                <a:srgbClr val="182B49"/>
              </a:buClr>
              <a:buSzPct val="86000"/>
              <a:buFont typeface="Arial"/>
              <a:buChar char="▪"/>
            </a:pPr>
            <a:r>
              <a:rPr sz="1019" b="0" i="0">
                <a:solidFill>
                  <a:srgbClr val="1C2330"/>
                </a:solidFill>
                <a:latin typeface="Segoe UI"/>
              </a:rPr>
              <a:t>'If the context does not contain the answer, say so'</a:t>
            </a:r>
          </a:p>
          <a:p>
            <a:pPr marL="237744" indent="-237744" algn="l">
              <a:lnSpc>
                <a:spcPct val="116000"/>
              </a:lnSpc>
              <a:spcBef>
                <a:spcPts val="430"/>
              </a:spcBef>
              <a:spcAft>
                <a:spcPts val="0"/>
              </a:spcAft>
              <a:buClr>
                <a:srgbClr val="182B49"/>
              </a:buClr>
              <a:buSzPct val="86000"/>
              <a:buFont typeface="Arial"/>
              <a:buChar char="▪"/>
            </a:pPr>
            <a:r>
              <a:rPr sz="1019" b="0" i="0">
                <a:solidFill>
                  <a:srgbClr val="1C2330"/>
                </a:solidFill>
                <a:latin typeface="Segoe UI"/>
              </a:rPr>
              <a:t>The single most effective anti-hallucination instruction</a:t>
            </a:r>
          </a:p>
          <a:p>
            <a:pPr marL="237744" indent="-237744" algn="l">
              <a:lnSpc>
                <a:spcPct val="116000"/>
              </a:lnSpc>
              <a:spcBef>
                <a:spcPts val="430"/>
              </a:spcBef>
              <a:spcAft>
                <a:spcPts val="0"/>
              </a:spcAft>
              <a:buClr>
                <a:srgbClr val="182B49"/>
              </a:buClr>
              <a:buSzPct val="86000"/>
              <a:buFont typeface="Arial"/>
              <a:buChar char="▪"/>
            </a:pPr>
            <a:r>
              <a:rPr sz="1019" b="0" i="0">
                <a:solidFill>
                  <a:srgbClr val="1C2330"/>
                </a:solidFill>
                <a:latin typeface="Segoe UI"/>
              </a:rPr>
              <a:t>Turns silence into an acceptable output</a:t>
            </a:r>
          </a:p>
        </p:txBody>
      </p:sp>
      <p:sp>
        <p:nvSpPr>
          <p:cNvPr id="23" name="Rectangle 22"/>
          <p:cNvSpPr/>
          <p:nvPr/>
        </p:nvSpPr>
        <p:spPr>
          <a:xfrm>
            <a:off x="8094451" y="4398264"/>
            <a:ext cx="3594597" cy="68580"/>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5.2 PROMPT ENGINEERING</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Evaluate Prompts, Do Not Just Believe Them</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5</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CSE276  ·  Unit 5: Generative AI and Responsible Artificial Intelligence</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9</a:t>
            </a:r>
          </a:p>
        </p:txBody>
      </p:sp>
      <p:sp>
        <p:nvSpPr>
          <p:cNvPr id="11" name="Rounded Rectangle 10"/>
          <p:cNvSpPr/>
          <p:nvPr/>
        </p:nvSpPr>
        <p:spPr>
          <a:xfrm>
            <a:off x="502920" y="1792224"/>
            <a:ext cx="11186129" cy="3712463"/>
          </a:xfrm>
          <a:prstGeom prst="roundRect">
            <a:avLst>
              <a:gd name="adj" fmla="val 3500"/>
            </a:avLst>
          </a:prstGeom>
          <a:solidFill>
            <a:srgbClr val="FEF3E0"/>
          </a:solidFill>
          <a:ln w="15875">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256032" tIns="603504" rIns="237744" bIns="0" rtlCol="0" anchor="t"/>
          <a:lstStyle/>
          <a:p>
            <a:pPr algn="l">
              <a:lnSpc>
                <a:spcPct val="120000"/>
              </a:lnSpc>
              <a:spcBef>
                <a:spcPts val="0"/>
              </a:spcBef>
              <a:spcAft>
                <a:spcPts val="0"/>
              </a:spcAft>
            </a:pPr>
            <a:r>
              <a:rPr sz="1450" b="1" i="0">
                <a:solidFill>
                  <a:srgbClr val="D97706"/>
                </a:solidFill>
                <a:latin typeface="Segoe UI Semibold"/>
              </a:rPr>
              <a:t>The problem  </a:t>
            </a:r>
            <a:r>
              <a:rPr sz="1450" b="0" i="0">
                <a:solidFill>
                  <a:srgbClr val="1C2330"/>
                </a:solidFill>
                <a:latin typeface="Segoe UI"/>
              </a:rPr>
              <a:t>prompt advice circulates as folklore - 'this phrasing works better' - with no evidence attached.</a:t>
            </a:r>
          </a:p>
          <a:p>
            <a:pPr algn="l">
              <a:lnSpc>
                <a:spcPct val="120000"/>
              </a:lnSpc>
              <a:spcBef>
                <a:spcPts val="969"/>
              </a:spcBef>
              <a:spcAft>
                <a:spcPts val="0"/>
              </a:spcAft>
            </a:pPr>
            <a:r>
              <a:rPr sz="1450" b="1" i="0">
                <a:solidFill>
                  <a:srgbClr val="D97706"/>
                </a:solidFill>
                <a:latin typeface="Segoe UI Semibold"/>
              </a:rPr>
              <a:t>Why that fails  </a:t>
            </a:r>
            <a:r>
              <a:rPr sz="1450" b="0" i="0">
                <a:solidFill>
                  <a:srgbClr val="1C2330"/>
                </a:solidFill>
                <a:latin typeface="Segoe UI"/>
              </a:rPr>
              <a:t>results vary by model, by task and by run. A technique that helps one model may do nothing for another.</a:t>
            </a:r>
          </a:p>
          <a:p>
            <a:pPr algn="l">
              <a:lnSpc>
                <a:spcPct val="120000"/>
              </a:lnSpc>
              <a:spcBef>
                <a:spcPts val="969"/>
              </a:spcBef>
              <a:spcAft>
                <a:spcPts val="0"/>
              </a:spcAft>
            </a:pPr>
            <a:r>
              <a:rPr sz="1450" b="1" i="0">
                <a:solidFill>
                  <a:srgbClr val="D97706"/>
                </a:solidFill>
                <a:latin typeface="Segoe UI Semibold"/>
              </a:rPr>
              <a:t>What to do instead  </a:t>
            </a:r>
            <a:r>
              <a:rPr sz="1450" b="0" i="0">
                <a:solidFill>
                  <a:srgbClr val="1C2330"/>
                </a:solidFill>
                <a:latin typeface="Segoe UI"/>
              </a:rPr>
              <a:t>define a small set of test tasks, and a RUBRIC you can compute - length, structure, presence of required facts, correct refusal.</a:t>
            </a:r>
          </a:p>
          <a:p>
            <a:pPr algn="l">
              <a:lnSpc>
                <a:spcPct val="120000"/>
              </a:lnSpc>
              <a:spcBef>
                <a:spcPts val="969"/>
              </a:spcBef>
              <a:spcAft>
                <a:spcPts val="0"/>
              </a:spcAft>
            </a:pPr>
            <a:r>
              <a:rPr sz="1450" b="1" i="0">
                <a:solidFill>
                  <a:srgbClr val="D97706"/>
                </a:solidFill>
                <a:latin typeface="Segoe UI Semibold"/>
              </a:rPr>
              <a:t>Then compare  </a:t>
            </a:r>
            <a:r>
              <a:rPr sz="1450" b="0" i="0">
                <a:solidFill>
                  <a:srgbClr val="1C2330"/>
                </a:solidFill>
                <a:latin typeface="Segoe UI"/>
              </a:rPr>
              <a:t>run every prompt strategy against the same tasks under the same conditions, and record the scores.</a:t>
            </a:r>
          </a:p>
          <a:p>
            <a:pPr algn="l">
              <a:lnSpc>
                <a:spcPct val="120000"/>
              </a:lnSpc>
              <a:spcBef>
                <a:spcPts val="969"/>
              </a:spcBef>
              <a:spcAft>
                <a:spcPts val="0"/>
              </a:spcAft>
            </a:pPr>
            <a:r>
              <a:rPr sz="1450" b="1" i="0">
                <a:solidFill>
                  <a:srgbClr val="D97706"/>
                </a:solidFill>
                <a:latin typeface="Segoe UI Semibold"/>
              </a:rPr>
              <a:t>Report the claim WITH the rubric  </a:t>
            </a:r>
            <a:r>
              <a:rPr sz="1450" b="0" i="0">
                <a:solidFill>
                  <a:srgbClr val="1C2330"/>
                </a:solidFill>
                <a:latin typeface="Segoe UI"/>
              </a:rPr>
              <a:t>'chain-of-thought scored 0.81 against 0.62 on this three-part rubric across ten tasks' is checkable. 'Chain-of-thought is better' is not.</a:t>
            </a:r>
          </a:p>
          <a:p>
            <a:pPr algn="l">
              <a:lnSpc>
                <a:spcPct val="120000"/>
              </a:lnSpc>
              <a:spcBef>
                <a:spcPts val="969"/>
              </a:spcBef>
              <a:spcAft>
                <a:spcPts val="0"/>
              </a:spcAft>
            </a:pPr>
            <a:r>
              <a:rPr sz="1450" b="1" i="0">
                <a:solidFill>
                  <a:srgbClr val="D97706"/>
                </a:solidFill>
                <a:latin typeface="Segoe UI Semibold"/>
              </a:rPr>
              <a:t>Know your rubric's limits  </a:t>
            </a:r>
            <a:r>
              <a:rPr sz="1450" b="0" i="0">
                <a:solidFill>
                  <a:srgbClr val="1C2330"/>
                </a:solidFill>
                <a:latin typeface="Segoe UI"/>
              </a:rPr>
              <a:t>an automatic rubric cannot detect a confident factual error, which is exactly why humans still review.</a:t>
            </a:r>
          </a:p>
        </p:txBody>
      </p:sp>
      <p:sp>
        <p:nvSpPr>
          <p:cNvPr id="12" name="Rectangle 11"/>
          <p:cNvSpPr/>
          <p:nvPr/>
        </p:nvSpPr>
        <p:spPr>
          <a:xfrm>
            <a:off x="502920" y="1792224"/>
            <a:ext cx="11186129" cy="42062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704088" y="1883664"/>
            <a:ext cx="10728929" cy="274320"/>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FFFFFF"/>
                </a:solidFill>
                <a:latin typeface="Segoe UI Semibold"/>
              </a:rPr>
              <a:t>EXAM TIP   ·   </a:t>
            </a:r>
            <a:r>
              <a:rPr sz="1400" b="1" i="0">
                <a:solidFill>
                  <a:srgbClr val="FFFFFF"/>
                </a:solidFill>
                <a:latin typeface="Segoe UI Semibold"/>
              </a:rPr>
              <a:t>The habit that separates engineering from folklore</a:t>
            </a:r>
          </a:p>
        </p:txBody>
      </p:sp>
      <p:sp>
        <p:nvSpPr>
          <p:cNvPr id="14" name="Rounded Rectangle 13"/>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DESIGN ONE   </a:t>
            </a:r>
            <a:r>
              <a:rPr sz="1350" b="0" i="0">
                <a:solidFill>
                  <a:srgbClr val="1C2330"/>
                </a:solidFill>
                <a:latin typeface="Segoe UI"/>
              </a:rPr>
              <a:t>What would you measure to test whether a prompt reduces hallucination?</a:t>
            </a:r>
          </a:p>
        </p:txBody>
      </p:sp>
      <p:sp>
        <p:nvSpPr>
          <p:cNvPr id="15" name="Rectangle 14"/>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31520"/>
            <a:ext cx="12191969" cy="6046927"/>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731520"/>
            <a:ext cx="12191969" cy="82296"/>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6696151"/>
            <a:ext cx="12191969" cy="82296"/>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914400" y="1810512"/>
            <a:ext cx="3108960" cy="2011680"/>
          </a:xfrm>
          <a:prstGeom prst="rect">
            <a:avLst/>
          </a:prstGeom>
          <a:noFill/>
        </p:spPr>
        <p:txBody>
          <a:bodyPr wrap="square" lIns="0" tIns="0" rIns="0" bIns="0" anchor="t">
            <a:spAutoFit/>
          </a:bodyPr>
          <a:lstStyle/>
          <a:p>
            <a:pPr algn="l">
              <a:lnSpc>
                <a:spcPct val="92000"/>
              </a:lnSpc>
              <a:spcBef>
                <a:spcPts val="0"/>
              </a:spcBef>
              <a:spcAft>
                <a:spcPts val="0"/>
              </a:spcAft>
            </a:pPr>
            <a:r>
              <a:rPr sz="10800" b="1" i="0">
                <a:solidFill>
                  <a:srgbClr val="2B4770"/>
                </a:solidFill>
                <a:latin typeface="Segoe UI Semibold"/>
              </a:rPr>
              <a:t>03</a:t>
            </a:r>
          </a:p>
        </p:txBody>
      </p:sp>
      <p:sp>
        <p:nvSpPr>
          <p:cNvPr id="6" name="TextBox 5"/>
          <p:cNvSpPr txBox="1"/>
          <p:nvPr/>
        </p:nvSpPr>
        <p:spPr>
          <a:xfrm>
            <a:off x="960120" y="3529584"/>
            <a:ext cx="4663440" cy="310896"/>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F47D35"/>
                </a:solidFill>
                <a:latin typeface="Segoe UI Semibold"/>
              </a:rPr>
              <a:t>SECTION</a:t>
            </a:r>
          </a:p>
        </p:txBody>
      </p:sp>
      <p:sp>
        <p:nvSpPr>
          <p:cNvPr id="7" name="TextBox 6"/>
          <p:cNvSpPr txBox="1"/>
          <p:nvPr/>
        </p:nvSpPr>
        <p:spPr>
          <a:xfrm>
            <a:off x="960120" y="3822191"/>
            <a:ext cx="4846320" cy="1737360"/>
          </a:xfrm>
          <a:prstGeom prst="rect">
            <a:avLst/>
          </a:prstGeom>
          <a:noFill/>
        </p:spPr>
        <p:txBody>
          <a:bodyPr wrap="square" lIns="0" tIns="0" rIns="0" bIns="0" anchor="t">
            <a:spAutoFit/>
          </a:bodyPr>
          <a:lstStyle/>
          <a:p>
            <a:pPr algn="l">
              <a:lnSpc>
                <a:spcPct val="106000"/>
              </a:lnSpc>
              <a:spcBef>
                <a:spcPts val="0"/>
              </a:spcBef>
              <a:spcAft>
                <a:spcPts val="0"/>
              </a:spcAft>
            </a:pPr>
            <a:r>
              <a:rPr sz="2500" b="1" i="0">
                <a:solidFill>
                  <a:srgbClr val="FFFFFF"/>
                </a:solidFill>
                <a:latin typeface="Segoe UI Semibold"/>
              </a:rPr>
              <a:t>Hallucination and
Retrieval-Augmented Generation</a:t>
            </a:r>
          </a:p>
        </p:txBody>
      </p:sp>
      <p:sp>
        <p:nvSpPr>
          <p:cNvPr id="8" name="Rounded Rectangle 7"/>
          <p:cNvSpPr/>
          <p:nvPr/>
        </p:nvSpPr>
        <p:spPr>
          <a:xfrm>
            <a:off x="6263640" y="1810512"/>
            <a:ext cx="4983480" cy="4069080"/>
          </a:xfrm>
          <a:prstGeom prst="roundRect">
            <a:avLst>
              <a:gd name="adj" fmla="val 4500"/>
            </a:avLst>
          </a:prstGeom>
          <a:solidFill>
            <a:srgbClr val="1F3558"/>
          </a:solidFill>
          <a:ln w="1270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t"/>
          <a:lstStyle/>
          <a:p>
            <a:pPr algn="l">
              <a:lnSpc>
                <a:spcPct val="115000"/>
              </a:lnSpc>
              <a:spcBef>
                <a:spcPts val="0"/>
              </a:spcBef>
              <a:spcAft>
                <a:spcPts val="1200"/>
              </a:spcAft>
            </a:pPr>
            <a:r>
              <a:rPr sz="1150" b="1" i="0">
                <a:solidFill>
                  <a:srgbClr val="B42318"/>
                </a:solidFill>
                <a:latin typeface="Segoe UI Semibold"/>
              </a:rPr>
              <a:t>IN THIS SECTION</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What hallucination is, and why it happens</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Retrieval-Augmented Generation</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Grounding and citation</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Mitigation strategies that actually work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5.3 HALLUCINATION</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Hallucination - Confident, Fluent and Wrong</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5</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CSE276  ·  Unit 5: Generative AI and Responsible Artificial Intelligence</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11</a:t>
            </a:r>
          </a:p>
        </p:txBody>
      </p:sp>
      <p:sp>
        <p:nvSpPr>
          <p:cNvPr id="11" name="Rounded Rectangle 10"/>
          <p:cNvSpPr/>
          <p:nvPr/>
        </p:nvSpPr>
        <p:spPr>
          <a:xfrm>
            <a:off x="502920" y="1792224"/>
            <a:ext cx="11186129" cy="4535424"/>
          </a:xfrm>
          <a:prstGeom prst="roundRect">
            <a:avLst>
              <a:gd name="adj" fmla="val 3500"/>
            </a:avLst>
          </a:prstGeom>
          <a:solidFill>
            <a:srgbClr val="FDE9E7"/>
          </a:solidFill>
          <a:ln w="15875">
            <a:solidFill>
              <a:srgbClr val="B42318"/>
            </a:solidFill>
          </a:ln>
          <a:effectLst/>
        </p:spPr>
        <p:style>
          <a:lnRef idx="1">
            <a:schemeClr val="accent1"/>
          </a:lnRef>
          <a:fillRef idx="3">
            <a:schemeClr val="accent1"/>
          </a:fillRef>
          <a:effectRef idx="2">
            <a:schemeClr val="accent1"/>
          </a:effectRef>
          <a:fontRef idx="minor">
            <a:schemeClr val="lt1"/>
          </a:fontRef>
        </p:style>
        <p:txBody>
          <a:bodyPr wrap="square" lIns="256032" tIns="603504" rIns="237744" bIns="0" rtlCol="0" anchor="t"/>
          <a:lstStyle/>
          <a:p>
            <a:pPr algn="l">
              <a:lnSpc>
                <a:spcPct val="120000"/>
              </a:lnSpc>
              <a:spcBef>
                <a:spcPts val="0"/>
              </a:spcBef>
              <a:spcAft>
                <a:spcPts val="0"/>
              </a:spcAft>
            </a:pPr>
            <a:r>
              <a:rPr sz="1500" b="1" i="0">
                <a:solidFill>
                  <a:srgbClr val="B42318"/>
                </a:solidFill>
                <a:latin typeface="Segoe UI Semibold"/>
              </a:rPr>
              <a:t>What it is  </a:t>
            </a:r>
            <a:r>
              <a:rPr sz="1500" b="0" i="0">
                <a:solidFill>
                  <a:srgbClr val="1C2330"/>
                </a:solidFill>
                <a:latin typeface="Segoe UI"/>
              </a:rPr>
              <a:t>the model produces text that is fluent, plausible and factually wrong - often with citations, dates or names that do not exist.</a:t>
            </a:r>
          </a:p>
          <a:p>
            <a:pPr algn="l">
              <a:lnSpc>
                <a:spcPct val="120000"/>
              </a:lnSpc>
              <a:spcBef>
                <a:spcPts val="1000"/>
              </a:spcBef>
              <a:spcAft>
                <a:spcPts val="0"/>
              </a:spcAft>
            </a:pPr>
            <a:r>
              <a:rPr sz="1500" b="1" i="0">
                <a:solidFill>
                  <a:srgbClr val="B42318"/>
                </a:solidFill>
                <a:latin typeface="Segoe UI Semibold"/>
              </a:rPr>
              <a:t>Why it happens  </a:t>
            </a:r>
            <a:r>
              <a:rPr sz="1500" b="0" i="0">
                <a:solidFill>
                  <a:srgbClr val="1C2330"/>
                </a:solidFill>
                <a:latin typeface="Segoe UI"/>
              </a:rPr>
              <a:t>the training objective rewards PLAUSIBLE continuations, not true ones. Nothing in it distinguishes a correct fact from a convincing one.</a:t>
            </a:r>
          </a:p>
          <a:p>
            <a:pPr algn="l">
              <a:lnSpc>
                <a:spcPct val="120000"/>
              </a:lnSpc>
              <a:spcBef>
                <a:spcPts val="1000"/>
              </a:spcBef>
              <a:spcAft>
                <a:spcPts val="0"/>
              </a:spcAft>
            </a:pPr>
            <a:r>
              <a:rPr sz="1500" b="1" i="0">
                <a:solidFill>
                  <a:srgbClr val="B42318"/>
                </a:solidFill>
                <a:latin typeface="Segoe UI Semibold"/>
              </a:rPr>
              <a:t>No notion of not knowing  </a:t>
            </a:r>
            <a:r>
              <a:rPr sz="1500" b="0" i="0">
                <a:solidFill>
                  <a:srgbClr val="1C2330"/>
                </a:solidFill>
                <a:latin typeface="Segoe UI"/>
              </a:rPr>
              <a:t>the model has no internal signal for 'I lack this information', so it produces its best guess with the same confidence as a fact.</a:t>
            </a:r>
          </a:p>
          <a:p>
            <a:pPr algn="l">
              <a:lnSpc>
                <a:spcPct val="120000"/>
              </a:lnSpc>
              <a:spcBef>
                <a:spcPts val="1000"/>
              </a:spcBef>
              <a:spcAft>
                <a:spcPts val="0"/>
              </a:spcAft>
            </a:pPr>
            <a:r>
              <a:rPr sz="1500" b="1" i="0">
                <a:solidFill>
                  <a:srgbClr val="B42318"/>
                </a:solidFill>
                <a:latin typeface="Segoe UI Semibold"/>
              </a:rPr>
              <a:t>Where it is worst  </a:t>
            </a:r>
            <a:r>
              <a:rPr sz="1500" b="0" i="0">
                <a:solidFill>
                  <a:srgbClr val="1C2330"/>
                </a:solidFill>
                <a:latin typeface="Segoe UI"/>
              </a:rPr>
              <a:t>specific facts - numbers, dates, citations, names, quotations - and any topic sparsely represented in training.</a:t>
            </a:r>
          </a:p>
          <a:p>
            <a:pPr algn="l">
              <a:lnSpc>
                <a:spcPct val="120000"/>
              </a:lnSpc>
              <a:spcBef>
                <a:spcPts val="1000"/>
              </a:spcBef>
              <a:spcAft>
                <a:spcPts val="0"/>
              </a:spcAft>
            </a:pPr>
            <a:r>
              <a:rPr sz="1500" b="1" i="0">
                <a:solidFill>
                  <a:srgbClr val="B42318"/>
                </a:solidFill>
                <a:latin typeface="Segoe UI Semibold"/>
              </a:rPr>
              <a:t>Why fluency makes it dangerous  </a:t>
            </a:r>
            <a:r>
              <a:rPr sz="1500" b="0" i="0">
                <a:solidFill>
                  <a:srgbClr val="1C2330"/>
                </a:solidFill>
                <a:latin typeface="Segoe UI"/>
              </a:rPr>
              <a:t>a wrong answer that reads well receives less scrutiny than one that reads badly.</a:t>
            </a:r>
          </a:p>
          <a:p>
            <a:pPr algn="l">
              <a:lnSpc>
                <a:spcPct val="120000"/>
              </a:lnSpc>
              <a:spcBef>
                <a:spcPts val="1000"/>
              </a:spcBef>
              <a:spcAft>
                <a:spcPts val="0"/>
              </a:spcAft>
            </a:pPr>
            <a:r>
              <a:rPr sz="1500" b="1" i="0">
                <a:solidFill>
                  <a:srgbClr val="B42318"/>
                </a:solidFill>
                <a:latin typeface="Segoe UI Semibold"/>
              </a:rPr>
              <a:t>The mitigation that matters most  </a:t>
            </a:r>
            <a:r>
              <a:rPr sz="1500" b="0" i="0">
                <a:solidFill>
                  <a:srgbClr val="1C2330"/>
                </a:solidFill>
                <a:latin typeface="Segoe UI"/>
              </a:rPr>
              <a:t>ground the model in retrieved source text and require it to answer only from that.</a:t>
            </a:r>
          </a:p>
        </p:txBody>
      </p:sp>
      <p:sp>
        <p:nvSpPr>
          <p:cNvPr id="12" name="Rectangle 11"/>
          <p:cNvSpPr/>
          <p:nvPr/>
        </p:nvSpPr>
        <p:spPr>
          <a:xfrm>
            <a:off x="502920" y="1792224"/>
            <a:ext cx="11186129" cy="42062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704088" y="1883664"/>
            <a:ext cx="10728929" cy="274320"/>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FFFFFF"/>
                </a:solidFill>
                <a:latin typeface="Segoe UI Semibold"/>
              </a:rPr>
              <a:t>COMMON PITFALL   ·   </a:t>
            </a:r>
            <a:r>
              <a:rPr sz="1400" b="1" i="0">
                <a:solidFill>
                  <a:srgbClr val="FFFFFF"/>
                </a:solidFill>
                <a:latin typeface="Segoe UI Semibold"/>
              </a:rPr>
              <a:t>Not a bug to be patched, but a consequence of the objective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5.3 RETRIEVAL-AUGMENTED GENERATION</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Retrieval-Augmented Generation (RAG)</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5</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CSE276  ·  Unit 5: Generative AI and Responsible Artificial Intelligence</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12</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Retrieval supplies the truth; the model supplies the fluency.</a:t>
            </a:r>
          </a:p>
        </p:txBody>
      </p:sp>
      <p:sp>
        <p:nvSpPr>
          <p:cNvPr id="12" name="Rounded Rectangle 11"/>
          <p:cNvSpPr/>
          <p:nvPr/>
        </p:nvSpPr>
        <p:spPr>
          <a:xfrm>
            <a:off x="502920" y="2249424"/>
            <a:ext cx="2134813" cy="3255263"/>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55448" tIns="694944" rIns="137160" bIns="0" rtlCol="0" anchor="t"/>
          <a:lstStyle/>
          <a:p>
            <a:pPr marL="237744" indent="-237744" algn="l">
              <a:lnSpc>
                <a:spcPct val="116000"/>
              </a:lnSpc>
              <a:spcBef>
                <a:spcPts val="0"/>
              </a:spcBef>
              <a:spcAft>
                <a:spcPts val="0"/>
              </a:spcAft>
              <a:buClr>
                <a:srgbClr val="182B49"/>
              </a:buClr>
              <a:buSzPct val="86000"/>
              <a:buFont typeface="Arial"/>
              <a:buChar char="▪"/>
            </a:pPr>
            <a:r>
              <a:rPr sz="1150" b="0" i="0">
                <a:solidFill>
                  <a:srgbClr val="1C2330"/>
                </a:solidFill>
                <a:latin typeface="Segoe UI"/>
              </a:rPr>
              <a:t>Split your documents into chunks</a:t>
            </a:r>
          </a:p>
          <a:p>
            <a:pPr marL="237744" indent="-237744" algn="l">
              <a:lnSpc>
                <a:spcPct val="116000"/>
              </a:lnSpc>
              <a:spcBef>
                <a:spcPts val="600"/>
              </a:spcBef>
              <a:spcAft>
                <a:spcPts val="0"/>
              </a:spcAft>
              <a:buClr>
                <a:srgbClr val="182B49"/>
              </a:buClr>
              <a:buSzPct val="86000"/>
              <a:buFont typeface="Arial"/>
              <a:buChar char="▪"/>
            </a:pPr>
            <a:r>
              <a:rPr sz="1150" b="0" i="0">
                <a:solidFill>
                  <a:srgbClr val="1C2330"/>
                </a:solidFill>
                <a:latin typeface="Segoe UI"/>
              </a:rPr>
              <a:t>Store them for search</a:t>
            </a:r>
          </a:p>
          <a:p>
            <a:pPr marL="237744" indent="-237744" algn="l">
              <a:lnSpc>
                <a:spcPct val="116000"/>
              </a:lnSpc>
              <a:spcBef>
                <a:spcPts val="600"/>
              </a:spcBef>
              <a:spcAft>
                <a:spcPts val="0"/>
              </a:spcAft>
              <a:buClr>
                <a:srgbClr val="182B49"/>
              </a:buClr>
              <a:buSzPct val="86000"/>
              <a:buFont typeface="Arial"/>
              <a:buChar char="▪"/>
            </a:pPr>
            <a:r>
              <a:rPr sz="1150" b="0" i="0">
                <a:solidFill>
                  <a:srgbClr val="1C2330"/>
                </a:solidFill>
                <a:latin typeface="Segoe UI"/>
              </a:rPr>
              <a:t>Done once, in advance</a:t>
            </a:r>
          </a:p>
        </p:txBody>
      </p:sp>
      <p:sp>
        <p:nvSpPr>
          <p:cNvPr id="13" name="Rectangle 12"/>
          <p:cNvSpPr/>
          <p:nvPr/>
        </p:nvSpPr>
        <p:spPr>
          <a:xfrm>
            <a:off x="502920" y="2249424"/>
            <a:ext cx="2134813" cy="548640"/>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49224" y="2350008"/>
            <a:ext cx="1842205" cy="384048"/>
          </a:xfrm>
          <a:prstGeom prst="rect">
            <a:avLst/>
          </a:prstGeom>
          <a:noFill/>
        </p:spPr>
        <p:txBody>
          <a:bodyPr wrap="square" lIns="0" tIns="0" rIns="0" bIns="0" anchor="t">
            <a:spAutoFit/>
          </a:bodyPr>
          <a:lstStyle/>
          <a:p>
            <a:pPr algn="l">
              <a:lnSpc>
                <a:spcPct val="105000"/>
              </a:lnSpc>
              <a:spcBef>
                <a:spcPts val="0"/>
              </a:spcBef>
              <a:spcAft>
                <a:spcPts val="0"/>
              </a:spcAft>
            </a:pPr>
            <a:r>
              <a:rPr sz="1150" b="1" i="0">
                <a:solidFill>
                  <a:srgbClr val="FFFFFF"/>
                </a:solidFill>
                <a:latin typeface="Segoe UI Semibold"/>
              </a:rPr>
              <a:t>01  INDEX</a:t>
            </a:r>
          </a:p>
        </p:txBody>
      </p:sp>
      <p:sp>
        <p:nvSpPr>
          <p:cNvPr id="15" name="Isosceles Triangle 14"/>
          <p:cNvSpPr/>
          <p:nvPr/>
        </p:nvSpPr>
        <p:spPr>
          <a:xfrm rot="5400000">
            <a:off x="2624017" y="2450592"/>
            <a:ext cx="155448" cy="155448"/>
          </a:xfrm>
          <a:prstGeom prst="triangle">
            <a:avLst/>
          </a:prstGeom>
          <a:solidFill>
            <a:srgbClr val="B4C0C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2765749" y="2249424"/>
            <a:ext cx="2134813" cy="3255263"/>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55448" tIns="694944" rIns="137160" bIns="0" rtlCol="0" anchor="t"/>
          <a:lstStyle/>
          <a:p>
            <a:pPr marL="237744" indent="-237744" algn="l">
              <a:lnSpc>
                <a:spcPct val="116000"/>
              </a:lnSpc>
              <a:spcBef>
                <a:spcPts val="0"/>
              </a:spcBef>
              <a:spcAft>
                <a:spcPts val="0"/>
              </a:spcAft>
              <a:buClr>
                <a:srgbClr val="0096C7"/>
              </a:buClr>
              <a:buSzPct val="86000"/>
              <a:buFont typeface="Arial"/>
              <a:buChar char="▪"/>
            </a:pPr>
            <a:r>
              <a:rPr sz="1150" b="0" i="0">
                <a:solidFill>
                  <a:srgbClr val="1C2330"/>
                </a:solidFill>
                <a:latin typeface="Segoe UI"/>
              </a:rPr>
              <a:t>Take the user's question</a:t>
            </a:r>
          </a:p>
          <a:p>
            <a:pPr marL="237744" indent="-237744" algn="l">
              <a:lnSpc>
                <a:spcPct val="116000"/>
              </a:lnSpc>
              <a:spcBef>
                <a:spcPts val="600"/>
              </a:spcBef>
              <a:spcAft>
                <a:spcPts val="0"/>
              </a:spcAft>
              <a:buClr>
                <a:srgbClr val="0096C7"/>
              </a:buClr>
              <a:buSzPct val="86000"/>
              <a:buFont typeface="Arial"/>
              <a:buChar char="▪"/>
            </a:pPr>
            <a:r>
              <a:rPr sz="1150" b="0" i="0">
                <a:solidFill>
                  <a:srgbClr val="1C2330"/>
                </a:solidFill>
                <a:latin typeface="Segoe UI"/>
              </a:rPr>
              <a:t>Find the most relevant chunks</a:t>
            </a:r>
          </a:p>
          <a:p>
            <a:pPr marL="237744" indent="-237744" algn="l">
              <a:lnSpc>
                <a:spcPct val="116000"/>
              </a:lnSpc>
              <a:spcBef>
                <a:spcPts val="600"/>
              </a:spcBef>
              <a:spcAft>
                <a:spcPts val="0"/>
              </a:spcAft>
              <a:buClr>
                <a:srgbClr val="0096C7"/>
              </a:buClr>
              <a:buSzPct val="86000"/>
              <a:buFont typeface="Arial"/>
              <a:buChar char="▪"/>
            </a:pPr>
            <a:r>
              <a:rPr sz="1150" b="0" i="0">
                <a:solidFill>
                  <a:srgbClr val="1C2330"/>
                </a:solidFill>
                <a:latin typeface="Segoe UI"/>
              </a:rPr>
              <a:t>Keyword search or embeddings</a:t>
            </a:r>
          </a:p>
        </p:txBody>
      </p:sp>
      <p:sp>
        <p:nvSpPr>
          <p:cNvPr id="17" name="Rectangle 16"/>
          <p:cNvSpPr/>
          <p:nvPr/>
        </p:nvSpPr>
        <p:spPr>
          <a:xfrm>
            <a:off x="2765749" y="2249424"/>
            <a:ext cx="2134813" cy="54864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2912053" y="2350008"/>
            <a:ext cx="1842205" cy="384048"/>
          </a:xfrm>
          <a:prstGeom prst="rect">
            <a:avLst/>
          </a:prstGeom>
          <a:noFill/>
        </p:spPr>
        <p:txBody>
          <a:bodyPr wrap="square" lIns="0" tIns="0" rIns="0" bIns="0" anchor="t">
            <a:spAutoFit/>
          </a:bodyPr>
          <a:lstStyle/>
          <a:p>
            <a:pPr algn="l">
              <a:lnSpc>
                <a:spcPct val="105000"/>
              </a:lnSpc>
              <a:spcBef>
                <a:spcPts val="0"/>
              </a:spcBef>
              <a:spcAft>
                <a:spcPts val="0"/>
              </a:spcAft>
            </a:pPr>
            <a:r>
              <a:rPr sz="1150" b="1" i="0">
                <a:solidFill>
                  <a:srgbClr val="FFFFFF"/>
                </a:solidFill>
                <a:latin typeface="Segoe UI Semibold"/>
              </a:rPr>
              <a:t>02  RETRIEVE</a:t>
            </a:r>
          </a:p>
        </p:txBody>
      </p:sp>
      <p:sp>
        <p:nvSpPr>
          <p:cNvPr id="19" name="Isosceles Triangle 18"/>
          <p:cNvSpPr/>
          <p:nvPr/>
        </p:nvSpPr>
        <p:spPr>
          <a:xfrm rot="5400000">
            <a:off x="4886846" y="2450592"/>
            <a:ext cx="155448" cy="155448"/>
          </a:xfrm>
          <a:prstGeom prst="triangle">
            <a:avLst/>
          </a:prstGeom>
          <a:solidFill>
            <a:srgbClr val="B4C0C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ounded Rectangle 19"/>
          <p:cNvSpPr/>
          <p:nvPr/>
        </p:nvSpPr>
        <p:spPr>
          <a:xfrm>
            <a:off x="5028578" y="2249424"/>
            <a:ext cx="2134813" cy="3255263"/>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55448" tIns="694944" rIns="137160" bIns="0" rtlCol="0" anchor="t"/>
          <a:lstStyle/>
          <a:p>
            <a:pPr marL="237744" indent="-237744" algn="l">
              <a:lnSpc>
                <a:spcPct val="116000"/>
              </a:lnSpc>
              <a:spcBef>
                <a:spcPts val="0"/>
              </a:spcBef>
              <a:spcAft>
                <a:spcPts val="0"/>
              </a:spcAft>
              <a:buClr>
                <a:srgbClr val="107C41"/>
              </a:buClr>
              <a:buSzPct val="86000"/>
              <a:buFont typeface="Arial"/>
              <a:buChar char="▪"/>
            </a:pPr>
            <a:r>
              <a:rPr sz="1150" b="0" i="0">
                <a:solidFill>
                  <a:srgbClr val="1C2330"/>
                </a:solidFill>
                <a:latin typeface="Segoe UI"/>
              </a:rPr>
              <a:t>Insert those chunks into the prompt as CONTEXT</a:t>
            </a:r>
          </a:p>
          <a:p>
            <a:pPr marL="237744" indent="-237744" algn="l">
              <a:lnSpc>
                <a:spcPct val="116000"/>
              </a:lnSpc>
              <a:spcBef>
                <a:spcPts val="600"/>
              </a:spcBef>
              <a:spcAft>
                <a:spcPts val="0"/>
              </a:spcAft>
              <a:buClr>
                <a:srgbClr val="107C41"/>
              </a:buClr>
              <a:buSzPct val="86000"/>
              <a:buFont typeface="Arial"/>
              <a:buChar char="▪"/>
            </a:pPr>
            <a:r>
              <a:rPr sz="1150" b="0" i="0">
                <a:solidFill>
                  <a:srgbClr val="1C2330"/>
                </a:solidFill>
                <a:latin typeface="Segoe UI"/>
              </a:rPr>
              <a:t>Instruct: answer only from this context</a:t>
            </a:r>
          </a:p>
        </p:txBody>
      </p:sp>
      <p:sp>
        <p:nvSpPr>
          <p:cNvPr id="21" name="Rectangle 20"/>
          <p:cNvSpPr/>
          <p:nvPr/>
        </p:nvSpPr>
        <p:spPr>
          <a:xfrm>
            <a:off x="5028578" y="2249424"/>
            <a:ext cx="2134813" cy="54864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5174882" y="2350008"/>
            <a:ext cx="1842205" cy="384048"/>
          </a:xfrm>
          <a:prstGeom prst="rect">
            <a:avLst/>
          </a:prstGeom>
          <a:noFill/>
        </p:spPr>
        <p:txBody>
          <a:bodyPr wrap="square" lIns="0" tIns="0" rIns="0" bIns="0" anchor="t">
            <a:spAutoFit/>
          </a:bodyPr>
          <a:lstStyle/>
          <a:p>
            <a:pPr algn="l">
              <a:lnSpc>
                <a:spcPct val="105000"/>
              </a:lnSpc>
              <a:spcBef>
                <a:spcPts val="0"/>
              </a:spcBef>
              <a:spcAft>
                <a:spcPts val="0"/>
              </a:spcAft>
            </a:pPr>
            <a:r>
              <a:rPr sz="1150" b="1" i="0">
                <a:solidFill>
                  <a:srgbClr val="FFFFFF"/>
                </a:solidFill>
                <a:latin typeface="Segoe UI Semibold"/>
              </a:rPr>
              <a:t>03  AUGMENT</a:t>
            </a:r>
          </a:p>
        </p:txBody>
      </p:sp>
      <p:sp>
        <p:nvSpPr>
          <p:cNvPr id="23" name="Isosceles Triangle 22"/>
          <p:cNvSpPr/>
          <p:nvPr/>
        </p:nvSpPr>
        <p:spPr>
          <a:xfrm rot="5400000">
            <a:off x="7149675" y="2450592"/>
            <a:ext cx="155448" cy="155448"/>
          </a:xfrm>
          <a:prstGeom prst="triangle">
            <a:avLst/>
          </a:prstGeom>
          <a:solidFill>
            <a:srgbClr val="B4C0C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ounded Rectangle 23"/>
          <p:cNvSpPr/>
          <p:nvPr/>
        </p:nvSpPr>
        <p:spPr>
          <a:xfrm>
            <a:off x="7291407" y="2249424"/>
            <a:ext cx="2134813" cy="3255263"/>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55448" tIns="694944" rIns="137160" bIns="0" rtlCol="0" anchor="t"/>
          <a:lstStyle/>
          <a:p>
            <a:pPr marL="237744" indent="-237744" algn="l">
              <a:lnSpc>
                <a:spcPct val="116000"/>
              </a:lnSpc>
              <a:spcBef>
                <a:spcPts val="0"/>
              </a:spcBef>
              <a:spcAft>
                <a:spcPts val="0"/>
              </a:spcAft>
              <a:buClr>
                <a:srgbClr val="D97706"/>
              </a:buClr>
              <a:buSzPct val="86000"/>
              <a:buFont typeface="Arial"/>
              <a:buChar char="▪"/>
            </a:pPr>
            <a:r>
              <a:rPr sz="1150" b="0" i="0">
                <a:solidFill>
                  <a:srgbClr val="1C2330"/>
                </a:solidFill>
                <a:latin typeface="Segoe UI"/>
              </a:rPr>
              <a:t>The model writes the answer</a:t>
            </a:r>
          </a:p>
          <a:p>
            <a:pPr marL="237744" indent="-237744" algn="l">
              <a:lnSpc>
                <a:spcPct val="116000"/>
              </a:lnSpc>
              <a:spcBef>
                <a:spcPts val="600"/>
              </a:spcBef>
              <a:spcAft>
                <a:spcPts val="0"/>
              </a:spcAft>
              <a:buClr>
                <a:srgbClr val="D97706"/>
              </a:buClr>
              <a:buSzPct val="86000"/>
              <a:buFont typeface="Arial"/>
              <a:buChar char="▪"/>
            </a:pPr>
            <a:r>
              <a:rPr sz="1150" b="0" i="0">
                <a:solidFill>
                  <a:srgbClr val="1C2330"/>
                </a:solidFill>
                <a:latin typeface="Segoe UI"/>
              </a:rPr>
              <a:t>Fluency from the model, facts from your documents</a:t>
            </a:r>
          </a:p>
        </p:txBody>
      </p:sp>
      <p:sp>
        <p:nvSpPr>
          <p:cNvPr id="25" name="Rectangle 24"/>
          <p:cNvSpPr/>
          <p:nvPr/>
        </p:nvSpPr>
        <p:spPr>
          <a:xfrm>
            <a:off x="7291407" y="2249424"/>
            <a:ext cx="2134813" cy="5486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7437711" y="2350008"/>
            <a:ext cx="1842205" cy="384048"/>
          </a:xfrm>
          <a:prstGeom prst="rect">
            <a:avLst/>
          </a:prstGeom>
          <a:noFill/>
        </p:spPr>
        <p:txBody>
          <a:bodyPr wrap="square" lIns="0" tIns="0" rIns="0" bIns="0" anchor="t">
            <a:spAutoFit/>
          </a:bodyPr>
          <a:lstStyle/>
          <a:p>
            <a:pPr algn="l">
              <a:lnSpc>
                <a:spcPct val="105000"/>
              </a:lnSpc>
              <a:spcBef>
                <a:spcPts val="0"/>
              </a:spcBef>
              <a:spcAft>
                <a:spcPts val="0"/>
              </a:spcAft>
            </a:pPr>
            <a:r>
              <a:rPr sz="1150" b="1" i="0">
                <a:solidFill>
                  <a:srgbClr val="FFFFFF"/>
                </a:solidFill>
                <a:latin typeface="Segoe UI Semibold"/>
              </a:rPr>
              <a:t>04  GENERATE</a:t>
            </a:r>
          </a:p>
        </p:txBody>
      </p:sp>
      <p:sp>
        <p:nvSpPr>
          <p:cNvPr id="27" name="Isosceles Triangle 26"/>
          <p:cNvSpPr/>
          <p:nvPr/>
        </p:nvSpPr>
        <p:spPr>
          <a:xfrm rot="5400000">
            <a:off x="9412504" y="2450592"/>
            <a:ext cx="155448" cy="155448"/>
          </a:xfrm>
          <a:prstGeom prst="triangle">
            <a:avLst/>
          </a:prstGeom>
          <a:solidFill>
            <a:srgbClr val="B4C0C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ounded Rectangle 27"/>
          <p:cNvSpPr/>
          <p:nvPr/>
        </p:nvSpPr>
        <p:spPr>
          <a:xfrm>
            <a:off x="9554236" y="2249424"/>
            <a:ext cx="2134813" cy="3255263"/>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55448" tIns="694944" rIns="137160" bIns="0" rtlCol="0" anchor="t"/>
          <a:lstStyle/>
          <a:p>
            <a:pPr marL="237744" indent="-237744" algn="l">
              <a:lnSpc>
                <a:spcPct val="116000"/>
              </a:lnSpc>
              <a:spcBef>
                <a:spcPts val="0"/>
              </a:spcBef>
              <a:spcAft>
                <a:spcPts val="0"/>
              </a:spcAft>
              <a:buClr>
                <a:srgbClr val="5C2D91"/>
              </a:buClr>
              <a:buSzPct val="86000"/>
              <a:buFont typeface="Arial"/>
              <a:buChar char="▪"/>
            </a:pPr>
            <a:r>
              <a:rPr sz="1150" b="0" i="0">
                <a:solidFill>
                  <a:srgbClr val="1C2330"/>
                </a:solidFill>
                <a:latin typeface="Segoe UI"/>
              </a:rPr>
              <a:t>Return the source chunks alongside the answer</a:t>
            </a:r>
          </a:p>
          <a:p>
            <a:pPr marL="237744" indent="-237744" algn="l">
              <a:lnSpc>
                <a:spcPct val="116000"/>
              </a:lnSpc>
              <a:spcBef>
                <a:spcPts val="600"/>
              </a:spcBef>
              <a:spcAft>
                <a:spcPts val="0"/>
              </a:spcAft>
              <a:buClr>
                <a:srgbClr val="5C2D91"/>
              </a:buClr>
              <a:buSzPct val="86000"/>
              <a:buFont typeface="Arial"/>
              <a:buChar char="▪"/>
            </a:pPr>
            <a:r>
              <a:rPr sz="1150" b="0" i="0">
                <a:solidFill>
                  <a:srgbClr val="1C2330"/>
                </a:solidFill>
                <a:latin typeface="Segoe UI"/>
              </a:rPr>
              <a:t>The user can verify it</a:t>
            </a:r>
          </a:p>
          <a:p>
            <a:pPr marL="237744" indent="-237744" algn="l">
              <a:lnSpc>
                <a:spcPct val="116000"/>
              </a:lnSpc>
              <a:spcBef>
                <a:spcPts val="600"/>
              </a:spcBef>
              <a:spcAft>
                <a:spcPts val="0"/>
              </a:spcAft>
              <a:buClr>
                <a:srgbClr val="5C2D91"/>
              </a:buClr>
              <a:buSzPct val="86000"/>
              <a:buFont typeface="Arial"/>
              <a:buChar char="▪"/>
            </a:pPr>
            <a:r>
              <a:rPr sz="1150" b="0" i="0">
                <a:solidFill>
                  <a:srgbClr val="1C2330"/>
                </a:solidFill>
                <a:latin typeface="Segoe UI"/>
              </a:rPr>
              <a:t>This is what makes it auditable</a:t>
            </a:r>
          </a:p>
        </p:txBody>
      </p:sp>
      <p:sp>
        <p:nvSpPr>
          <p:cNvPr id="29" name="Rectangle 28"/>
          <p:cNvSpPr/>
          <p:nvPr/>
        </p:nvSpPr>
        <p:spPr>
          <a:xfrm>
            <a:off x="9554236" y="2249424"/>
            <a:ext cx="2134813" cy="54864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9700540" y="2350008"/>
            <a:ext cx="1842205" cy="384048"/>
          </a:xfrm>
          <a:prstGeom prst="rect">
            <a:avLst/>
          </a:prstGeom>
          <a:noFill/>
        </p:spPr>
        <p:txBody>
          <a:bodyPr wrap="square" lIns="0" tIns="0" rIns="0" bIns="0" anchor="t">
            <a:spAutoFit/>
          </a:bodyPr>
          <a:lstStyle/>
          <a:p>
            <a:pPr algn="l">
              <a:lnSpc>
                <a:spcPct val="105000"/>
              </a:lnSpc>
              <a:spcBef>
                <a:spcPts val="0"/>
              </a:spcBef>
              <a:spcAft>
                <a:spcPts val="0"/>
              </a:spcAft>
            </a:pPr>
            <a:r>
              <a:rPr sz="1150" b="1" i="0">
                <a:solidFill>
                  <a:srgbClr val="FFFFFF"/>
                </a:solidFill>
                <a:latin typeface="Segoe UI Semibold"/>
              </a:rPr>
              <a:t>05  CITE</a:t>
            </a:r>
          </a:p>
        </p:txBody>
      </p:sp>
      <p:sp>
        <p:nvSpPr>
          <p:cNvPr id="31" name="Rounded Rectangle 30"/>
          <p:cNvSpPr/>
          <p:nvPr/>
        </p:nvSpPr>
        <p:spPr>
          <a:xfrm>
            <a:off x="502920" y="5596128"/>
            <a:ext cx="11186129" cy="676656"/>
          </a:xfrm>
          <a:prstGeom prst="roundRect">
            <a:avLst>
              <a:gd name="adj" fmla="val 10000"/>
            </a:avLst>
          </a:prstGeom>
          <a:solidFill>
            <a:srgbClr val="FEF3E0"/>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182880" tIns="0" rIns="128016" bIns="0" rtlCol="0" anchor="ctr"/>
          <a:lstStyle/>
          <a:p>
            <a:pPr algn="l">
              <a:lnSpc>
                <a:spcPct val="112000"/>
              </a:lnSpc>
              <a:spcBef>
                <a:spcPts val="0"/>
              </a:spcBef>
              <a:spcAft>
                <a:spcPts val="0"/>
              </a:spcAft>
            </a:pPr>
            <a:r>
              <a:rPr sz="1150" b="1" i="0">
                <a:solidFill>
                  <a:srgbClr val="D97706"/>
                </a:solidFill>
                <a:latin typeface="Segoe UI Semibold"/>
              </a:rPr>
              <a:t>CONSIDER   </a:t>
            </a:r>
            <a:r>
              <a:rPr sz="1350" b="0" i="0">
                <a:solidFill>
                  <a:srgbClr val="1C2330"/>
                </a:solidFill>
                <a:latin typeface="Segoe UI"/>
              </a:rPr>
              <a:t>What happens if retrieval returns nothing relevant?</a:t>
            </a:r>
          </a:p>
        </p:txBody>
      </p:sp>
      <p:sp>
        <p:nvSpPr>
          <p:cNvPr id="32" name="Rectangle 31"/>
          <p:cNvSpPr/>
          <p:nvPr/>
        </p:nvSpPr>
        <p:spPr>
          <a:xfrm>
            <a:off x="502920" y="5596128"/>
            <a:ext cx="68580" cy="67665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5.3 MITIGATION STRATEGIES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Mitigation Strategies for Hallucination</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5</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CSE276  ·  Unit 5: Generative AI and Responsible Artificial Intelligence</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13</a:t>
            </a:r>
          </a:p>
        </p:txBody>
      </p:sp>
      <p:sp>
        <p:nvSpPr>
          <p:cNvPr id="11" name="Rounded Rectangle 10"/>
          <p:cNvSpPr/>
          <p:nvPr/>
        </p:nvSpPr>
        <p:spPr>
          <a:xfrm>
            <a:off x="502920" y="1792224"/>
            <a:ext cx="11186129" cy="2811962"/>
          </a:xfrm>
          <a:prstGeom prst="roundRect">
            <a:avLst>
              <a:gd name="adj" fmla="val 3500"/>
            </a:avLst>
          </a:prstGeom>
          <a:solidFill>
            <a:srgbClr val="FEF3E0"/>
          </a:solidFill>
          <a:ln w="15875">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256032" tIns="603504" rIns="237744" bIns="0" rtlCol="0" anchor="t"/>
          <a:lstStyle/>
          <a:p>
            <a:pPr algn="l">
              <a:lnSpc>
                <a:spcPct val="120000"/>
              </a:lnSpc>
              <a:spcBef>
                <a:spcPts val="0"/>
              </a:spcBef>
              <a:spcAft>
                <a:spcPts val="0"/>
              </a:spcAft>
            </a:pPr>
            <a:r>
              <a:rPr sz="1010" b="1" i="0">
                <a:solidFill>
                  <a:srgbClr val="D97706"/>
                </a:solidFill>
                <a:latin typeface="Segoe UI Semibold"/>
              </a:rPr>
              <a:t>1 - Ground with retrieval  </a:t>
            </a:r>
            <a:r>
              <a:rPr sz="1010" b="0" i="0">
                <a:solidFill>
                  <a:srgbClr val="1C2330"/>
                </a:solidFill>
                <a:latin typeface="Segoe UI"/>
              </a:rPr>
              <a:t>give the model the source text and instruct it to answer only from that. The single most effective measure.</a:t>
            </a:r>
          </a:p>
          <a:p>
            <a:pPr algn="l">
              <a:lnSpc>
                <a:spcPct val="120000"/>
              </a:lnSpc>
              <a:spcBef>
                <a:spcPts val="680"/>
              </a:spcBef>
              <a:spcAft>
                <a:spcPts val="0"/>
              </a:spcAft>
            </a:pPr>
            <a:r>
              <a:rPr sz="1010" b="1" i="0">
                <a:solidFill>
                  <a:srgbClr val="D97706"/>
                </a:solidFill>
                <a:latin typeface="Segoe UI Semibold"/>
              </a:rPr>
              <a:t>2 - Require citation  </a:t>
            </a:r>
            <a:r>
              <a:rPr sz="1010" b="0" i="0">
                <a:solidFill>
                  <a:srgbClr val="1C2330"/>
                </a:solidFill>
                <a:latin typeface="Segoe UI"/>
              </a:rPr>
              <a:t>make the model quote or reference the supporting passage, so an unsupported claim is visible.</a:t>
            </a:r>
          </a:p>
          <a:p>
            <a:pPr algn="l">
              <a:lnSpc>
                <a:spcPct val="120000"/>
              </a:lnSpc>
              <a:spcBef>
                <a:spcPts val="680"/>
              </a:spcBef>
              <a:spcAft>
                <a:spcPts val="0"/>
              </a:spcAft>
            </a:pPr>
            <a:r>
              <a:rPr sz="1010" b="1" i="0">
                <a:solidFill>
                  <a:srgbClr val="D97706"/>
                </a:solidFill>
                <a:latin typeface="Segoe UI Semibold"/>
              </a:rPr>
              <a:t>3 - Permit refusal explicitly  </a:t>
            </a:r>
            <a:r>
              <a:rPr sz="1010" b="0" i="0">
                <a:solidFill>
                  <a:srgbClr val="1C2330"/>
                </a:solidFill>
                <a:latin typeface="Segoe UI"/>
              </a:rPr>
              <a:t>'if the context does not contain the answer, say you do not know.' Without this, the model will invent something.</a:t>
            </a:r>
          </a:p>
          <a:p>
            <a:pPr algn="l">
              <a:lnSpc>
                <a:spcPct val="120000"/>
              </a:lnSpc>
              <a:spcBef>
                <a:spcPts val="680"/>
              </a:spcBef>
              <a:spcAft>
                <a:spcPts val="0"/>
              </a:spcAft>
            </a:pPr>
            <a:r>
              <a:rPr sz="1010" b="1" i="0">
                <a:solidFill>
                  <a:srgbClr val="D97706"/>
                </a:solidFill>
                <a:latin typeface="Segoe UI Semibold"/>
              </a:rPr>
              <a:t>4 - Constrain the output format  </a:t>
            </a:r>
            <a:r>
              <a:rPr sz="1010" b="0" i="0">
                <a:solidFill>
                  <a:srgbClr val="1C2330"/>
                </a:solidFill>
                <a:latin typeface="Segoe UI"/>
              </a:rPr>
              <a:t>structured output is easier to validate automatically than free prose.</a:t>
            </a:r>
          </a:p>
          <a:p>
            <a:pPr algn="l">
              <a:lnSpc>
                <a:spcPct val="120000"/>
              </a:lnSpc>
              <a:spcBef>
                <a:spcPts val="680"/>
              </a:spcBef>
              <a:spcAft>
                <a:spcPts val="0"/>
              </a:spcAft>
            </a:pPr>
            <a:r>
              <a:rPr sz="1010" b="1" i="0">
                <a:solidFill>
                  <a:srgbClr val="D97706"/>
                </a:solidFill>
                <a:latin typeface="Segoe UI Semibold"/>
              </a:rPr>
              <a:t>5 - Verify externally  </a:t>
            </a:r>
            <a:r>
              <a:rPr sz="1010" b="0" i="0">
                <a:solidFill>
                  <a:srgbClr val="1C2330"/>
                </a:solidFill>
                <a:latin typeface="Segoe UI"/>
              </a:rPr>
              <a:t>check facts against a database or a calculator rather than trusting the model's arithmetic.</a:t>
            </a:r>
          </a:p>
          <a:p>
            <a:pPr algn="l">
              <a:lnSpc>
                <a:spcPct val="120000"/>
              </a:lnSpc>
              <a:spcBef>
                <a:spcPts val="680"/>
              </a:spcBef>
              <a:spcAft>
                <a:spcPts val="0"/>
              </a:spcAft>
            </a:pPr>
            <a:r>
              <a:rPr sz="1010" b="1" i="0">
                <a:solidFill>
                  <a:srgbClr val="D97706"/>
                </a:solidFill>
                <a:latin typeface="Segoe UI Semibold"/>
              </a:rPr>
              <a:t>6 - Keep a human in the loop  </a:t>
            </a:r>
            <a:r>
              <a:rPr sz="1010" b="0" i="0">
                <a:solidFill>
                  <a:srgbClr val="1C2330"/>
                </a:solidFill>
                <a:latin typeface="Segoe UI"/>
              </a:rPr>
              <a:t>for any consequential decision. None of the above eliminates hallucination - they reduce and expose it.</a:t>
            </a:r>
          </a:p>
        </p:txBody>
      </p:sp>
      <p:sp>
        <p:nvSpPr>
          <p:cNvPr id="12" name="Rectangle 11"/>
          <p:cNvSpPr/>
          <p:nvPr/>
        </p:nvSpPr>
        <p:spPr>
          <a:xfrm>
            <a:off x="502920" y="1792224"/>
            <a:ext cx="11186129" cy="42062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704088" y="1883664"/>
            <a:ext cx="10728929" cy="274320"/>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FFFFFF"/>
                </a:solidFill>
                <a:latin typeface="Segoe UI Semibold"/>
              </a:rPr>
              <a:t>EXAM TIP   ·   </a:t>
            </a:r>
            <a:r>
              <a:rPr sz="1400" b="1" i="0">
                <a:solidFill>
                  <a:srgbClr val="FFFFFF"/>
                </a:solidFill>
                <a:latin typeface="Segoe UI Semibold"/>
              </a:rPr>
              <a:t>In rough order of effectiveness</a:t>
            </a:r>
          </a:p>
        </p:txBody>
      </p:sp>
      <p:sp>
        <p:nvSpPr>
          <p:cNvPr id="14" name="Rounded Rectangle 13"/>
          <p:cNvSpPr/>
          <p:nvPr/>
        </p:nvSpPr>
        <p:spPr>
          <a:xfrm>
            <a:off x="502920" y="4805354"/>
            <a:ext cx="11186129" cy="1522293"/>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19456" tIns="164592" rIns="201168" bIns="0" rtlCol="0" anchor="t"/>
          <a:lstStyle/>
          <a:p>
            <a:pPr algn="l">
              <a:lnSpc>
                <a:spcPct val="115000"/>
              </a:lnSpc>
              <a:spcBef>
                <a:spcPts val="0"/>
              </a:spcBef>
              <a:spcAft>
                <a:spcPts val="700"/>
              </a:spcAft>
            </a:pPr>
            <a:r>
              <a:rPr sz="1250" b="1" i="0">
                <a:solidFill>
                  <a:srgbClr val="182B49"/>
                </a:solidFill>
                <a:latin typeface="Segoe UI Semibold"/>
              </a:rPr>
              <a:t>What does NOT reliably work</a:t>
            </a:r>
          </a:p>
          <a:p>
            <a:pPr marL="237744" indent="-237744" algn="l">
              <a:lnSpc>
                <a:spcPct val="116000"/>
              </a:lnSpc>
              <a:spcBef>
                <a:spcPts val="500"/>
              </a:spcBef>
              <a:spcAft>
                <a:spcPts val="0"/>
              </a:spcAft>
              <a:buClr>
                <a:srgbClr val="0096C7"/>
              </a:buClr>
              <a:buSzPct val="86000"/>
              <a:buFont typeface="Arial"/>
              <a:buChar char="▪"/>
            </a:pPr>
            <a:r>
              <a:rPr sz="1300" b="0" i="0">
                <a:solidFill>
                  <a:srgbClr val="1C2330"/>
                </a:solidFill>
                <a:latin typeface="Segoe UI"/>
              </a:rPr>
              <a:t>Asking the model 'are you sure?' - it will often agree either way</a:t>
            </a:r>
          </a:p>
          <a:p>
            <a:pPr marL="237744" indent="-237744" algn="l">
              <a:lnSpc>
                <a:spcPct val="116000"/>
              </a:lnSpc>
              <a:spcBef>
                <a:spcPts val="500"/>
              </a:spcBef>
              <a:spcAft>
                <a:spcPts val="0"/>
              </a:spcAft>
              <a:buClr>
                <a:srgbClr val="0096C7"/>
              </a:buClr>
              <a:buSzPct val="86000"/>
              <a:buFont typeface="Arial"/>
              <a:buChar char="▪"/>
            </a:pPr>
            <a:r>
              <a:rPr sz="1300" b="0" i="0">
                <a:solidFill>
                  <a:srgbClr val="1C2330"/>
                </a:solidFill>
                <a:latin typeface="Segoe UI"/>
              </a:rPr>
              <a:t>Assuming a larger model has removed the problem</a:t>
            </a:r>
          </a:p>
          <a:p>
            <a:pPr marL="237744" indent="-237744" algn="l">
              <a:lnSpc>
                <a:spcPct val="116000"/>
              </a:lnSpc>
              <a:spcBef>
                <a:spcPts val="500"/>
              </a:spcBef>
              <a:spcAft>
                <a:spcPts val="0"/>
              </a:spcAft>
              <a:buClr>
                <a:srgbClr val="0096C7"/>
              </a:buClr>
              <a:buSzPct val="86000"/>
              <a:buFont typeface="Arial"/>
              <a:buChar char="▪"/>
            </a:pPr>
            <a:r>
              <a:rPr sz="1300" b="0" i="0">
                <a:solidFill>
                  <a:srgbClr val="1C2330"/>
                </a:solidFill>
                <a:latin typeface="Segoe UI"/>
              </a:rPr>
              <a:t>Trusting confidence in the wording as a signal of correctness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CHECK YOUR UNDERSTANDING</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Quick Check - Generative AI</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5</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CSE276  ·  Unit 5: Generative AI and Responsible Artificial Intelligence</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14</a:t>
            </a:r>
          </a:p>
        </p:txBody>
      </p:sp>
      <p:sp>
        <p:nvSpPr>
          <p:cNvPr id="11" name="Rounded Rectangle 10"/>
          <p:cNvSpPr/>
          <p:nvPr/>
        </p:nvSpPr>
        <p:spPr>
          <a:xfrm>
            <a:off x="502920" y="1792224"/>
            <a:ext cx="11186129" cy="932688"/>
          </a:xfrm>
          <a:prstGeom prst="roundRect">
            <a:avLst>
              <a:gd name="adj" fmla="val 5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256032" tIns="0" rIns="219456" bIns="0" rtlCol="0" anchor="ctr"/>
          <a:lstStyle/>
          <a:p>
            <a:pPr algn="l">
              <a:lnSpc>
                <a:spcPct val="115000"/>
              </a:lnSpc>
              <a:spcBef>
                <a:spcPts val="0"/>
              </a:spcBef>
              <a:spcAft>
                <a:spcPts val="490"/>
              </a:spcAft>
            </a:pPr>
            <a:r>
              <a:rPr sz="1019" b="1" i="0">
                <a:solidFill>
                  <a:srgbClr val="F5A623"/>
                </a:solidFill>
                <a:latin typeface="Segoe UI Semibold"/>
              </a:rPr>
              <a:t>QUICK CHECK</a:t>
            </a:r>
          </a:p>
          <a:p>
            <a:pPr algn="l">
              <a:lnSpc>
                <a:spcPct val="115000"/>
              </a:lnSpc>
              <a:spcBef>
                <a:spcPts val="0"/>
              </a:spcBef>
              <a:spcAft>
                <a:spcPts val="0"/>
              </a:spcAft>
            </a:pPr>
            <a:r>
              <a:rPr sz="1560" b="1" i="0">
                <a:solidFill>
                  <a:srgbClr val="FFFFFF"/>
                </a:solidFill>
                <a:latin typeface="Segoe UI Semibold"/>
              </a:rPr>
              <a:t>A RAG system returns an answer that is fluent and confident, but the retrieved context did not contain the relevant fact. What went wrong, and where?</a:t>
            </a:r>
          </a:p>
        </p:txBody>
      </p:sp>
      <p:sp>
        <p:nvSpPr>
          <p:cNvPr id="12" name="Rectangle 11"/>
          <p:cNvSpPr/>
          <p:nvPr/>
        </p:nvSpPr>
        <p:spPr>
          <a:xfrm>
            <a:off x="502920" y="1792224"/>
            <a:ext cx="77724" cy="93268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502920" y="3259835"/>
            <a:ext cx="5529056" cy="713232"/>
          </a:xfrm>
          <a:prstGeom prst="roundRect">
            <a:avLst>
              <a:gd name="adj" fmla="val 9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Oval 13"/>
          <p:cNvSpPr/>
          <p:nvPr/>
        </p:nvSpPr>
        <p:spPr>
          <a:xfrm>
            <a:off x="676656" y="3461003"/>
            <a:ext cx="310896" cy="310896"/>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50" b="1" i="0">
                <a:solidFill>
                  <a:srgbClr val="FFFFFF"/>
                </a:solidFill>
                <a:latin typeface="Segoe UI Semibold"/>
              </a:rPr>
              <a:t>A</a:t>
            </a:r>
          </a:p>
        </p:txBody>
      </p:sp>
      <p:sp>
        <p:nvSpPr>
          <p:cNvPr id="15" name="TextBox 14"/>
          <p:cNvSpPr txBox="1"/>
          <p:nvPr/>
        </p:nvSpPr>
        <p:spPr>
          <a:xfrm>
            <a:off x="1106424" y="3351275"/>
            <a:ext cx="4760960" cy="530352"/>
          </a:xfrm>
          <a:prstGeom prst="rect">
            <a:avLst/>
          </a:prstGeom>
          <a:noFill/>
        </p:spPr>
        <p:txBody>
          <a:bodyPr wrap="square" lIns="0" tIns="0" rIns="0" bIns="0" anchor="ctr">
            <a:spAutoFit/>
          </a:bodyPr>
          <a:lstStyle/>
          <a:p>
            <a:pPr algn="l">
              <a:lnSpc>
                <a:spcPct val="114000"/>
              </a:lnSpc>
              <a:spcBef>
                <a:spcPts val="0"/>
              </a:spcBef>
              <a:spcAft>
                <a:spcPts val="0"/>
              </a:spcAft>
            </a:pPr>
            <a:r>
              <a:rPr sz="1350" b="0" i="0">
                <a:solidFill>
                  <a:srgbClr val="1C2330"/>
                </a:solidFill>
                <a:latin typeface="Segoe UI"/>
              </a:rPr>
              <a:t>The language model failed - it should be retrained</a:t>
            </a:r>
          </a:p>
        </p:txBody>
      </p:sp>
      <p:sp>
        <p:nvSpPr>
          <p:cNvPr id="16" name="Rounded Rectangle 15"/>
          <p:cNvSpPr/>
          <p:nvPr/>
        </p:nvSpPr>
        <p:spPr>
          <a:xfrm>
            <a:off x="6159992" y="3259835"/>
            <a:ext cx="5529056" cy="713232"/>
          </a:xfrm>
          <a:prstGeom prst="roundRect">
            <a:avLst>
              <a:gd name="adj" fmla="val 9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Oval 16"/>
          <p:cNvSpPr/>
          <p:nvPr/>
        </p:nvSpPr>
        <p:spPr>
          <a:xfrm>
            <a:off x="6333728" y="3461003"/>
            <a:ext cx="310896" cy="310896"/>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50" b="1" i="0">
                <a:solidFill>
                  <a:srgbClr val="FFFFFF"/>
                </a:solidFill>
                <a:latin typeface="Segoe UI Semibold"/>
              </a:rPr>
              <a:t>B</a:t>
            </a:r>
          </a:p>
        </p:txBody>
      </p:sp>
      <p:sp>
        <p:nvSpPr>
          <p:cNvPr id="18" name="TextBox 17"/>
          <p:cNvSpPr txBox="1"/>
          <p:nvPr/>
        </p:nvSpPr>
        <p:spPr>
          <a:xfrm>
            <a:off x="6763496" y="3351275"/>
            <a:ext cx="4760960" cy="530352"/>
          </a:xfrm>
          <a:prstGeom prst="rect">
            <a:avLst/>
          </a:prstGeom>
          <a:noFill/>
        </p:spPr>
        <p:txBody>
          <a:bodyPr wrap="square" lIns="0" tIns="0" rIns="0" bIns="0" anchor="ctr">
            <a:spAutoFit/>
          </a:bodyPr>
          <a:lstStyle/>
          <a:p>
            <a:pPr algn="l">
              <a:lnSpc>
                <a:spcPct val="114000"/>
              </a:lnSpc>
              <a:spcBef>
                <a:spcPts val="0"/>
              </a:spcBef>
              <a:spcAft>
                <a:spcPts val="0"/>
              </a:spcAft>
            </a:pPr>
            <a:r>
              <a:rPr sz="1350" b="0" i="0">
                <a:solidFill>
                  <a:srgbClr val="1C2330"/>
                </a:solidFill>
                <a:latin typeface="Segoe UI"/>
              </a:rPr>
              <a:t>Retrieval failed, and the prompt did not require refusal</a:t>
            </a:r>
          </a:p>
        </p:txBody>
      </p:sp>
      <p:sp>
        <p:nvSpPr>
          <p:cNvPr id="19" name="Rounded Rectangle 18"/>
          <p:cNvSpPr/>
          <p:nvPr/>
        </p:nvSpPr>
        <p:spPr>
          <a:xfrm>
            <a:off x="502920" y="4101083"/>
            <a:ext cx="5529056" cy="713232"/>
          </a:xfrm>
          <a:prstGeom prst="roundRect">
            <a:avLst>
              <a:gd name="adj" fmla="val 9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Oval 19"/>
          <p:cNvSpPr/>
          <p:nvPr/>
        </p:nvSpPr>
        <p:spPr>
          <a:xfrm>
            <a:off x="676656" y="4302251"/>
            <a:ext cx="310896" cy="310896"/>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50" b="1" i="0">
                <a:solidFill>
                  <a:srgbClr val="FFFFFF"/>
                </a:solidFill>
                <a:latin typeface="Segoe UI Semibold"/>
              </a:rPr>
              <a:t>C</a:t>
            </a:r>
          </a:p>
        </p:txBody>
      </p:sp>
      <p:sp>
        <p:nvSpPr>
          <p:cNvPr id="21" name="TextBox 20"/>
          <p:cNvSpPr txBox="1"/>
          <p:nvPr/>
        </p:nvSpPr>
        <p:spPr>
          <a:xfrm>
            <a:off x="1106424" y="4192523"/>
            <a:ext cx="4760960" cy="530352"/>
          </a:xfrm>
          <a:prstGeom prst="rect">
            <a:avLst/>
          </a:prstGeom>
          <a:noFill/>
        </p:spPr>
        <p:txBody>
          <a:bodyPr wrap="square" lIns="0" tIns="0" rIns="0" bIns="0" anchor="ctr">
            <a:spAutoFit/>
          </a:bodyPr>
          <a:lstStyle/>
          <a:p>
            <a:pPr algn="l">
              <a:lnSpc>
                <a:spcPct val="114000"/>
              </a:lnSpc>
              <a:spcBef>
                <a:spcPts val="0"/>
              </a:spcBef>
              <a:spcAft>
                <a:spcPts val="0"/>
              </a:spcAft>
            </a:pPr>
            <a:r>
              <a:rPr sz="1350" b="0" i="0">
                <a:solidFill>
                  <a:srgbClr val="1C2330"/>
                </a:solidFill>
                <a:latin typeface="Segoe UI"/>
              </a:rPr>
              <a:t>The user's question was badly worded</a:t>
            </a:r>
          </a:p>
        </p:txBody>
      </p:sp>
      <p:sp>
        <p:nvSpPr>
          <p:cNvPr id="22" name="Rounded Rectangle 21"/>
          <p:cNvSpPr/>
          <p:nvPr/>
        </p:nvSpPr>
        <p:spPr>
          <a:xfrm>
            <a:off x="6159992" y="4101083"/>
            <a:ext cx="5529056" cy="713232"/>
          </a:xfrm>
          <a:prstGeom prst="roundRect">
            <a:avLst>
              <a:gd name="adj" fmla="val 90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Oval 22"/>
          <p:cNvSpPr/>
          <p:nvPr/>
        </p:nvSpPr>
        <p:spPr>
          <a:xfrm>
            <a:off x="6333728" y="4302251"/>
            <a:ext cx="310896" cy="310896"/>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50" b="1" i="0">
                <a:solidFill>
                  <a:srgbClr val="FFFFFF"/>
                </a:solidFill>
                <a:latin typeface="Segoe UI Semibold"/>
              </a:rPr>
              <a:t>D</a:t>
            </a:r>
          </a:p>
        </p:txBody>
      </p:sp>
      <p:sp>
        <p:nvSpPr>
          <p:cNvPr id="24" name="TextBox 23"/>
          <p:cNvSpPr txBox="1"/>
          <p:nvPr/>
        </p:nvSpPr>
        <p:spPr>
          <a:xfrm>
            <a:off x="6763496" y="4192523"/>
            <a:ext cx="4760960" cy="530352"/>
          </a:xfrm>
          <a:prstGeom prst="rect">
            <a:avLst/>
          </a:prstGeom>
          <a:noFill/>
        </p:spPr>
        <p:txBody>
          <a:bodyPr wrap="square" lIns="0" tIns="0" rIns="0" bIns="0" anchor="ctr">
            <a:spAutoFit/>
          </a:bodyPr>
          <a:lstStyle/>
          <a:p>
            <a:pPr algn="l">
              <a:lnSpc>
                <a:spcPct val="114000"/>
              </a:lnSpc>
              <a:spcBef>
                <a:spcPts val="0"/>
              </a:spcBef>
              <a:spcAft>
                <a:spcPts val="0"/>
              </a:spcAft>
            </a:pPr>
            <a:r>
              <a:rPr sz="1350" b="0" i="0">
                <a:solidFill>
                  <a:srgbClr val="1C2330"/>
                </a:solidFill>
                <a:latin typeface="Segoe UI"/>
              </a:rPr>
              <a:t>RAG cannot handle factual questions</a:t>
            </a:r>
          </a:p>
        </p:txBody>
      </p:sp>
      <p:sp>
        <p:nvSpPr>
          <p:cNvPr id="25" name="TextBox 24"/>
          <p:cNvSpPr txBox="1"/>
          <p:nvPr/>
        </p:nvSpPr>
        <p:spPr>
          <a:xfrm>
            <a:off x="502920" y="5326379"/>
            <a:ext cx="11186129" cy="310896"/>
          </a:xfrm>
          <a:prstGeom prst="rect">
            <a:avLst/>
          </a:prstGeom>
          <a:noFill/>
        </p:spPr>
        <p:txBody>
          <a:bodyPr wrap="square" lIns="0" tIns="0" rIns="0" bIns="0" anchor="t">
            <a:spAutoFit/>
          </a:bodyPr>
          <a:lstStyle/>
          <a:p>
            <a:pPr algn="ctr">
              <a:lnSpc>
                <a:spcPct val="115000"/>
              </a:lnSpc>
              <a:spcBef>
                <a:spcPts val="0"/>
              </a:spcBef>
              <a:spcAft>
                <a:spcPts val="0"/>
              </a:spcAft>
            </a:pPr>
            <a:r>
              <a:rPr sz="1150" b="0" i="1">
                <a:solidFill>
                  <a:srgbClr val="586476"/>
                </a:solidFill>
                <a:latin typeface="Segoe UI"/>
              </a:rPr>
              <a:t>◆  click to reveal the answer</a:t>
            </a:r>
          </a:p>
        </p:txBody>
      </p:sp>
      <p:sp>
        <p:nvSpPr>
          <p:cNvPr id="26" name="Rounded Rectangle 25"/>
          <p:cNvSpPr/>
          <p:nvPr/>
        </p:nvSpPr>
        <p:spPr>
          <a:xfrm>
            <a:off x="502920" y="5052059"/>
            <a:ext cx="11186129" cy="960120"/>
          </a:xfrm>
          <a:prstGeom prst="roundRect">
            <a:avLst>
              <a:gd name="adj" fmla="val 6000"/>
            </a:avLst>
          </a:prstGeom>
          <a:solidFill>
            <a:srgbClr val="E4F6EB"/>
          </a:solidFill>
          <a:ln w="15875">
            <a:solidFill>
              <a:srgbClr val="107C41"/>
            </a:solidFill>
          </a:ln>
          <a:effectLst/>
        </p:spPr>
        <p:style>
          <a:lnRef idx="1">
            <a:schemeClr val="accent1"/>
          </a:lnRef>
          <a:fillRef idx="3">
            <a:schemeClr val="accent1"/>
          </a:fillRef>
          <a:effectRef idx="2">
            <a:schemeClr val="accent1"/>
          </a:effectRef>
          <a:fontRef idx="minor">
            <a:schemeClr val="lt1"/>
          </a:fontRef>
        </p:style>
        <p:txBody>
          <a:bodyPr wrap="square" lIns="256032" tIns="0" rIns="219456" bIns="0" rtlCol="0" anchor="ctr"/>
          <a:lstStyle/>
          <a:p>
            <a:pPr algn="l">
              <a:lnSpc>
                <a:spcPct val="118000"/>
              </a:lnSpc>
              <a:spcBef>
                <a:spcPts val="0"/>
              </a:spcBef>
              <a:spcAft>
                <a:spcPts val="0"/>
              </a:spcAft>
            </a:pPr>
            <a:r>
              <a:rPr sz="1300" b="1" i="0">
                <a:solidFill>
                  <a:srgbClr val="107C41"/>
                </a:solidFill>
                <a:latin typeface="Segoe UI Semibold"/>
              </a:rPr>
              <a:t>ANSWER: B   </a:t>
            </a:r>
            <a:r>
              <a:rPr sz="1350" b="0" i="0">
                <a:solidFill>
                  <a:srgbClr val="1C2330"/>
                </a:solidFill>
                <a:latin typeface="Segoe UI"/>
              </a:rPr>
              <a:t>There are two separate failures. Retrieval did not find the right passage, and the prompt did not instruct the model to say it could not answer from the given context. Fixing RAG usually means fixing retrieval, not the model - and every RAG prompt should permit refusal.</a:t>
            </a:r>
          </a:p>
        </p:txBody>
      </p:sp>
      <p:sp>
        <p:nvSpPr>
          <p:cNvPr id="27" name="Rectangle 26"/>
          <p:cNvSpPr/>
          <p:nvPr/>
        </p:nvSpPr>
        <p:spPr>
          <a:xfrm>
            <a:off x="502920" y="5052059"/>
            <a:ext cx="77724" cy="96012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31520"/>
            <a:ext cx="12191969" cy="6046927"/>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731520"/>
            <a:ext cx="12191969" cy="82296"/>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6696151"/>
            <a:ext cx="12191969" cy="82296"/>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914400" y="1810512"/>
            <a:ext cx="3108960" cy="2011680"/>
          </a:xfrm>
          <a:prstGeom prst="rect">
            <a:avLst/>
          </a:prstGeom>
          <a:noFill/>
        </p:spPr>
        <p:txBody>
          <a:bodyPr wrap="square" lIns="0" tIns="0" rIns="0" bIns="0" anchor="t">
            <a:spAutoFit/>
          </a:bodyPr>
          <a:lstStyle/>
          <a:p>
            <a:pPr algn="l">
              <a:lnSpc>
                <a:spcPct val="92000"/>
              </a:lnSpc>
              <a:spcBef>
                <a:spcPts val="0"/>
              </a:spcBef>
              <a:spcAft>
                <a:spcPts val="0"/>
              </a:spcAft>
            </a:pPr>
            <a:r>
              <a:rPr sz="10800" b="1" i="0">
                <a:solidFill>
                  <a:srgbClr val="2B4770"/>
                </a:solidFill>
                <a:latin typeface="Segoe UI Semibold"/>
              </a:rPr>
              <a:t>04</a:t>
            </a:r>
          </a:p>
        </p:txBody>
      </p:sp>
      <p:sp>
        <p:nvSpPr>
          <p:cNvPr id="6" name="TextBox 5"/>
          <p:cNvSpPr txBox="1"/>
          <p:nvPr/>
        </p:nvSpPr>
        <p:spPr>
          <a:xfrm>
            <a:off x="960120" y="3529584"/>
            <a:ext cx="4663440" cy="310896"/>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F47D35"/>
                </a:solidFill>
                <a:latin typeface="Segoe UI Semibold"/>
              </a:rPr>
              <a:t>SECTION</a:t>
            </a:r>
          </a:p>
        </p:txBody>
      </p:sp>
      <p:sp>
        <p:nvSpPr>
          <p:cNvPr id="7" name="TextBox 6"/>
          <p:cNvSpPr txBox="1"/>
          <p:nvPr/>
        </p:nvSpPr>
        <p:spPr>
          <a:xfrm>
            <a:off x="960120" y="3822191"/>
            <a:ext cx="4846320" cy="1737360"/>
          </a:xfrm>
          <a:prstGeom prst="rect">
            <a:avLst/>
          </a:prstGeom>
          <a:noFill/>
        </p:spPr>
        <p:txBody>
          <a:bodyPr wrap="square" lIns="0" tIns="0" rIns="0" bIns="0" anchor="t">
            <a:spAutoFit/>
          </a:bodyPr>
          <a:lstStyle/>
          <a:p>
            <a:pPr algn="l">
              <a:lnSpc>
                <a:spcPct val="106000"/>
              </a:lnSpc>
              <a:spcBef>
                <a:spcPts val="0"/>
              </a:spcBef>
              <a:spcAft>
                <a:spcPts val="0"/>
              </a:spcAft>
            </a:pPr>
            <a:r>
              <a:rPr sz="3000" b="1" i="0">
                <a:solidFill>
                  <a:srgbClr val="FFFFFF"/>
                </a:solidFill>
                <a:latin typeface="Segoe UI Semibold"/>
              </a:rPr>
              <a:t>Explainable AI</a:t>
            </a:r>
          </a:p>
        </p:txBody>
      </p:sp>
      <p:sp>
        <p:nvSpPr>
          <p:cNvPr id="8" name="Rounded Rectangle 7"/>
          <p:cNvSpPr/>
          <p:nvPr/>
        </p:nvSpPr>
        <p:spPr>
          <a:xfrm>
            <a:off x="6263640" y="1810512"/>
            <a:ext cx="4983480" cy="4069080"/>
          </a:xfrm>
          <a:prstGeom prst="roundRect">
            <a:avLst>
              <a:gd name="adj" fmla="val 4500"/>
            </a:avLst>
          </a:prstGeom>
          <a:solidFill>
            <a:srgbClr val="1F3558"/>
          </a:solidFill>
          <a:ln w="1270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t"/>
          <a:lstStyle/>
          <a:p>
            <a:pPr algn="l">
              <a:lnSpc>
                <a:spcPct val="115000"/>
              </a:lnSpc>
              <a:spcBef>
                <a:spcPts val="0"/>
              </a:spcBef>
              <a:spcAft>
                <a:spcPts val="1200"/>
              </a:spcAft>
            </a:pPr>
            <a:r>
              <a:rPr sz="1150" b="1" i="0">
                <a:solidFill>
                  <a:srgbClr val="5C2D91"/>
                </a:solidFill>
                <a:latin typeface="Segoe UI Semibold"/>
              </a:rPr>
              <a:t>IN THIS SECTION</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Why explainability is a requirement, not a nicety</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Global versus local explanations</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LIME and SHAP</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Interpretable by design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5.4 EXPLAINABLE AI</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Global vs Local Explanations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5</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CSE276  ·  Unit 5: Generative AI and Responsible Artificial Intelligence</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16</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A regulator does not ask what your model uses in general. They ask why this person was refused.</a:t>
            </a:r>
          </a:p>
        </p:txBody>
      </p:sp>
      <p:sp>
        <p:nvSpPr>
          <p:cNvPr id="12" name="Rounded Rectangle 11"/>
          <p:cNvSpPr/>
          <p:nvPr/>
        </p:nvSpPr>
        <p:spPr>
          <a:xfrm>
            <a:off x="502920" y="2267712"/>
            <a:ext cx="5455904" cy="4059935"/>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530352" rIns="164592" bIns="0" rtlCol="0" anchor="t"/>
          <a:lstStyle/>
          <a:p>
            <a:pPr algn="l">
              <a:lnSpc>
                <a:spcPct val="116000"/>
              </a:lnSpc>
              <a:spcBef>
                <a:spcPts val="0"/>
              </a:spcBef>
              <a:spcAft>
                <a:spcPts val="0"/>
              </a:spcAft>
            </a:pPr>
            <a:r>
              <a:rPr sz="1350" b="1" i="0">
                <a:solidFill>
                  <a:srgbClr val="0096C7"/>
                </a:solidFill>
                <a:latin typeface="Segoe UI Semibold"/>
              </a:rPr>
              <a:t>The question  </a:t>
            </a:r>
            <a:r>
              <a:rPr sz="1350" b="0" i="0">
                <a:solidFill>
                  <a:srgbClr val="1C2330"/>
                </a:solidFill>
                <a:latin typeface="Segoe UI"/>
              </a:rPr>
              <a:t>how does this model behave in general?</a:t>
            </a:r>
          </a:p>
          <a:p>
            <a:pPr algn="l">
              <a:lnSpc>
                <a:spcPct val="116000"/>
              </a:lnSpc>
              <a:spcBef>
                <a:spcPts val="900"/>
              </a:spcBef>
              <a:spcAft>
                <a:spcPts val="0"/>
              </a:spcAft>
            </a:pPr>
            <a:r>
              <a:rPr sz="1350" b="1" i="0">
                <a:solidFill>
                  <a:srgbClr val="0096C7"/>
                </a:solidFill>
                <a:latin typeface="Segoe UI Semibold"/>
              </a:rPr>
              <a:t>Typical output  </a:t>
            </a:r>
            <a:r>
              <a:rPr sz="1350" b="0" i="0">
                <a:solidFill>
                  <a:srgbClr val="1C2330"/>
                </a:solidFill>
                <a:latin typeface="Segoe UI"/>
              </a:rPr>
              <a:t>feature importances, partial dependence plots, the overall decision logic.</a:t>
            </a:r>
          </a:p>
          <a:p>
            <a:pPr algn="l">
              <a:lnSpc>
                <a:spcPct val="116000"/>
              </a:lnSpc>
              <a:spcBef>
                <a:spcPts val="900"/>
              </a:spcBef>
              <a:spcAft>
                <a:spcPts val="0"/>
              </a:spcAft>
            </a:pPr>
            <a:r>
              <a:rPr sz="1350" b="1" i="0">
                <a:solidFill>
                  <a:srgbClr val="0096C7"/>
                </a:solidFill>
                <a:latin typeface="Segoe UI Semibold"/>
              </a:rPr>
              <a:t>Used by  </a:t>
            </a:r>
            <a:r>
              <a:rPr sz="1350" b="0" i="0">
                <a:solidFill>
                  <a:srgbClr val="1C2330"/>
                </a:solidFill>
                <a:latin typeface="Segoe UI"/>
              </a:rPr>
              <a:t>the team building and validating the model.</a:t>
            </a:r>
          </a:p>
          <a:p>
            <a:pPr algn="l">
              <a:lnSpc>
                <a:spcPct val="116000"/>
              </a:lnSpc>
              <a:spcBef>
                <a:spcPts val="900"/>
              </a:spcBef>
              <a:spcAft>
                <a:spcPts val="0"/>
              </a:spcAft>
            </a:pPr>
            <a:r>
              <a:rPr sz="1350" b="1" i="0">
                <a:solidFill>
                  <a:srgbClr val="0096C7"/>
                </a:solidFill>
                <a:latin typeface="Segoe UI Semibold"/>
              </a:rPr>
              <a:t>Answers  </a:t>
            </a:r>
            <a:r>
              <a:rPr sz="1350" b="0" i="0">
                <a:solidFill>
                  <a:srgbClr val="1C2330"/>
                </a:solidFill>
                <a:latin typeface="Segoe UI"/>
              </a:rPr>
              <a:t>which features does it rely on? Is it using something it should not?</a:t>
            </a:r>
          </a:p>
          <a:p>
            <a:pPr algn="l">
              <a:lnSpc>
                <a:spcPct val="116000"/>
              </a:lnSpc>
              <a:spcBef>
                <a:spcPts val="900"/>
              </a:spcBef>
              <a:spcAft>
                <a:spcPts val="0"/>
              </a:spcAft>
            </a:pPr>
            <a:r>
              <a:rPr sz="1350" b="1" i="0">
                <a:solidFill>
                  <a:srgbClr val="0096C7"/>
                </a:solidFill>
                <a:latin typeface="Segoe UI Semibold"/>
              </a:rPr>
              <a:t>Limitation  </a:t>
            </a:r>
            <a:r>
              <a:rPr sz="1350" b="0" i="0">
                <a:solidFill>
                  <a:srgbClr val="1C2330"/>
                </a:solidFill>
                <a:latin typeface="Segoe UI"/>
              </a:rPr>
              <a:t>it says nothing about any particular decision.</a:t>
            </a:r>
          </a:p>
        </p:txBody>
      </p:sp>
      <p:sp>
        <p:nvSpPr>
          <p:cNvPr id="13" name="Rectangle 12"/>
          <p:cNvSpPr/>
          <p:nvPr/>
        </p:nvSpPr>
        <p:spPr>
          <a:xfrm>
            <a:off x="502920" y="2267712"/>
            <a:ext cx="5455904" cy="3840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85800" y="2336292"/>
            <a:ext cx="5090144" cy="274320"/>
          </a:xfrm>
          <a:prstGeom prst="rect">
            <a:avLst/>
          </a:prstGeom>
          <a:noFill/>
        </p:spPr>
        <p:txBody>
          <a:bodyPr wrap="square" lIns="0" tIns="0" rIns="0" bIns="0" anchor="t">
            <a:spAutoFit/>
          </a:bodyPr>
          <a:lstStyle/>
          <a:p>
            <a:pPr algn="l">
              <a:lnSpc>
                <a:spcPct val="115000"/>
              </a:lnSpc>
              <a:spcBef>
                <a:spcPts val="0"/>
              </a:spcBef>
              <a:spcAft>
                <a:spcPts val="0"/>
              </a:spcAft>
            </a:pPr>
            <a:r>
              <a:rPr sz="1400" b="1" i="0">
                <a:solidFill>
                  <a:srgbClr val="FFFFFF"/>
                </a:solidFill>
                <a:latin typeface="Segoe UI Semibold"/>
              </a:rPr>
              <a:t>Global explanation</a:t>
            </a:r>
          </a:p>
        </p:txBody>
      </p:sp>
      <p:sp>
        <p:nvSpPr>
          <p:cNvPr id="15" name="Rounded Rectangle 14"/>
          <p:cNvSpPr/>
          <p:nvPr/>
        </p:nvSpPr>
        <p:spPr>
          <a:xfrm>
            <a:off x="6233144" y="2267712"/>
            <a:ext cx="5455904" cy="4059935"/>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530352" rIns="164592" bIns="0" rtlCol="0" anchor="t"/>
          <a:lstStyle/>
          <a:p>
            <a:pPr algn="l">
              <a:lnSpc>
                <a:spcPct val="116000"/>
              </a:lnSpc>
              <a:spcBef>
                <a:spcPts val="0"/>
              </a:spcBef>
              <a:spcAft>
                <a:spcPts val="0"/>
              </a:spcAft>
            </a:pPr>
            <a:r>
              <a:rPr sz="1350" b="1" i="0">
                <a:solidFill>
                  <a:srgbClr val="107C41"/>
                </a:solidFill>
                <a:latin typeface="Segoe UI Semibold"/>
              </a:rPr>
              <a:t>The question  </a:t>
            </a:r>
            <a:r>
              <a:rPr sz="1350" b="0" i="0">
                <a:solidFill>
                  <a:srgbClr val="1C2330"/>
                </a:solidFill>
                <a:latin typeface="Segoe UI"/>
              </a:rPr>
              <a:t>why did the model decide THIS case this way?</a:t>
            </a:r>
          </a:p>
          <a:p>
            <a:pPr algn="l">
              <a:lnSpc>
                <a:spcPct val="116000"/>
              </a:lnSpc>
              <a:spcBef>
                <a:spcPts val="900"/>
              </a:spcBef>
              <a:spcAft>
                <a:spcPts val="0"/>
              </a:spcAft>
            </a:pPr>
            <a:r>
              <a:rPr sz="1350" b="1" i="0">
                <a:solidFill>
                  <a:srgbClr val="107C41"/>
                </a:solidFill>
                <a:latin typeface="Segoe UI Semibold"/>
              </a:rPr>
              <a:t>Typical output  </a:t>
            </a:r>
            <a:r>
              <a:rPr sz="1350" b="0" i="0">
                <a:solidFill>
                  <a:srgbClr val="1C2330"/>
                </a:solidFill>
                <a:latin typeface="Segoe UI"/>
              </a:rPr>
              <a:t>the contribution of each feature to one specific prediction.</a:t>
            </a:r>
          </a:p>
          <a:p>
            <a:pPr algn="l">
              <a:lnSpc>
                <a:spcPct val="116000"/>
              </a:lnSpc>
              <a:spcBef>
                <a:spcPts val="900"/>
              </a:spcBef>
              <a:spcAft>
                <a:spcPts val="0"/>
              </a:spcAft>
            </a:pPr>
            <a:r>
              <a:rPr sz="1350" b="1" i="0">
                <a:solidFill>
                  <a:srgbClr val="107C41"/>
                </a:solidFill>
                <a:latin typeface="Segoe UI Semibold"/>
              </a:rPr>
              <a:t>Used by  </a:t>
            </a:r>
            <a:r>
              <a:rPr sz="1350" b="0" i="0">
                <a:solidFill>
                  <a:srgbClr val="1C2330"/>
                </a:solidFill>
                <a:latin typeface="Segoe UI"/>
              </a:rPr>
              <a:t>the affected person, a regulator, an auditor.</a:t>
            </a:r>
          </a:p>
          <a:p>
            <a:pPr algn="l">
              <a:lnSpc>
                <a:spcPct val="116000"/>
              </a:lnSpc>
              <a:spcBef>
                <a:spcPts val="900"/>
              </a:spcBef>
              <a:spcAft>
                <a:spcPts val="0"/>
              </a:spcAft>
            </a:pPr>
            <a:r>
              <a:rPr sz="1350" b="1" i="0">
                <a:solidFill>
                  <a:srgbClr val="107C41"/>
                </a:solidFill>
                <a:latin typeface="Segoe UI Semibold"/>
              </a:rPr>
              <a:t>Answers  </a:t>
            </a:r>
            <a:r>
              <a:rPr sz="1350" b="0" i="0">
                <a:solidFill>
                  <a:srgbClr val="1C2330"/>
                </a:solidFill>
                <a:latin typeface="Segoe UI"/>
              </a:rPr>
              <a:t>why was MY loan refused?</a:t>
            </a:r>
          </a:p>
          <a:p>
            <a:pPr algn="l">
              <a:lnSpc>
                <a:spcPct val="116000"/>
              </a:lnSpc>
              <a:spcBef>
                <a:spcPts val="900"/>
              </a:spcBef>
              <a:spcAft>
                <a:spcPts val="0"/>
              </a:spcAft>
            </a:pPr>
            <a:r>
              <a:rPr sz="1350" b="1" i="0">
                <a:solidFill>
                  <a:srgbClr val="107C41"/>
                </a:solidFill>
                <a:latin typeface="Segoe UI Semibold"/>
              </a:rPr>
              <a:t>Why it matters legally  </a:t>
            </a:r>
            <a:r>
              <a:rPr sz="1350" b="0" i="0">
                <a:solidFill>
                  <a:srgbClr val="1C2330"/>
                </a:solidFill>
                <a:latin typeface="Segoe UI"/>
              </a:rPr>
              <a:t>in lending and similar domains an adverse decision must be explained to the individual.</a:t>
            </a:r>
          </a:p>
        </p:txBody>
      </p:sp>
      <p:sp>
        <p:nvSpPr>
          <p:cNvPr id="16" name="Rectangle 15"/>
          <p:cNvSpPr/>
          <p:nvPr/>
        </p:nvSpPr>
        <p:spPr>
          <a:xfrm>
            <a:off x="6233144" y="2267712"/>
            <a:ext cx="5455904" cy="384048"/>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416024" y="2336292"/>
            <a:ext cx="5090144" cy="274320"/>
          </a:xfrm>
          <a:prstGeom prst="rect">
            <a:avLst/>
          </a:prstGeom>
          <a:noFill/>
        </p:spPr>
        <p:txBody>
          <a:bodyPr wrap="square" lIns="0" tIns="0" rIns="0" bIns="0" anchor="t">
            <a:spAutoFit/>
          </a:bodyPr>
          <a:lstStyle/>
          <a:p>
            <a:pPr algn="l">
              <a:lnSpc>
                <a:spcPct val="115000"/>
              </a:lnSpc>
              <a:spcBef>
                <a:spcPts val="0"/>
              </a:spcBef>
              <a:spcAft>
                <a:spcPts val="0"/>
              </a:spcAft>
            </a:pPr>
            <a:r>
              <a:rPr sz="1400" b="1" i="0">
                <a:solidFill>
                  <a:srgbClr val="FFFFFF"/>
                </a:solidFill>
                <a:latin typeface="Segoe UI Semibold"/>
              </a:rPr>
              <a:t>Local explanation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5.4 EXPLAINABLE AI</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LIME and SHAP - The Two Standard Techniques</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5</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CSE276  ·  Unit 5: Generative AI and Responsible Artificial Intelligence</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17</a:t>
            </a:r>
          </a:p>
        </p:txBody>
      </p:sp>
      <p:sp>
        <p:nvSpPr>
          <p:cNvPr id="11" name="Rounded Rectangle 10"/>
          <p:cNvSpPr/>
          <p:nvPr/>
        </p:nvSpPr>
        <p:spPr>
          <a:xfrm>
            <a:off x="502920" y="1792224"/>
            <a:ext cx="11186129" cy="2811962"/>
          </a:xfrm>
          <a:prstGeom prst="roundRect">
            <a:avLst>
              <a:gd name="adj" fmla="val 3500"/>
            </a:avLst>
          </a:prstGeom>
          <a:solidFill>
            <a:srgbClr val="EEF2F8"/>
          </a:solidFill>
          <a:ln w="15875">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256032" tIns="603504" rIns="237744" bIns="0" rtlCol="0" anchor="t"/>
          <a:lstStyle/>
          <a:p>
            <a:pPr algn="l">
              <a:lnSpc>
                <a:spcPct val="120000"/>
              </a:lnSpc>
              <a:spcBef>
                <a:spcPts val="0"/>
              </a:spcBef>
              <a:spcAft>
                <a:spcPts val="0"/>
              </a:spcAft>
            </a:pPr>
            <a:r>
              <a:rPr sz="1110" b="1" i="0">
                <a:solidFill>
                  <a:srgbClr val="182B49"/>
                </a:solidFill>
                <a:latin typeface="Segoe UI Semibold"/>
              </a:rPr>
              <a:t>The shared idea  </a:t>
            </a:r>
            <a:r>
              <a:rPr sz="1110" b="0" i="0">
                <a:solidFill>
                  <a:srgbClr val="1C2330"/>
                </a:solidFill>
                <a:latin typeface="Segoe UI"/>
              </a:rPr>
              <a:t>treat the model as a black box, probe it, and build a simple local approximation of its behaviour.</a:t>
            </a:r>
          </a:p>
          <a:p>
            <a:pPr algn="l">
              <a:lnSpc>
                <a:spcPct val="120000"/>
              </a:lnSpc>
              <a:spcBef>
                <a:spcPts val="740"/>
              </a:spcBef>
              <a:spcAft>
                <a:spcPts val="0"/>
              </a:spcAft>
            </a:pPr>
            <a:r>
              <a:rPr sz="1110" b="1" i="0">
                <a:solidFill>
                  <a:srgbClr val="182B49"/>
                </a:solidFill>
                <a:latin typeface="Segoe UI Semibold"/>
              </a:rPr>
              <a:t>LIME  </a:t>
            </a:r>
            <a:r>
              <a:rPr sz="1110" b="0" i="0">
                <a:solidFill>
                  <a:srgbClr val="1C2330"/>
                </a:solidFill>
                <a:latin typeface="Segoe UI"/>
              </a:rPr>
              <a:t>perturb the input many times, observe how the prediction changes, and fit a simple interpretable model to that local behaviour.</a:t>
            </a:r>
          </a:p>
          <a:p>
            <a:pPr algn="l">
              <a:lnSpc>
                <a:spcPct val="120000"/>
              </a:lnSpc>
              <a:spcBef>
                <a:spcPts val="740"/>
              </a:spcBef>
              <a:spcAft>
                <a:spcPts val="0"/>
              </a:spcAft>
            </a:pPr>
            <a:r>
              <a:rPr sz="1110" b="1" i="0">
                <a:solidFill>
                  <a:srgbClr val="182B49"/>
                </a:solidFill>
                <a:latin typeface="Segoe UI Semibold"/>
              </a:rPr>
              <a:t>LIME's strength  </a:t>
            </a:r>
            <a:r>
              <a:rPr sz="1110" b="0" i="0">
                <a:solidFill>
                  <a:srgbClr val="1C2330"/>
                </a:solidFill>
                <a:latin typeface="Segoe UI"/>
              </a:rPr>
              <a:t>fast, intuitive, and works on text, images and tabular data.</a:t>
            </a:r>
          </a:p>
          <a:p>
            <a:pPr algn="l">
              <a:lnSpc>
                <a:spcPct val="120000"/>
              </a:lnSpc>
              <a:spcBef>
                <a:spcPts val="740"/>
              </a:spcBef>
              <a:spcAft>
                <a:spcPts val="0"/>
              </a:spcAft>
            </a:pPr>
            <a:r>
              <a:rPr sz="1110" b="1" i="0">
                <a:solidFill>
                  <a:srgbClr val="182B49"/>
                </a:solidFill>
                <a:latin typeface="Segoe UI Semibold"/>
              </a:rPr>
              <a:t>LIME's weakness  </a:t>
            </a:r>
            <a:r>
              <a:rPr sz="1110" b="0" i="0">
                <a:solidFill>
                  <a:srgbClr val="1C2330"/>
                </a:solidFill>
                <a:latin typeface="Segoe UI"/>
              </a:rPr>
              <a:t>the explanation can change between runs, because the perturbations are random.</a:t>
            </a:r>
          </a:p>
          <a:p>
            <a:pPr algn="l">
              <a:lnSpc>
                <a:spcPct val="120000"/>
              </a:lnSpc>
              <a:spcBef>
                <a:spcPts val="740"/>
              </a:spcBef>
              <a:spcAft>
                <a:spcPts val="0"/>
              </a:spcAft>
            </a:pPr>
            <a:r>
              <a:rPr sz="1110" b="1" i="0">
                <a:solidFill>
                  <a:srgbClr val="182B49"/>
                </a:solidFill>
                <a:latin typeface="Segoe UI Semibold"/>
              </a:rPr>
              <a:t>SHAP  </a:t>
            </a:r>
            <a:r>
              <a:rPr sz="1110" b="0" i="0">
                <a:solidFill>
                  <a:srgbClr val="1C2330"/>
                </a:solidFill>
                <a:latin typeface="Segoe UI"/>
              </a:rPr>
              <a:t>assigns each feature a contribution using a result from cooperative game theory, giving consistent and additive attributions.</a:t>
            </a:r>
          </a:p>
          <a:p>
            <a:pPr algn="l">
              <a:lnSpc>
                <a:spcPct val="120000"/>
              </a:lnSpc>
              <a:spcBef>
                <a:spcPts val="740"/>
              </a:spcBef>
              <a:spcAft>
                <a:spcPts val="0"/>
              </a:spcAft>
            </a:pPr>
            <a:r>
              <a:rPr sz="1110" b="1" i="0">
                <a:solidFill>
                  <a:srgbClr val="182B49"/>
                </a:solidFill>
                <a:latin typeface="Segoe UI Semibold"/>
              </a:rPr>
              <a:t>SHAP's trade  </a:t>
            </a:r>
            <a:r>
              <a:rPr sz="1110" b="0" i="0">
                <a:solidFill>
                  <a:srgbClr val="1C2330"/>
                </a:solidFill>
                <a:latin typeface="Segoe UI"/>
              </a:rPr>
              <a:t>stronger theoretical guarantees, at a considerably higher computational cost.</a:t>
            </a:r>
          </a:p>
        </p:txBody>
      </p:sp>
      <p:sp>
        <p:nvSpPr>
          <p:cNvPr id="12" name="Rectangle 11"/>
          <p:cNvSpPr/>
          <p:nvPr/>
        </p:nvSpPr>
        <p:spPr>
          <a:xfrm>
            <a:off x="502920" y="1792224"/>
            <a:ext cx="11186129" cy="420624"/>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704088" y="1883664"/>
            <a:ext cx="10728929" cy="274320"/>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FFFFFF"/>
                </a:solidFill>
                <a:latin typeface="Segoe UI Semibold"/>
              </a:rPr>
              <a:t>KEY CONCEPT   ·   </a:t>
            </a:r>
            <a:r>
              <a:rPr sz="1400" b="1" i="0">
                <a:solidFill>
                  <a:srgbClr val="FFFFFF"/>
                </a:solidFill>
                <a:latin typeface="Segoe UI Semibold"/>
              </a:rPr>
              <a:t>Both explain individual predictions of any model</a:t>
            </a:r>
          </a:p>
        </p:txBody>
      </p:sp>
      <p:sp>
        <p:nvSpPr>
          <p:cNvPr id="14" name="Rounded Rectangle 13"/>
          <p:cNvSpPr/>
          <p:nvPr/>
        </p:nvSpPr>
        <p:spPr>
          <a:xfrm>
            <a:off x="502920" y="4805354"/>
            <a:ext cx="11186129" cy="1522293"/>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19456" tIns="164592" rIns="201168" bIns="0" rtlCol="0" anchor="t"/>
          <a:lstStyle/>
          <a:p>
            <a:pPr algn="l">
              <a:lnSpc>
                <a:spcPct val="115000"/>
              </a:lnSpc>
              <a:spcBef>
                <a:spcPts val="0"/>
              </a:spcBef>
              <a:spcAft>
                <a:spcPts val="700"/>
              </a:spcAft>
            </a:pPr>
            <a:r>
              <a:rPr sz="1250" b="1" i="0">
                <a:solidFill>
                  <a:srgbClr val="182B49"/>
                </a:solidFill>
                <a:latin typeface="Segoe UI Semibold"/>
              </a:rPr>
              <a:t>Interpretable by design</a:t>
            </a:r>
          </a:p>
          <a:p>
            <a:pPr marL="237744" indent="-237744" algn="l">
              <a:lnSpc>
                <a:spcPct val="116000"/>
              </a:lnSpc>
              <a:spcBef>
                <a:spcPts val="500"/>
              </a:spcBef>
              <a:spcAft>
                <a:spcPts val="0"/>
              </a:spcAft>
              <a:buClr>
                <a:srgbClr val="0096C7"/>
              </a:buClr>
              <a:buSzPct val="86000"/>
              <a:buFont typeface="Arial"/>
              <a:buChar char="▪"/>
            </a:pPr>
            <a:r>
              <a:rPr sz="1300" b="0" i="0">
                <a:solidFill>
                  <a:srgbClr val="1C2330"/>
                </a:solidFill>
                <a:latin typeface="Segoe UI"/>
              </a:rPr>
              <a:t>An alternative: use a model that is readable in the first place</a:t>
            </a:r>
          </a:p>
          <a:p>
            <a:pPr marL="237744" indent="-237744" algn="l">
              <a:lnSpc>
                <a:spcPct val="116000"/>
              </a:lnSpc>
              <a:spcBef>
                <a:spcPts val="500"/>
              </a:spcBef>
              <a:spcAft>
                <a:spcPts val="0"/>
              </a:spcAft>
              <a:buClr>
                <a:srgbClr val="0096C7"/>
              </a:buClr>
              <a:buSzPct val="86000"/>
              <a:buFont typeface="Arial"/>
              <a:buChar char="▪"/>
            </a:pPr>
            <a:r>
              <a:rPr sz="1300" b="0" i="0">
                <a:solidFill>
                  <a:srgbClr val="1C2330"/>
                </a:solidFill>
                <a:latin typeface="Segoe UI"/>
              </a:rPr>
              <a:t>A shallow decision tree or a linear model needs no post-hoc explanation</a:t>
            </a:r>
          </a:p>
          <a:p>
            <a:pPr marL="237744" indent="-237744" algn="l">
              <a:lnSpc>
                <a:spcPct val="116000"/>
              </a:lnSpc>
              <a:spcBef>
                <a:spcPts val="500"/>
              </a:spcBef>
              <a:spcAft>
                <a:spcPts val="0"/>
              </a:spcAft>
              <a:buClr>
                <a:srgbClr val="0096C7"/>
              </a:buClr>
              <a:buSzPct val="86000"/>
              <a:buFont typeface="Arial"/>
              <a:buChar char="▪"/>
            </a:pPr>
            <a:r>
              <a:rPr sz="1300" b="0" i="0">
                <a:solidFill>
                  <a:srgbClr val="1C2330"/>
                </a:solidFill>
                <a:latin typeface="Segoe UI"/>
              </a:rPr>
              <a:t>Often the right answer in regulated domains, even at some accuracy cost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31520"/>
            <a:ext cx="12191969" cy="6046927"/>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731520"/>
            <a:ext cx="12191969" cy="82296"/>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6696151"/>
            <a:ext cx="12191969" cy="82296"/>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914400" y="1810512"/>
            <a:ext cx="3108960" cy="2011680"/>
          </a:xfrm>
          <a:prstGeom prst="rect">
            <a:avLst/>
          </a:prstGeom>
          <a:noFill/>
        </p:spPr>
        <p:txBody>
          <a:bodyPr wrap="square" lIns="0" tIns="0" rIns="0" bIns="0" anchor="t">
            <a:spAutoFit/>
          </a:bodyPr>
          <a:lstStyle/>
          <a:p>
            <a:pPr algn="l">
              <a:lnSpc>
                <a:spcPct val="92000"/>
              </a:lnSpc>
              <a:spcBef>
                <a:spcPts val="0"/>
              </a:spcBef>
              <a:spcAft>
                <a:spcPts val="0"/>
              </a:spcAft>
            </a:pPr>
            <a:r>
              <a:rPr sz="10800" b="1" i="0">
                <a:solidFill>
                  <a:srgbClr val="2B4770"/>
                </a:solidFill>
                <a:latin typeface="Segoe UI Semibold"/>
              </a:rPr>
              <a:t>05</a:t>
            </a:r>
          </a:p>
        </p:txBody>
      </p:sp>
      <p:sp>
        <p:nvSpPr>
          <p:cNvPr id="6" name="TextBox 5"/>
          <p:cNvSpPr txBox="1"/>
          <p:nvPr/>
        </p:nvSpPr>
        <p:spPr>
          <a:xfrm>
            <a:off x="960120" y="3529584"/>
            <a:ext cx="4663440" cy="310896"/>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F47D35"/>
                </a:solidFill>
                <a:latin typeface="Segoe UI Semibold"/>
              </a:rPr>
              <a:t>SECTION</a:t>
            </a:r>
          </a:p>
        </p:txBody>
      </p:sp>
      <p:sp>
        <p:nvSpPr>
          <p:cNvPr id="7" name="TextBox 6"/>
          <p:cNvSpPr txBox="1"/>
          <p:nvPr/>
        </p:nvSpPr>
        <p:spPr>
          <a:xfrm>
            <a:off x="960120" y="3822191"/>
            <a:ext cx="4846320" cy="1737360"/>
          </a:xfrm>
          <a:prstGeom prst="rect">
            <a:avLst/>
          </a:prstGeom>
          <a:noFill/>
        </p:spPr>
        <p:txBody>
          <a:bodyPr wrap="square" lIns="0" tIns="0" rIns="0" bIns="0" anchor="t">
            <a:spAutoFit/>
          </a:bodyPr>
          <a:lstStyle/>
          <a:p>
            <a:pPr algn="l">
              <a:lnSpc>
                <a:spcPct val="106000"/>
              </a:lnSpc>
              <a:spcBef>
                <a:spcPts val="0"/>
              </a:spcBef>
              <a:spcAft>
                <a:spcPts val="0"/>
              </a:spcAft>
            </a:pPr>
            <a:r>
              <a:rPr sz="2500" b="1" i="0">
                <a:solidFill>
                  <a:srgbClr val="FFFFFF"/>
                </a:solidFill>
                <a:latin typeface="Segoe UI Semibold"/>
              </a:rPr>
              <a:t>Fairness, Privacy
and Governance</a:t>
            </a:r>
          </a:p>
        </p:txBody>
      </p:sp>
      <p:sp>
        <p:nvSpPr>
          <p:cNvPr id="8" name="Rounded Rectangle 7"/>
          <p:cNvSpPr/>
          <p:nvPr/>
        </p:nvSpPr>
        <p:spPr>
          <a:xfrm>
            <a:off x="6263640" y="1810512"/>
            <a:ext cx="4983480" cy="4069080"/>
          </a:xfrm>
          <a:prstGeom prst="roundRect">
            <a:avLst>
              <a:gd name="adj" fmla="val 4500"/>
            </a:avLst>
          </a:prstGeom>
          <a:solidFill>
            <a:srgbClr val="1F3558"/>
          </a:solidFill>
          <a:ln w="12700">
            <a:solidFill>
              <a:srgbClr val="3A5884"/>
            </a:solidFill>
          </a:ln>
          <a:effectLst/>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t"/>
          <a:lstStyle/>
          <a:p>
            <a:pPr algn="l">
              <a:lnSpc>
                <a:spcPct val="115000"/>
              </a:lnSpc>
              <a:spcBef>
                <a:spcPts val="0"/>
              </a:spcBef>
              <a:spcAft>
                <a:spcPts val="1200"/>
              </a:spcAft>
            </a:pPr>
            <a:r>
              <a:rPr sz="1150" b="1" i="0">
                <a:solidFill>
                  <a:srgbClr val="B42318"/>
                </a:solidFill>
                <a:latin typeface="Segoe UI Semibold"/>
              </a:rPr>
              <a:t>IN THIS SECTION</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Where bias actually comes from</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Why removing a protected attribute is not enough</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Privacy and security</a:t>
            </a:r>
          </a:p>
          <a:p>
            <a:pPr marL="237744" indent="-237744" algn="l">
              <a:lnSpc>
                <a:spcPct val="120000"/>
              </a:lnSpc>
              <a:spcBef>
                <a:spcPts val="900"/>
              </a:spcBef>
              <a:spcAft>
                <a:spcPts val="0"/>
              </a:spcAft>
              <a:buClr>
                <a:srgbClr val="F47D35"/>
              </a:buClr>
              <a:buSzPct val="86000"/>
              <a:buFont typeface="Arial"/>
              <a:buChar char="▪"/>
            </a:pPr>
            <a:r>
              <a:rPr sz="1450" b="0" i="0">
                <a:solidFill>
                  <a:srgbClr val="D6E2F0"/>
                </a:solidFill>
                <a:latin typeface="Segoe UI"/>
              </a:rPr>
              <a:t>AI governance and societal implications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5.5 FAIRNESS AND BIAS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Where Algorithmic Bias Comes From</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5</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CSE276  ·  Unit 5: Generative AI and Responsible Artificial Intelligence</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19</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Bias rarely comes from a biased line of code. It comes from the data and the deployment.</a:t>
            </a:r>
          </a:p>
        </p:txBody>
      </p:sp>
      <p:sp>
        <p:nvSpPr>
          <p:cNvPr id="12" name="Rounded Rectangle 11"/>
          <p:cNvSpPr/>
          <p:nvPr/>
        </p:nvSpPr>
        <p:spPr>
          <a:xfrm>
            <a:off x="502920" y="2267712"/>
            <a:ext cx="5492480"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400"/>
              </a:spcAft>
            </a:pPr>
            <a:r>
              <a:rPr sz="1000" b="1" i="0">
                <a:solidFill>
                  <a:srgbClr val="B42318"/>
                </a:solidFill>
                <a:latin typeface="Segoe UI Semibold"/>
              </a:rPr>
              <a:t>SOURCE 1</a:t>
            </a:r>
          </a:p>
          <a:p>
            <a:pPr algn="l">
              <a:lnSpc>
                <a:spcPct val="110000"/>
              </a:lnSpc>
              <a:spcBef>
                <a:spcPts val="0"/>
              </a:spcBef>
              <a:spcAft>
                <a:spcPts val="700"/>
              </a:spcAft>
            </a:pPr>
            <a:r>
              <a:rPr sz="1500" b="1" i="0">
                <a:solidFill>
                  <a:srgbClr val="182B49"/>
                </a:solidFill>
                <a:latin typeface="Segoe UI Semibold"/>
              </a:rPr>
              <a:t>Historical bias</a:t>
            </a:r>
          </a:p>
          <a:p>
            <a:pPr marL="237744" indent="-237744" algn="l">
              <a:lnSpc>
                <a:spcPct val="116000"/>
              </a:lnSpc>
              <a:spcBef>
                <a:spcPts val="500"/>
              </a:spcBef>
              <a:spcAft>
                <a:spcPts val="0"/>
              </a:spcAft>
              <a:buClr>
                <a:srgbClr val="B42318"/>
              </a:buClr>
              <a:buSzPct val="86000"/>
              <a:buFont typeface="Arial"/>
              <a:buChar char="▪"/>
            </a:pPr>
            <a:r>
              <a:rPr sz="1250" b="0" i="0">
                <a:solidFill>
                  <a:srgbClr val="1C2330"/>
                </a:solidFill>
                <a:latin typeface="Segoe UI"/>
              </a:rPr>
              <a:t>The training labels record past human decisions</a:t>
            </a:r>
          </a:p>
          <a:p>
            <a:pPr marL="237744" indent="-237744" algn="l">
              <a:lnSpc>
                <a:spcPct val="116000"/>
              </a:lnSpc>
              <a:spcBef>
                <a:spcPts val="500"/>
              </a:spcBef>
              <a:spcAft>
                <a:spcPts val="0"/>
              </a:spcAft>
              <a:buClr>
                <a:srgbClr val="B42318"/>
              </a:buClr>
              <a:buSzPct val="86000"/>
              <a:buFont typeface="Arial"/>
              <a:buChar char="▪"/>
            </a:pPr>
            <a:r>
              <a:rPr sz="1250" b="0" i="0">
                <a:solidFill>
                  <a:srgbClr val="1C2330"/>
                </a:solidFill>
                <a:latin typeface="Segoe UI"/>
              </a:rPr>
              <a:t>If those were biased, the model learns the bias</a:t>
            </a:r>
          </a:p>
          <a:p>
            <a:pPr marL="237744" indent="-237744" algn="l">
              <a:lnSpc>
                <a:spcPct val="116000"/>
              </a:lnSpc>
              <a:spcBef>
                <a:spcPts val="500"/>
              </a:spcBef>
              <a:spcAft>
                <a:spcPts val="0"/>
              </a:spcAft>
              <a:buClr>
                <a:srgbClr val="B42318"/>
              </a:buClr>
              <a:buSzPct val="86000"/>
              <a:buFont typeface="Arial"/>
              <a:buChar char="▪"/>
            </a:pPr>
            <a:r>
              <a:rPr sz="1250" b="0" i="0">
                <a:solidFill>
                  <a:srgbClr val="1C2330"/>
                </a:solidFill>
                <a:latin typeface="Segoe UI"/>
              </a:rPr>
              <a:t>The data is accurate AND the outcome unjust</a:t>
            </a:r>
          </a:p>
        </p:txBody>
      </p:sp>
      <p:sp>
        <p:nvSpPr>
          <p:cNvPr id="13" name="Rectangle 12"/>
          <p:cNvSpPr/>
          <p:nvPr/>
        </p:nvSpPr>
        <p:spPr>
          <a:xfrm>
            <a:off x="502920" y="2267712"/>
            <a:ext cx="5492480" cy="6858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6196568" y="2267712"/>
            <a:ext cx="5492480"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400"/>
              </a:spcAft>
            </a:pPr>
            <a:r>
              <a:rPr sz="1000" b="1" i="0">
                <a:solidFill>
                  <a:srgbClr val="D97706"/>
                </a:solidFill>
                <a:latin typeface="Segoe UI Semibold"/>
              </a:rPr>
              <a:t>SOURCE 2</a:t>
            </a:r>
          </a:p>
          <a:p>
            <a:pPr algn="l">
              <a:lnSpc>
                <a:spcPct val="110000"/>
              </a:lnSpc>
              <a:spcBef>
                <a:spcPts val="0"/>
              </a:spcBef>
              <a:spcAft>
                <a:spcPts val="700"/>
              </a:spcAft>
            </a:pPr>
            <a:r>
              <a:rPr sz="1500" b="1" i="0">
                <a:solidFill>
                  <a:srgbClr val="182B49"/>
                </a:solidFill>
                <a:latin typeface="Segoe UI Semibold"/>
              </a:rPr>
              <a:t>Representation bias</a:t>
            </a:r>
          </a:p>
          <a:p>
            <a:pPr marL="237744" indent="-237744" algn="l">
              <a:lnSpc>
                <a:spcPct val="116000"/>
              </a:lnSpc>
              <a:spcBef>
                <a:spcPts val="500"/>
              </a:spcBef>
              <a:spcAft>
                <a:spcPts val="0"/>
              </a:spcAft>
              <a:buClr>
                <a:srgbClr val="D97706"/>
              </a:buClr>
              <a:buSzPct val="86000"/>
              <a:buFont typeface="Arial"/>
              <a:buChar char="▪"/>
            </a:pPr>
            <a:r>
              <a:rPr sz="1250" b="0" i="0">
                <a:solidFill>
                  <a:srgbClr val="1C2330"/>
                </a:solidFill>
                <a:latin typeface="Segoe UI"/>
              </a:rPr>
              <a:t>Some groups are under-represented in the data</a:t>
            </a:r>
          </a:p>
          <a:p>
            <a:pPr marL="237744" indent="-237744" algn="l">
              <a:lnSpc>
                <a:spcPct val="116000"/>
              </a:lnSpc>
              <a:spcBef>
                <a:spcPts val="500"/>
              </a:spcBef>
              <a:spcAft>
                <a:spcPts val="0"/>
              </a:spcAft>
              <a:buClr>
                <a:srgbClr val="D97706"/>
              </a:buClr>
              <a:buSzPct val="86000"/>
              <a:buFont typeface="Arial"/>
              <a:buChar char="▪"/>
            </a:pPr>
            <a:r>
              <a:rPr sz="1250" b="0" i="0">
                <a:solidFill>
                  <a:srgbClr val="1C2330"/>
                </a:solidFill>
                <a:latin typeface="Segoe UI"/>
              </a:rPr>
              <a:t>The model performs worse for them</a:t>
            </a:r>
          </a:p>
          <a:p>
            <a:pPr marL="237744" indent="-237744" algn="l">
              <a:lnSpc>
                <a:spcPct val="116000"/>
              </a:lnSpc>
              <a:spcBef>
                <a:spcPts val="500"/>
              </a:spcBef>
              <a:spcAft>
                <a:spcPts val="0"/>
              </a:spcAft>
              <a:buClr>
                <a:srgbClr val="D97706"/>
              </a:buClr>
              <a:buSzPct val="86000"/>
              <a:buFont typeface="Arial"/>
              <a:buChar char="▪"/>
            </a:pPr>
            <a:r>
              <a:rPr sz="1250" b="0" i="0">
                <a:solidFill>
                  <a:srgbClr val="1C2330"/>
                </a:solidFill>
                <a:latin typeface="Segoe UI"/>
              </a:rPr>
              <a:t>Accuracy looks fine in aggregate</a:t>
            </a:r>
          </a:p>
        </p:txBody>
      </p:sp>
      <p:sp>
        <p:nvSpPr>
          <p:cNvPr id="15" name="Rectangle 14"/>
          <p:cNvSpPr/>
          <p:nvPr/>
        </p:nvSpPr>
        <p:spPr>
          <a:xfrm>
            <a:off x="6196568" y="2267712"/>
            <a:ext cx="5492480" cy="685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502920" y="4398264"/>
            <a:ext cx="5492480"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400"/>
              </a:spcAft>
            </a:pPr>
            <a:r>
              <a:rPr sz="1000" b="1" i="0">
                <a:solidFill>
                  <a:srgbClr val="0096C7"/>
                </a:solidFill>
                <a:latin typeface="Segoe UI Semibold"/>
              </a:rPr>
              <a:t>SOURCE 3</a:t>
            </a:r>
          </a:p>
          <a:p>
            <a:pPr algn="l">
              <a:lnSpc>
                <a:spcPct val="110000"/>
              </a:lnSpc>
              <a:spcBef>
                <a:spcPts val="0"/>
              </a:spcBef>
              <a:spcAft>
                <a:spcPts val="700"/>
              </a:spcAft>
            </a:pPr>
            <a:r>
              <a:rPr sz="1500" b="1" i="0">
                <a:solidFill>
                  <a:srgbClr val="182B49"/>
                </a:solidFill>
                <a:latin typeface="Segoe UI Semibold"/>
              </a:rPr>
              <a:t>Measurement bias</a:t>
            </a:r>
          </a:p>
          <a:p>
            <a:pPr marL="237744" indent="-237744" algn="l">
              <a:lnSpc>
                <a:spcPct val="116000"/>
              </a:lnSpc>
              <a:spcBef>
                <a:spcPts val="500"/>
              </a:spcBef>
              <a:spcAft>
                <a:spcPts val="0"/>
              </a:spcAft>
              <a:buClr>
                <a:srgbClr val="0096C7"/>
              </a:buClr>
              <a:buSzPct val="86000"/>
              <a:buFont typeface="Arial"/>
              <a:buChar char="▪"/>
            </a:pPr>
            <a:r>
              <a:rPr sz="1250" b="0" i="0">
                <a:solidFill>
                  <a:srgbClr val="1C2330"/>
                </a:solidFill>
                <a:latin typeface="Segoe UI"/>
              </a:rPr>
              <a:t>The proxy you measure is not what you mean</a:t>
            </a:r>
          </a:p>
          <a:p>
            <a:pPr marL="237744" indent="-237744" algn="l">
              <a:lnSpc>
                <a:spcPct val="116000"/>
              </a:lnSpc>
              <a:spcBef>
                <a:spcPts val="500"/>
              </a:spcBef>
              <a:spcAft>
                <a:spcPts val="0"/>
              </a:spcAft>
              <a:buClr>
                <a:srgbClr val="0096C7"/>
              </a:buClr>
              <a:buSzPct val="86000"/>
              <a:buFont typeface="Arial"/>
              <a:buChar char="▪"/>
            </a:pPr>
            <a:r>
              <a:rPr sz="1250" b="0" i="0">
                <a:solidFill>
                  <a:srgbClr val="1C2330"/>
                </a:solidFill>
                <a:latin typeface="Segoe UI"/>
              </a:rPr>
              <a:t>'Arrests' is not 'crimes committed'</a:t>
            </a:r>
          </a:p>
          <a:p>
            <a:pPr marL="237744" indent="-237744" algn="l">
              <a:lnSpc>
                <a:spcPct val="116000"/>
              </a:lnSpc>
              <a:spcBef>
                <a:spcPts val="500"/>
              </a:spcBef>
              <a:spcAft>
                <a:spcPts val="0"/>
              </a:spcAft>
              <a:buClr>
                <a:srgbClr val="0096C7"/>
              </a:buClr>
              <a:buSzPct val="86000"/>
              <a:buFont typeface="Arial"/>
              <a:buChar char="▪"/>
            </a:pPr>
            <a:r>
              <a:rPr sz="1250" b="0" i="0">
                <a:solidFill>
                  <a:srgbClr val="1C2330"/>
                </a:solidFill>
                <a:latin typeface="Segoe UI"/>
              </a:rPr>
              <a:t>The gap differs between groups</a:t>
            </a:r>
          </a:p>
        </p:txBody>
      </p:sp>
      <p:sp>
        <p:nvSpPr>
          <p:cNvPr id="17" name="Rectangle 16"/>
          <p:cNvSpPr/>
          <p:nvPr/>
        </p:nvSpPr>
        <p:spPr>
          <a:xfrm>
            <a:off x="502920" y="4398264"/>
            <a:ext cx="5492480" cy="685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ounded Rectangle 17"/>
          <p:cNvSpPr/>
          <p:nvPr/>
        </p:nvSpPr>
        <p:spPr>
          <a:xfrm>
            <a:off x="6196568" y="4398264"/>
            <a:ext cx="5492480"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400"/>
              </a:spcAft>
            </a:pPr>
            <a:r>
              <a:rPr sz="1000" b="1" i="0">
                <a:solidFill>
                  <a:srgbClr val="5C2D91"/>
                </a:solidFill>
                <a:latin typeface="Segoe UI Semibold"/>
              </a:rPr>
              <a:t>SOURCE 4</a:t>
            </a:r>
          </a:p>
          <a:p>
            <a:pPr algn="l">
              <a:lnSpc>
                <a:spcPct val="110000"/>
              </a:lnSpc>
              <a:spcBef>
                <a:spcPts val="0"/>
              </a:spcBef>
              <a:spcAft>
                <a:spcPts val="700"/>
              </a:spcAft>
            </a:pPr>
            <a:r>
              <a:rPr sz="1500" b="1" i="0">
                <a:solidFill>
                  <a:srgbClr val="182B49"/>
                </a:solidFill>
                <a:latin typeface="Segoe UI Semibold"/>
              </a:rPr>
              <a:t>Deployment bias</a:t>
            </a:r>
          </a:p>
          <a:p>
            <a:pPr marL="237744" indent="-237744" algn="l">
              <a:lnSpc>
                <a:spcPct val="116000"/>
              </a:lnSpc>
              <a:spcBef>
                <a:spcPts val="500"/>
              </a:spcBef>
              <a:spcAft>
                <a:spcPts val="0"/>
              </a:spcAft>
              <a:buClr>
                <a:srgbClr val="5C2D91"/>
              </a:buClr>
              <a:buSzPct val="86000"/>
              <a:buFont typeface="Arial"/>
              <a:buChar char="▪"/>
            </a:pPr>
            <a:r>
              <a:rPr sz="1250" b="0" i="0">
                <a:solidFill>
                  <a:srgbClr val="1C2330"/>
                </a:solidFill>
                <a:latin typeface="Segoe UI"/>
              </a:rPr>
              <a:t>The system is used differently from how it was designed</a:t>
            </a:r>
          </a:p>
          <a:p>
            <a:pPr marL="237744" indent="-237744" algn="l">
              <a:lnSpc>
                <a:spcPct val="116000"/>
              </a:lnSpc>
              <a:spcBef>
                <a:spcPts val="500"/>
              </a:spcBef>
              <a:spcAft>
                <a:spcPts val="0"/>
              </a:spcAft>
              <a:buClr>
                <a:srgbClr val="5C2D91"/>
              </a:buClr>
              <a:buSzPct val="86000"/>
              <a:buFont typeface="Arial"/>
              <a:buChar char="▪"/>
            </a:pPr>
            <a:r>
              <a:rPr sz="1250" b="0" i="0">
                <a:solidFill>
                  <a:srgbClr val="1C2330"/>
                </a:solidFill>
                <a:latin typeface="Segoe UI"/>
              </a:rPr>
              <a:t>A screening tool becomes a final decision</a:t>
            </a:r>
          </a:p>
          <a:p>
            <a:pPr marL="237744" indent="-237744" algn="l">
              <a:lnSpc>
                <a:spcPct val="116000"/>
              </a:lnSpc>
              <a:spcBef>
                <a:spcPts val="500"/>
              </a:spcBef>
              <a:spcAft>
                <a:spcPts val="0"/>
              </a:spcAft>
              <a:buClr>
                <a:srgbClr val="5C2D91"/>
              </a:buClr>
              <a:buSzPct val="86000"/>
              <a:buFont typeface="Arial"/>
              <a:buChar char="▪"/>
            </a:pPr>
            <a:r>
              <a:rPr sz="1250" b="0" i="0">
                <a:solidFill>
                  <a:srgbClr val="1C2330"/>
                </a:solidFill>
                <a:latin typeface="Segoe UI"/>
              </a:rPr>
              <a:t>The model never changed; the use did</a:t>
            </a:r>
          </a:p>
        </p:txBody>
      </p:sp>
      <p:sp>
        <p:nvSpPr>
          <p:cNvPr id="19" name="Rectangle 18"/>
          <p:cNvSpPr/>
          <p:nvPr/>
        </p:nvSpPr>
        <p:spPr>
          <a:xfrm>
            <a:off x="6196568" y="4398264"/>
            <a:ext cx="5492480" cy="6858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5.5 FAIRNESS AND BIAS</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Why Removing a Protected Attribute Is Not Enough</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5</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CSE276  ·  Unit 5: Generative AI and Responsible Artificial Intelligence</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20</a:t>
            </a:r>
          </a:p>
        </p:txBody>
      </p:sp>
      <p:sp>
        <p:nvSpPr>
          <p:cNvPr id="11" name="Rounded Rectangle 10"/>
          <p:cNvSpPr/>
          <p:nvPr/>
        </p:nvSpPr>
        <p:spPr>
          <a:xfrm>
            <a:off x="502920" y="1792224"/>
            <a:ext cx="11186129" cy="2811962"/>
          </a:xfrm>
          <a:prstGeom prst="roundRect">
            <a:avLst>
              <a:gd name="adj" fmla="val 3500"/>
            </a:avLst>
          </a:prstGeom>
          <a:solidFill>
            <a:srgbClr val="FDE9E7"/>
          </a:solidFill>
          <a:ln w="15875">
            <a:solidFill>
              <a:srgbClr val="B42318"/>
            </a:solidFill>
          </a:ln>
          <a:effectLst/>
        </p:spPr>
        <p:style>
          <a:lnRef idx="1">
            <a:schemeClr val="accent1"/>
          </a:lnRef>
          <a:fillRef idx="3">
            <a:schemeClr val="accent1"/>
          </a:fillRef>
          <a:effectRef idx="2">
            <a:schemeClr val="accent1"/>
          </a:effectRef>
          <a:fontRef idx="minor">
            <a:schemeClr val="lt1"/>
          </a:fontRef>
        </p:style>
        <p:txBody>
          <a:bodyPr wrap="square" lIns="256032" tIns="603504" rIns="237744" bIns="0" rtlCol="0" anchor="t"/>
          <a:lstStyle/>
          <a:p>
            <a:pPr algn="l">
              <a:lnSpc>
                <a:spcPct val="120000"/>
              </a:lnSpc>
              <a:spcBef>
                <a:spcPts val="0"/>
              </a:spcBef>
              <a:spcAft>
                <a:spcPts val="0"/>
              </a:spcAft>
            </a:pPr>
            <a:r>
              <a:rPr sz="1010" b="1" i="0">
                <a:solidFill>
                  <a:srgbClr val="B42318"/>
                </a:solidFill>
                <a:latin typeface="Segoe UI Semibold"/>
              </a:rPr>
              <a:t>The claim  </a:t>
            </a:r>
            <a:r>
              <a:rPr sz="1010" b="0" i="0">
                <a:solidFill>
                  <a:srgbClr val="1C2330"/>
                </a:solidFill>
                <a:latin typeface="Segoe UI"/>
              </a:rPr>
              <a:t>'our model is fair - we never gave it gender, caste or religion.'</a:t>
            </a:r>
          </a:p>
          <a:p>
            <a:pPr algn="l">
              <a:lnSpc>
                <a:spcPct val="120000"/>
              </a:lnSpc>
              <a:spcBef>
                <a:spcPts val="680"/>
              </a:spcBef>
              <a:spcAft>
                <a:spcPts val="0"/>
              </a:spcAft>
            </a:pPr>
            <a:r>
              <a:rPr sz="1010" b="1" i="0">
                <a:solidFill>
                  <a:srgbClr val="B42318"/>
                </a:solidFill>
                <a:latin typeface="Segoe UI Semibold"/>
              </a:rPr>
              <a:t>Why it fails  </a:t>
            </a:r>
            <a:r>
              <a:rPr sz="1010" b="0" i="0">
                <a:solidFill>
                  <a:srgbClr val="1C2330"/>
                </a:solidFill>
                <a:latin typeface="Segoe UI"/>
              </a:rPr>
              <a:t>other features correlate with the excluded one. Postcode, income, education, device type and purchase history can all carry it.</a:t>
            </a:r>
          </a:p>
          <a:p>
            <a:pPr algn="l">
              <a:lnSpc>
                <a:spcPct val="120000"/>
              </a:lnSpc>
              <a:spcBef>
                <a:spcPts val="680"/>
              </a:spcBef>
              <a:spcAft>
                <a:spcPts val="0"/>
              </a:spcAft>
            </a:pPr>
            <a:r>
              <a:rPr sz="1010" b="1" i="0">
                <a:solidFill>
                  <a:srgbClr val="B42318"/>
                </a:solidFill>
                <a:latin typeface="Segoe UI Semibold"/>
              </a:rPr>
              <a:t>The name  </a:t>
            </a:r>
            <a:r>
              <a:rPr sz="1010" b="0" i="0">
                <a:solidFill>
                  <a:srgbClr val="1C2330"/>
                </a:solidFill>
                <a:latin typeface="Segoe UI"/>
              </a:rPr>
              <a:t>PROXY VARIABLES. The model reconstructs the attribute without ever being given it.</a:t>
            </a:r>
          </a:p>
          <a:p>
            <a:pPr algn="l">
              <a:lnSpc>
                <a:spcPct val="120000"/>
              </a:lnSpc>
              <a:spcBef>
                <a:spcPts val="680"/>
              </a:spcBef>
              <a:spcAft>
                <a:spcPts val="0"/>
              </a:spcAft>
            </a:pPr>
            <a:r>
              <a:rPr sz="1010" b="1" i="0">
                <a:solidFill>
                  <a:srgbClr val="B42318"/>
                </a:solidFill>
                <a:latin typeface="Segoe UI Semibold"/>
              </a:rPr>
              <a:t>How to check  </a:t>
            </a:r>
            <a:r>
              <a:rPr sz="1010" b="0" i="0">
                <a:solidFill>
                  <a:srgbClr val="1C2330"/>
                </a:solidFill>
                <a:latin typeface="Segoe UI"/>
              </a:rPr>
              <a:t>test whether the protected attribute is predictable from your model's inputs or outputs. If it is, the information is present.</a:t>
            </a:r>
          </a:p>
          <a:p>
            <a:pPr algn="l">
              <a:lnSpc>
                <a:spcPct val="120000"/>
              </a:lnSpc>
              <a:spcBef>
                <a:spcPts val="680"/>
              </a:spcBef>
              <a:spcAft>
                <a:spcPts val="0"/>
              </a:spcAft>
            </a:pPr>
            <a:r>
              <a:rPr sz="1010" b="1" i="0">
                <a:solidFill>
                  <a:srgbClr val="B42318"/>
                </a:solidFill>
                <a:latin typeface="Segoe UI Semibold"/>
              </a:rPr>
              <a:t>Measure the disparity  </a:t>
            </a:r>
            <a:r>
              <a:rPr sz="1010" b="0" i="0">
                <a:solidFill>
                  <a:srgbClr val="1C2330"/>
                </a:solidFill>
                <a:latin typeface="Segoe UI"/>
              </a:rPr>
              <a:t>compare selection rate and true positive rate across groups, and report the gaps.</a:t>
            </a:r>
          </a:p>
          <a:p>
            <a:pPr algn="l">
              <a:lnSpc>
                <a:spcPct val="120000"/>
              </a:lnSpc>
              <a:spcBef>
                <a:spcPts val="680"/>
              </a:spcBef>
              <a:spcAft>
                <a:spcPts val="0"/>
              </a:spcAft>
            </a:pPr>
            <a:r>
              <a:rPr sz="1010" b="1" i="0">
                <a:solidFill>
                  <a:srgbClr val="B42318"/>
                </a:solidFill>
                <a:latin typeface="Segoe UI Semibold"/>
              </a:rPr>
              <a:t>Then decide deliberately  </a:t>
            </a:r>
            <a:r>
              <a:rPr sz="1010" b="0" i="0">
                <a:solidFill>
                  <a:srgbClr val="1C2330"/>
                </a:solidFill>
                <a:latin typeface="Segoe UI"/>
              </a:rPr>
              <a:t>reweight, drop features, adjust thresholds, or accept the disparity with a documented justification - but never claim fairness by omission.</a:t>
            </a:r>
          </a:p>
        </p:txBody>
      </p:sp>
      <p:sp>
        <p:nvSpPr>
          <p:cNvPr id="12" name="Rectangle 11"/>
          <p:cNvSpPr/>
          <p:nvPr/>
        </p:nvSpPr>
        <p:spPr>
          <a:xfrm>
            <a:off x="502920" y="1792224"/>
            <a:ext cx="11186129" cy="42062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704088" y="1883664"/>
            <a:ext cx="10728929" cy="274320"/>
          </a:xfrm>
          <a:prstGeom prst="rect">
            <a:avLst/>
          </a:prstGeom>
          <a:noFill/>
        </p:spPr>
        <p:txBody>
          <a:bodyPr wrap="square" lIns="0" tIns="0" rIns="0" bIns="0" anchor="t">
            <a:spAutoFit/>
          </a:bodyPr>
          <a:lstStyle/>
          <a:p>
            <a:pPr algn="l">
              <a:lnSpc>
                <a:spcPct val="115000"/>
              </a:lnSpc>
              <a:spcBef>
                <a:spcPts val="0"/>
              </a:spcBef>
              <a:spcAft>
                <a:spcPts val="0"/>
              </a:spcAft>
            </a:pPr>
            <a:r>
              <a:rPr sz="1100" b="1" i="0">
                <a:solidFill>
                  <a:srgbClr val="FFFFFF"/>
                </a:solidFill>
                <a:latin typeface="Segoe UI Semibold"/>
              </a:rPr>
              <a:t>COMMON PITFALL   ·   </a:t>
            </a:r>
            <a:r>
              <a:rPr sz="1400" b="1" i="0">
                <a:solidFill>
                  <a:srgbClr val="FFFFFF"/>
                </a:solidFill>
                <a:latin typeface="Segoe UI Semibold"/>
              </a:rPr>
              <a:t>The most common mistaken defence</a:t>
            </a:r>
          </a:p>
        </p:txBody>
      </p:sp>
      <p:sp>
        <p:nvSpPr>
          <p:cNvPr id="14" name="Rounded Rectangle 13"/>
          <p:cNvSpPr/>
          <p:nvPr/>
        </p:nvSpPr>
        <p:spPr>
          <a:xfrm>
            <a:off x="502920" y="4805354"/>
            <a:ext cx="11186129" cy="1522293"/>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219456" tIns="164592" rIns="201168" bIns="0" rtlCol="0" anchor="t"/>
          <a:lstStyle/>
          <a:p>
            <a:pPr algn="l">
              <a:lnSpc>
                <a:spcPct val="115000"/>
              </a:lnSpc>
              <a:spcBef>
                <a:spcPts val="0"/>
              </a:spcBef>
              <a:spcAft>
                <a:spcPts val="700"/>
              </a:spcAft>
            </a:pPr>
            <a:r>
              <a:rPr sz="1250" b="1" i="0">
                <a:solidFill>
                  <a:srgbClr val="182B49"/>
                </a:solidFill>
                <a:latin typeface="Segoe UI Semibold"/>
              </a:rPr>
              <a:t>An impossibility worth knowing</a:t>
            </a:r>
          </a:p>
          <a:p>
            <a:pPr marL="237744" indent="-237744" algn="l">
              <a:lnSpc>
                <a:spcPct val="116000"/>
              </a:lnSpc>
              <a:spcBef>
                <a:spcPts val="500"/>
              </a:spcBef>
              <a:spcAft>
                <a:spcPts val="0"/>
              </a:spcAft>
              <a:buClr>
                <a:srgbClr val="0096C7"/>
              </a:buClr>
              <a:buSzPct val="86000"/>
              <a:buFont typeface="Arial"/>
              <a:buChar char="▪"/>
            </a:pPr>
            <a:r>
              <a:rPr sz="1300" b="0" i="0">
                <a:solidFill>
                  <a:srgbClr val="1C2330"/>
                </a:solidFill>
                <a:latin typeface="Segoe UI"/>
              </a:rPr>
              <a:t>Several reasonable definitions of fairness exist</a:t>
            </a:r>
          </a:p>
          <a:p>
            <a:pPr marL="237744" indent="-237744" algn="l">
              <a:lnSpc>
                <a:spcPct val="116000"/>
              </a:lnSpc>
              <a:spcBef>
                <a:spcPts val="500"/>
              </a:spcBef>
              <a:spcAft>
                <a:spcPts val="0"/>
              </a:spcAft>
              <a:buClr>
                <a:srgbClr val="0096C7"/>
              </a:buClr>
              <a:buSzPct val="86000"/>
              <a:buFont typeface="Arial"/>
              <a:buChar char="▪"/>
            </a:pPr>
            <a:r>
              <a:rPr sz="1300" b="0" i="0">
                <a:solidFill>
                  <a:srgbClr val="1C2330"/>
                </a:solidFill>
                <a:latin typeface="Segoe UI"/>
              </a:rPr>
              <a:t>It is proven they cannot all be satisfied at once, except in degenerate cases</a:t>
            </a:r>
          </a:p>
          <a:p>
            <a:pPr marL="237744" indent="-237744" algn="l">
              <a:lnSpc>
                <a:spcPct val="116000"/>
              </a:lnSpc>
              <a:spcBef>
                <a:spcPts val="500"/>
              </a:spcBef>
              <a:spcAft>
                <a:spcPts val="0"/>
              </a:spcAft>
              <a:buClr>
                <a:srgbClr val="0096C7"/>
              </a:buClr>
              <a:buSzPct val="86000"/>
              <a:buFont typeface="Arial"/>
              <a:buChar char="▪"/>
            </a:pPr>
            <a:r>
              <a:rPr sz="1300" b="0" i="0">
                <a:solidFill>
                  <a:srgbClr val="1C2330"/>
                </a:solidFill>
                <a:latin typeface="Segoe UI"/>
              </a:rPr>
              <a:t>So choosing a definition is a value judgement, not a technical 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5.6 RESPONSIBLE AI</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Privacy, Security and Governance</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5</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CSE276  ·  Unit 5: Generative AI and Responsible Artificial Intelligence</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21</a:t>
            </a:r>
          </a:p>
        </p:txBody>
      </p:sp>
      <p:sp>
        <p:nvSpPr>
          <p:cNvPr id="11" name="TextBox 10"/>
          <p:cNvSpPr txBox="1"/>
          <p:nvPr/>
        </p:nvSpPr>
        <p:spPr>
          <a:xfrm>
            <a:off x="502920" y="1792224"/>
            <a:ext cx="11186129" cy="402336"/>
          </a:xfrm>
          <a:prstGeom prst="rect">
            <a:avLst/>
          </a:prstGeom>
          <a:noFill/>
        </p:spPr>
        <p:txBody>
          <a:bodyPr wrap="square" lIns="0" tIns="0" rIns="0" bIns="0" anchor="t">
            <a:spAutoFit/>
          </a:bodyPr>
          <a:lstStyle/>
          <a:p>
            <a:pPr algn="l">
              <a:lnSpc>
                <a:spcPct val="120000"/>
              </a:lnSpc>
              <a:spcBef>
                <a:spcPts val="0"/>
              </a:spcBef>
              <a:spcAft>
                <a:spcPts val="0"/>
              </a:spcAft>
            </a:pPr>
            <a:r>
              <a:rPr sz="1450" b="0" i="1">
                <a:solidFill>
                  <a:srgbClr val="586476"/>
                </a:solidFill>
                <a:latin typeface="Segoe UI"/>
              </a:rPr>
              <a:t>Six areas, one question underneath all of them: who is accountable when it goes wrong?</a:t>
            </a:r>
          </a:p>
        </p:txBody>
      </p:sp>
      <p:sp>
        <p:nvSpPr>
          <p:cNvPr id="12" name="Rounded Rectangle 11"/>
          <p:cNvSpPr/>
          <p:nvPr/>
        </p:nvSpPr>
        <p:spPr>
          <a:xfrm>
            <a:off x="502920" y="2267712"/>
            <a:ext cx="3594597"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340"/>
              </a:spcAft>
            </a:pPr>
            <a:r>
              <a:rPr sz="850" b="1" i="0">
                <a:solidFill>
                  <a:srgbClr val="0096C7"/>
                </a:solidFill>
                <a:latin typeface="Segoe UI Semibold"/>
              </a:rPr>
              <a:t>PRIVACY</a:t>
            </a:r>
          </a:p>
          <a:p>
            <a:pPr algn="l">
              <a:lnSpc>
                <a:spcPct val="110000"/>
              </a:lnSpc>
              <a:spcBef>
                <a:spcPts val="0"/>
              </a:spcBef>
              <a:spcAft>
                <a:spcPts val="600"/>
              </a:spcAft>
            </a:pPr>
            <a:r>
              <a:rPr sz="1280" b="1" i="0">
                <a:solidFill>
                  <a:srgbClr val="182B49"/>
                </a:solidFill>
                <a:latin typeface="Segoe UI Semibold"/>
              </a:rPr>
              <a:t>Data minimisation and consent</a:t>
            </a:r>
          </a:p>
          <a:p>
            <a:pPr marL="237744" indent="-237744" algn="l">
              <a:lnSpc>
                <a:spcPct val="116000"/>
              </a:lnSpc>
              <a:spcBef>
                <a:spcPts val="430"/>
              </a:spcBef>
              <a:spcAft>
                <a:spcPts val="0"/>
              </a:spcAft>
              <a:buClr>
                <a:srgbClr val="0096C7"/>
              </a:buClr>
              <a:buSzPct val="86000"/>
              <a:buFont typeface="Arial"/>
              <a:buChar char="▪"/>
            </a:pPr>
            <a:r>
              <a:rPr sz="1019" b="0" i="0">
                <a:solidFill>
                  <a:srgbClr val="1C2330"/>
                </a:solidFill>
                <a:latin typeface="Segoe UI"/>
              </a:rPr>
              <a:t>Collect only what the purpose requires</a:t>
            </a:r>
          </a:p>
          <a:p>
            <a:pPr marL="237744" indent="-237744" algn="l">
              <a:lnSpc>
                <a:spcPct val="116000"/>
              </a:lnSpc>
              <a:spcBef>
                <a:spcPts val="430"/>
              </a:spcBef>
              <a:spcAft>
                <a:spcPts val="0"/>
              </a:spcAft>
              <a:buClr>
                <a:srgbClr val="0096C7"/>
              </a:buClr>
              <a:buSzPct val="86000"/>
              <a:buFont typeface="Arial"/>
              <a:buChar char="▪"/>
            </a:pPr>
            <a:r>
              <a:rPr sz="1019" b="0" i="0">
                <a:solidFill>
                  <a:srgbClr val="1C2330"/>
                </a:solidFill>
                <a:latin typeface="Segoe UI"/>
              </a:rPr>
              <a:t>Consent given for one purpose does not cover another</a:t>
            </a:r>
          </a:p>
          <a:p>
            <a:pPr marL="237744" indent="-237744" algn="l">
              <a:lnSpc>
                <a:spcPct val="116000"/>
              </a:lnSpc>
              <a:spcBef>
                <a:spcPts val="430"/>
              </a:spcBef>
              <a:spcAft>
                <a:spcPts val="0"/>
              </a:spcAft>
              <a:buClr>
                <a:srgbClr val="0096C7"/>
              </a:buClr>
              <a:buSzPct val="86000"/>
              <a:buFont typeface="Arial"/>
              <a:buChar char="▪"/>
            </a:pPr>
            <a:r>
              <a:rPr sz="1019" b="0" i="0">
                <a:solidFill>
                  <a:srgbClr val="1C2330"/>
                </a:solidFill>
                <a:latin typeface="Segoe UI"/>
              </a:rPr>
              <a:t>Anonymisation is weaker than people assume</a:t>
            </a:r>
          </a:p>
        </p:txBody>
      </p:sp>
      <p:sp>
        <p:nvSpPr>
          <p:cNvPr id="13" name="Rectangle 12"/>
          <p:cNvSpPr/>
          <p:nvPr/>
        </p:nvSpPr>
        <p:spPr>
          <a:xfrm>
            <a:off x="502920" y="2267712"/>
            <a:ext cx="3594597" cy="685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4298685" y="2267712"/>
            <a:ext cx="3594597"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390"/>
              </a:spcAft>
            </a:pPr>
            <a:r>
              <a:rPr sz="960" b="1" i="0">
                <a:solidFill>
                  <a:srgbClr val="B42318"/>
                </a:solidFill>
                <a:latin typeface="Segoe UI Semibold"/>
              </a:rPr>
              <a:t>SECURITY</a:t>
            </a:r>
          </a:p>
          <a:p>
            <a:pPr algn="l">
              <a:lnSpc>
                <a:spcPct val="110000"/>
              </a:lnSpc>
              <a:spcBef>
                <a:spcPts val="0"/>
              </a:spcBef>
              <a:spcAft>
                <a:spcPts val="670"/>
              </a:spcAft>
            </a:pPr>
            <a:r>
              <a:rPr sz="1440" b="1" i="0">
                <a:solidFill>
                  <a:srgbClr val="182B49"/>
                </a:solidFill>
                <a:latin typeface="Segoe UI Semibold"/>
              </a:rPr>
              <a:t>Model-specific attacks</a:t>
            </a:r>
          </a:p>
          <a:p>
            <a:pPr marL="237744" indent="-237744" algn="l">
              <a:lnSpc>
                <a:spcPct val="116000"/>
              </a:lnSpc>
              <a:spcBef>
                <a:spcPts val="480"/>
              </a:spcBef>
              <a:spcAft>
                <a:spcPts val="0"/>
              </a:spcAft>
              <a:buClr>
                <a:srgbClr val="B42318"/>
              </a:buClr>
              <a:buSzPct val="86000"/>
              <a:buFont typeface="Arial"/>
              <a:buChar char="▪"/>
            </a:pPr>
            <a:r>
              <a:rPr sz="1160" b="0" i="0">
                <a:solidFill>
                  <a:srgbClr val="1C2330"/>
                </a:solidFill>
                <a:latin typeface="Segoe UI"/>
              </a:rPr>
              <a:t>Adversarial inputs crafted to cause misclassification</a:t>
            </a:r>
          </a:p>
          <a:p>
            <a:pPr marL="237744" indent="-237744" algn="l">
              <a:lnSpc>
                <a:spcPct val="116000"/>
              </a:lnSpc>
              <a:spcBef>
                <a:spcPts val="480"/>
              </a:spcBef>
              <a:spcAft>
                <a:spcPts val="0"/>
              </a:spcAft>
              <a:buClr>
                <a:srgbClr val="B42318"/>
              </a:buClr>
              <a:buSzPct val="86000"/>
              <a:buFont typeface="Arial"/>
              <a:buChar char="▪"/>
            </a:pPr>
            <a:r>
              <a:rPr sz="1160" b="0" i="0">
                <a:solidFill>
                  <a:srgbClr val="1C2330"/>
                </a:solidFill>
                <a:latin typeface="Segoe UI"/>
              </a:rPr>
              <a:t>Data poisoning during training</a:t>
            </a:r>
          </a:p>
          <a:p>
            <a:pPr marL="237744" indent="-237744" algn="l">
              <a:lnSpc>
                <a:spcPct val="116000"/>
              </a:lnSpc>
              <a:spcBef>
                <a:spcPts val="480"/>
              </a:spcBef>
              <a:spcAft>
                <a:spcPts val="0"/>
              </a:spcAft>
              <a:buClr>
                <a:srgbClr val="B42318"/>
              </a:buClr>
              <a:buSzPct val="86000"/>
              <a:buFont typeface="Arial"/>
              <a:buChar char="▪"/>
            </a:pPr>
            <a:r>
              <a:rPr sz="1160" b="0" i="0">
                <a:solidFill>
                  <a:srgbClr val="1C2330"/>
                </a:solidFill>
                <a:latin typeface="Segoe UI"/>
              </a:rPr>
              <a:t>Prompt injection against LLM applications</a:t>
            </a:r>
          </a:p>
        </p:txBody>
      </p:sp>
      <p:sp>
        <p:nvSpPr>
          <p:cNvPr id="15" name="Rectangle 14"/>
          <p:cNvSpPr/>
          <p:nvPr/>
        </p:nvSpPr>
        <p:spPr>
          <a:xfrm>
            <a:off x="4298685" y="2267712"/>
            <a:ext cx="3594597" cy="6858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8094451" y="2267712"/>
            <a:ext cx="3594597"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340"/>
              </a:spcAft>
            </a:pPr>
            <a:r>
              <a:rPr sz="850" b="1" i="0">
                <a:solidFill>
                  <a:srgbClr val="D97706"/>
                </a:solidFill>
                <a:latin typeface="Segoe UI Semibold"/>
              </a:rPr>
              <a:t>GOVERNANCE</a:t>
            </a:r>
          </a:p>
          <a:p>
            <a:pPr algn="l">
              <a:lnSpc>
                <a:spcPct val="110000"/>
              </a:lnSpc>
              <a:spcBef>
                <a:spcPts val="0"/>
              </a:spcBef>
              <a:spcAft>
                <a:spcPts val="600"/>
              </a:spcAft>
            </a:pPr>
            <a:r>
              <a:rPr sz="1280" b="1" i="0">
                <a:solidFill>
                  <a:srgbClr val="182B49"/>
                </a:solidFill>
                <a:latin typeface="Segoe UI Semibold"/>
              </a:rPr>
              <a:t>Accountability structures</a:t>
            </a:r>
          </a:p>
          <a:p>
            <a:pPr marL="237744" indent="-237744" algn="l">
              <a:lnSpc>
                <a:spcPct val="116000"/>
              </a:lnSpc>
              <a:spcBef>
                <a:spcPts val="430"/>
              </a:spcBef>
              <a:spcAft>
                <a:spcPts val="0"/>
              </a:spcAft>
              <a:buClr>
                <a:srgbClr val="D97706"/>
              </a:buClr>
              <a:buSzPct val="86000"/>
              <a:buFont typeface="Arial"/>
              <a:buChar char="▪"/>
            </a:pPr>
            <a:r>
              <a:rPr sz="1019" b="0" i="0">
                <a:solidFill>
                  <a:srgbClr val="1C2330"/>
                </a:solidFill>
                <a:latin typeface="Segoe UI"/>
              </a:rPr>
              <a:t>Who is answerable when the system is wrong?</a:t>
            </a:r>
          </a:p>
          <a:p>
            <a:pPr marL="237744" indent="-237744" algn="l">
              <a:lnSpc>
                <a:spcPct val="116000"/>
              </a:lnSpc>
              <a:spcBef>
                <a:spcPts val="430"/>
              </a:spcBef>
              <a:spcAft>
                <a:spcPts val="0"/>
              </a:spcAft>
              <a:buClr>
                <a:srgbClr val="D97706"/>
              </a:buClr>
              <a:buSzPct val="86000"/>
              <a:buFont typeface="Arial"/>
              <a:buChar char="▪"/>
            </a:pPr>
            <a:r>
              <a:rPr sz="1019" b="0" i="0">
                <a:solidFill>
                  <a:srgbClr val="1C2330"/>
                </a:solidFill>
                <a:latin typeface="Segoe UI"/>
              </a:rPr>
              <a:t>Documentation: model cards, data statements</a:t>
            </a:r>
          </a:p>
          <a:p>
            <a:pPr marL="237744" indent="-237744" algn="l">
              <a:lnSpc>
                <a:spcPct val="116000"/>
              </a:lnSpc>
              <a:spcBef>
                <a:spcPts val="430"/>
              </a:spcBef>
              <a:spcAft>
                <a:spcPts val="0"/>
              </a:spcAft>
              <a:buClr>
                <a:srgbClr val="D97706"/>
              </a:buClr>
              <a:buSzPct val="86000"/>
              <a:buFont typeface="Arial"/>
              <a:buChar char="▪"/>
            </a:pPr>
            <a:r>
              <a:rPr sz="1019" b="0" i="0">
                <a:solidFill>
                  <a:srgbClr val="1C2330"/>
                </a:solidFill>
                <a:latin typeface="Segoe UI"/>
              </a:rPr>
              <a:t>Audit trails and the right to appeal</a:t>
            </a:r>
          </a:p>
        </p:txBody>
      </p:sp>
      <p:sp>
        <p:nvSpPr>
          <p:cNvPr id="17" name="Rectangle 16"/>
          <p:cNvSpPr/>
          <p:nvPr/>
        </p:nvSpPr>
        <p:spPr>
          <a:xfrm>
            <a:off x="8094451" y="2267712"/>
            <a:ext cx="3594597" cy="685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ounded Rectangle 17"/>
          <p:cNvSpPr/>
          <p:nvPr/>
        </p:nvSpPr>
        <p:spPr>
          <a:xfrm>
            <a:off x="502920" y="4398264"/>
            <a:ext cx="3594597"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340"/>
              </a:spcAft>
            </a:pPr>
            <a:r>
              <a:rPr sz="850" b="1" i="0">
                <a:solidFill>
                  <a:srgbClr val="107C41"/>
                </a:solidFill>
                <a:latin typeface="Segoe UI Semibold"/>
              </a:rPr>
              <a:t>TRANSPARENCY</a:t>
            </a:r>
          </a:p>
          <a:p>
            <a:pPr algn="l">
              <a:lnSpc>
                <a:spcPct val="110000"/>
              </a:lnSpc>
              <a:spcBef>
                <a:spcPts val="0"/>
              </a:spcBef>
              <a:spcAft>
                <a:spcPts val="600"/>
              </a:spcAft>
            </a:pPr>
            <a:r>
              <a:rPr sz="1280" b="1" i="0">
                <a:solidFill>
                  <a:srgbClr val="182B49"/>
                </a:solidFill>
                <a:latin typeface="Segoe UI Semibold"/>
              </a:rPr>
              <a:t>Disclosure</a:t>
            </a:r>
          </a:p>
          <a:p>
            <a:pPr marL="237744" indent="-237744" algn="l">
              <a:lnSpc>
                <a:spcPct val="116000"/>
              </a:lnSpc>
              <a:spcBef>
                <a:spcPts val="430"/>
              </a:spcBef>
              <a:spcAft>
                <a:spcPts val="0"/>
              </a:spcAft>
              <a:buClr>
                <a:srgbClr val="107C41"/>
              </a:buClr>
              <a:buSzPct val="86000"/>
              <a:buFont typeface="Arial"/>
              <a:buChar char="▪"/>
            </a:pPr>
            <a:r>
              <a:rPr sz="1019" b="0" i="0">
                <a:solidFill>
                  <a:srgbClr val="1C2330"/>
                </a:solidFill>
                <a:latin typeface="Segoe UI"/>
              </a:rPr>
              <a:t>Telling people a decision was automated</a:t>
            </a:r>
          </a:p>
          <a:p>
            <a:pPr marL="237744" indent="-237744" algn="l">
              <a:lnSpc>
                <a:spcPct val="116000"/>
              </a:lnSpc>
              <a:spcBef>
                <a:spcPts val="430"/>
              </a:spcBef>
              <a:spcAft>
                <a:spcPts val="0"/>
              </a:spcAft>
              <a:buClr>
                <a:srgbClr val="107C41"/>
              </a:buClr>
              <a:buSzPct val="86000"/>
              <a:buFont typeface="Arial"/>
              <a:buChar char="▪"/>
            </a:pPr>
            <a:r>
              <a:rPr sz="1019" b="0" i="0">
                <a:solidFill>
                  <a:srgbClr val="1C2330"/>
                </a:solidFill>
                <a:latin typeface="Segoe UI"/>
              </a:rPr>
              <a:t>Publishing intended use and known limitations</a:t>
            </a:r>
          </a:p>
          <a:p>
            <a:pPr marL="237744" indent="-237744" algn="l">
              <a:lnSpc>
                <a:spcPct val="116000"/>
              </a:lnSpc>
              <a:spcBef>
                <a:spcPts val="430"/>
              </a:spcBef>
              <a:spcAft>
                <a:spcPts val="0"/>
              </a:spcAft>
              <a:buClr>
                <a:srgbClr val="107C41"/>
              </a:buClr>
              <a:buSzPct val="86000"/>
              <a:buFont typeface="Arial"/>
              <a:buChar char="▪"/>
            </a:pPr>
            <a:r>
              <a:rPr sz="1019" b="0" i="0">
                <a:solidFill>
                  <a:srgbClr val="1C2330"/>
                </a:solidFill>
                <a:latin typeface="Segoe UI"/>
              </a:rPr>
              <a:t>Stating what the system must not be used for</a:t>
            </a:r>
          </a:p>
        </p:txBody>
      </p:sp>
      <p:sp>
        <p:nvSpPr>
          <p:cNvPr id="19" name="Rectangle 18"/>
          <p:cNvSpPr/>
          <p:nvPr/>
        </p:nvSpPr>
        <p:spPr>
          <a:xfrm>
            <a:off x="502920" y="4398264"/>
            <a:ext cx="3594597" cy="68580"/>
          </a:xfrm>
          <a:prstGeom prst="rect">
            <a:avLst/>
          </a:prstGeom>
          <a:solidFill>
            <a:srgbClr val="107C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ounded Rectangle 19"/>
          <p:cNvSpPr/>
          <p:nvPr/>
        </p:nvSpPr>
        <p:spPr>
          <a:xfrm>
            <a:off x="4298685" y="4398264"/>
            <a:ext cx="3594597"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340"/>
              </a:spcAft>
            </a:pPr>
            <a:r>
              <a:rPr sz="850" b="1" i="0">
                <a:solidFill>
                  <a:srgbClr val="5C2D91"/>
                </a:solidFill>
                <a:latin typeface="Segoe UI Semibold"/>
              </a:rPr>
              <a:t>SOCIETAL</a:t>
            </a:r>
          </a:p>
          <a:p>
            <a:pPr algn="l">
              <a:lnSpc>
                <a:spcPct val="110000"/>
              </a:lnSpc>
              <a:spcBef>
                <a:spcPts val="0"/>
              </a:spcBef>
              <a:spcAft>
                <a:spcPts val="600"/>
              </a:spcAft>
            </a:pPr>
            <a:r>
              <a:rPr sz="1280" b="1" i="0">
                <a:solidFill>
                  <a:srgbClr val="182B49"/>
                </a:solidFill>
                <a:latin typeface="Segoe UI Semibold"/>
              </a:rPr>
              <a:t>Wider implications</a:t>
            </a:r>
          </a:p>
          <a:p>
            <a:pPr marL="237744" indent="-237744" algn="l">
              <a:lnSpc>
                <a:spcPct val="116000"/>
              </a:lnSpc>
              <a:spcBef>
                <a:spcPts val="430"/>
              </a:spcBef>
              <a:spcAft>
                <a:spcPts val="0"/>
              </a:spcAft>
              <a:buClr>
                <a:srgbClr val="5C2D91"/>
              </a:buClr>
              <a:buSzPct val="86000"/>
              <a:buFont typeface="Arial"/>
              <a:buChar char="▪"/>
            </a:pPr>
            <a:r>
              <a:rPr sz="1019" b="0" i="0">
                <a:solidFill>
                  <a:srgbClr val="1C2330"/>
                </a:solidFill>
                <a:latin typeface="Segoe UI"/>
              </a:rPr>
              <a:t>Labour displacement and skill change</a:t>
            </a:r>
          </a:p>
          <a:p>
            <a:pPr marL="237744" indent="-237744" algn="l">
              <a:lnSpc>
                <a:spcPct val="116000"/>
              </a:lnSpc>
              <a:spcBef>
                <a:spcPts val="430"/>
              </a:spcBef>
              <a:spcAft>
                <a:spcPts val="0"/>
              </a:spcAft>
              <a:buClr>
                <a:srgbClr val="5C2D91"/>
              </a:buClr>
              <a:buSzPct val="86000"/>
              <a:buFont typeface="Arial"/>
              <a:buChar char="▪"/>
            </a:pPr>
            <a:r>
              <a:rPr sz="1019" b="0" i="0">
                <a:solidFill>
                  <a:srgbClr val="1C2330"/>
                </a:solidFill>
                <a:latin typeface="Segoe UI"/>
              </a:rPr>
              <a:t>Concentration of capability in few organisations</a:t>
            </a:r>
          </a:p>
          <a:p>
            <a:pPr marL="237744" indent="-237744" algn="l">
              <a:lnSpc>
                <a:spcPct val="116000"/>
              </a:lnSpc>
              <a:spcBef>
                <a:spcPts val="430"/>
              </a:spcBef>
              <a:spcAft>
                <a:spcPts val="0"/>
              </a:spcAft>
              <a:buClr>
                <a:srgbClr val="5C2D91"/>
              </a:buClr>
              <a:buSzPct val="86000"/>
              <a:buFont typeface="Arial"/>
              <a:buChar char="▪"/>
            </a:pPr>
            <a:r>
              <a:rPr sz="1019" b="0" i="0">
                <a:solidFill>
                  <a:srgbClr val="1C2330"/>
                </a:solidFill>
                <a:latin typeface="Segoe UI"/>
              </a:rPr>
              <a:t>Environmental cost of large-scale training</a:t>
            </a:r>
          </a:p>
        </p:txBody>
      </p:sp>
      <p:sp>
        <p:nvSpPr>
          <p:cNvPr id="21" name="Rectangle 20"/>
          <p:cNvSpPr/>
          <p:nvPr/>
        </p:nvSpPr>
        <p:spPr>
          <a:xfrm>
            <a:off x="4298685" y="4398264"/>
            <a:ext cx="3594597" cy="68580"/>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ounded Rectangle 21"/>
          <p:cNvSpPr/>
          <p:nvPr/>
        </p:nvSpPr>
        <p:spPr>
          <a:xfrm>
            <a:off x="8094451" y="4398264"/>
            <a:ext cx="3594597" cy="1929384"/>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219456" rIns="164592" bIns="0" rtlCol="0" anchor="t"/>
          <a:lstStyle/>
          <a:p>
            <a:pPr algn="l">
              <a:lnSpc>
                <a:spcPct val="115000"/>
              </a:lnSpc>
              <a:spcBef>
                <a:spcPts val="0"/>
              </a:spcBef>
              <a:spcAft>
                <a:spcPts val="340"/>
              </a:spcAft>
            </a:pPr>
            <a:r>
              <a:rPr sz="850" b="1" i="0">
                <a:solidFill>
                  <a:srgbClr val="182B49"/>
                </a:solidFill>
                <a:latin typeface="Segoe UI Semibold"/>
              </a:rPr>
              <a:t>THE HABIT</a:t>
            </a:r>
          </a:p>
          <a:p>
            <a:pPr algn="l">
              <a:lnSpc>
                <a:spcPct val="110000"/>
              </a:lnSpc>
              <a:spcBef>
                <a:spcPts val="0"/>
              </a:spcBef>
              <a:spcAft>
                <a:spcPts val="600"/>
              </a:spcAft>
            </a:pPr>
            <a:r>
              <a:rPr sz="1280" b="1" i="0">
                <a:solidFill>
                  <a:srgbClr val="182B49"/>
                </a:solidFill>
                <a:latin typeface="Segoe UI Semibold"/>
              </a:rPr>
              <a:t>Ask before deploying</a:t>
            </a:r>
          </a:p>
          <a:p>
            <a:pPr marL="237744" indent="-237744" algn="l">
              <a:lnSpc>
                <a:spcPct val="116000"/>
              </a:lnSpc>
              <a:spcBef>
                <a:spcPts val="430"/>
              </a:spcBef>
              <a:spcAft>
                <a:spcPts val="0"/>
              </a:spcAft>
              <a:buClr>
                <a:srgbClr val="182B49"/>
              </a:buClr>
              <a:buSzPct val="86000"/>
              <a:buFont typeface="Arial"/>
              <a:buChar char="▪"/>
            </a:pPr>
            <a:r>
              <a:rPr sz="1019" b="0" i="0">
                <a:solidFill>
                  <a:srgbClr val="1C2330"/>
                </a:solidFill>
                <a:latin typeface="Segoe UI"/>
              </a:rPr>
              <a:t>Who could this harm, and how would we detect it?</a:t>
            </a:r>
          </a:p>
          <a:p>
            <a:pPr marL="237744" indent="-237744" algn="l">
              <a:lnSpc>
                <a:spcPct val="116000"/>
              </a:lnSpc>
              <a:spcBef>
                <a:spcPts val="430"/>
              </a:spcBef>
              <a:spcAft>
                <a:spcPts val="0"/>
              </a:spcAft>
              <a:buClr>
                <a:srgbClr val="182B49"/>
              </a:buClr>
              <a:buSzPct val="86000"/>
              <a:buFont typeface="Arial"/>
              <a:buChar char="▪"/>
            </a:pPr>
            <a:r>
              <a:rPr sz="1019" b="0" i="0">
                <a:solidFill>
                  <a:srgbClr val="1C2330"/>
                </a:solidFill>
                <a:latin typeface="Segoe UI"/>
              </a:rPr>
              <a:t>What is the appeal route for someone affected?</a:t>
            </a:r>
          </a:p>
          <a:p>
            <a:pPr marL="237744" indent="-237744" algn="l">
              <a:lnSpc>
                <a:spcPct val="116000"/>
              </a:lnSpc>
              <a:spcBef>
                <a:spcPts val="430"/>
              </a:spcBef>
              <a:spcAft>
                <a:spcPts val="0"/>
              </a:spcAft>
              <a:buClr>
                <a:srgbClr val="182B49"/>
              </a:buClr>
              <a:buSzPct val="86000"/>
              <a:buFont typeface="Arial"/>
              <a:buChar char="▪"/>
            </a:pPr>
            <a:r>
              <a:rPr sz="1019" b="0" i="0">
                <a:solidFill>
                  <a:srgbClr val="1C2330"/>
                </a:solidFill>
                <a:latin typeface="Segoe UI"/>
              </a:rPr>
              <a:t>What must this system never be used for?</a:t>
            </a:r>
          </a:p>
        </p:txBody>
      </p:sp>
      <p:sp>
        <p:nvSpPr>
          <p:cNvPr id="23" name="Rectangle 22"/>
          <p:cNvSpPr/>
          <p:nvPr/>
        </p:nvSpPr>
        <p:spPr>
          <a:xfrm>
            <a:off x="8094451" y="4398264"/>
            <a:ext cx="3594597" cy="68580"/>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UNIT V CONSOLIDATION</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Activity: Build It, Then Audit It</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5</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CSE276  ·  Unit 5: Generative AI and Responsible Artificial Intelligence</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22</a:t>
            </a:r>
          </a:p>
        </p:txBody>
      </p:sp>
      <p:sp>
        <p:nvSpPr>
          <p:cNvPr id="11" name="Rounded Rectangle 10"/>
          <p:cNvSpPr/>
          <p:nvPr/>
        </p:nvSpPr>
        <p:spPr>
          <a:xfrm>
            <a:off x="502920" y="1792224"/>
            <a:ext cx="11186129" cy="841248"/>
          </a:xfrm>
          <a:prstGeom prst="roundRect">
            <a:avLst>
              <a:gd name="adj" fmla="val 5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256032" tIns="0" rIns="219456" bIns="0" rtlCol="0" anchor="ctr"/>
          <a:lstStyle/>
          <a:p>
            <a:pPr algn="l">
              <a:lnSpc>
                <a:spcPct val="115000"/>
              </a:lnSpc>
              <a:spcBef>
                <a:spcPts val="0"/>
              </a:spcBef>
              <a:spcAft>
                <a:spcPts val="500"/>
              </a:spcAft>
            </a:pPr>
            <a:r>
              <a:rPr sz="1050" b="1" i="0">
                <a:solidFill>
                  <a:srgbClr val="5C2D91"/>
                </a:solidFill>
                <a:latin typeface="Segoe UI Semibold"/>
              </a:rPr>
              <a:t>GROUP WORK   ·   12 minutes</a:t>
            </a:r>
          </a:p>
          <a:p>
            <a:pPr algn="l">
              <a:lnSpc>
                <a:spcPct val="116000"/>
              </a:lnSpc>
              <a:spcBef>
                <a:spcPts val="0"/>
              </a:spcBef>
              <a:spcAft>
                <a:spcPts val="0"/>
              </a:spcAft>
            </a:pPr>
            <a:r>
              <a:rPr sz="1500" b="0" i="0">
                <a:solidFill>
                  <a:srgbClr val="FFFFFF"/>
                </a:solidFill>
                <a:latin typeface="Segoe UI"/>
              </a:rPr>
              <a:t>In groups of 3-4, design a generative AI application and then act as its critic.</a:t>
            </a:r>
          </a:p>
        </p:txBody>
      </p:sp>
      <p:sp>
        <p:nvSpPr>
          <p:cNvPr id="12" name="Rectangle 11"/>
          <p:cNvSpPr/>
          <p:nvPr/>
        </p:nvSpPr>
        <p:spPr>
          <a:xfrm>
            <a:off x="502920" y="1792224"/>
            <a:ext cx="77724" cy="841248"/>
          </a:xfrm>
          <a:prstGeom prst="rect">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502920" y="2816352"/>
            <a:ext cx="2686804" cy="2596896"/>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713232" rIns="164592" bIns="0" rtlCol="0" anchor="t"/>
          <a:lstStyle/>
          <a:p>
            <a:pPr algn="l">
              <a:lnSpc>
                <a:spcPct val="110000"/>
              </a:lnSpc>
              <a:spcBef>
                <a:spcPts val="0"/>
              </a:spcBef>
              <a:spcAft>
                <a:spcPts val="540"/>
              </a:spcAft>
            </a:pPr>
            <a:r>
              <a:rPr sz="1080" b="1" i="0">
                <a:solidFill>
                  <a:srgbClr val="182B49"/>
                </a:solidFill>
                <a:latin typeface="Segoe UI Semibold"/>
              </a:rPr>
              <a:t>Choose an application</a:t>
            </a:r>
          </a:p>
          <a:p>
            <a:pPr marL="237744" indent="-237744" algn="l">
              <a:lnSpc>
                <a:spcPct val="116000"/>
              </a:lnSpc>
              <a:spcBef>
                <a:spcPts val="390"/>
              </a:spcBef>
              <a:spcAft>
                <a:spcPts val="0"/>
              </a:spcAft>
              <a:buClr>
                <a:srgbClr val="5C2D91"/>
              </a:buClr>
              <a:buSzPct val="86000"/>
              <a:buFont typeface="Arial"/>
              <a:buChar char="▪"/>
            </a:pPr>
            <a:r>
              <a:rPr sz="930" b="0" i="0">
                <a:solidFill>
                  <a:srgbClr val="1C2330"/>
                </a:solidFill>
                <a:latin typeface="Segoe UI"/>
              </a:rPr>
              <a:t>A student query assistant for your department</a:t>
            </a:r>
          </a:p>
          <a:p>
            <a:pPr marL="237744" indent="-237744" algn="l">
              <a:lnSpc>
                <a:spcPct val="116000"/>
              </a:lnSpc>
              <a:spcBef>
                <a:spcPts val="390"/>
              </a:spcBef>
              <a:spcAft>
                <a:spcPts val="0"/>
              </a:spcAft>
              <a:buClr>
                <a:srgbClr val="5C2D91"/>
              </a:buClr>
              <a:buSzPct val="86000"/>
              <a:buFont typeface="Arial"/>
              <a:buChar char="▪"/>
            </a:pPr>
            <a:r>
              <a:rPr sz="930" b="0" i="0">
                <a:solidFill>
                  <a:srgbClr val="1C2330"/>
                </a:solidFill>
                <a:latin typeface="Segoe UI"/>
              </a:rPr>
              <a:t>An assistant that drafts replies to customer complaints</a:t>
            </a:r>
          </a:p>
          <a:p>
            <a:pPr marL="237744" indent="-237744" algn="l">
              <a:lnSpc>
                <a:spcPct val="116000"/>
              </a:lnSpc>
              <a:spcBef>
                <a:spcPts val="390"/>
              </a:spcBef>
              <a:spcAft>
                <a:spcPts val="0"/>
              </a:spcAft>
              <a:buClr>
                <a:srgbClr val="5C2D91"/>
              </a:buClr>
              <a:buSzPct val="86000"/>
              <a:buFont typeface="Arial"/>
              <a:buChar char="▪"/>
            </a:pPr>
            <a:r>
              <a:rPr sz="930" b="0" i="0">
                <a:solidFill>
                  <a:srgbClr val="1C2330"/>
                </a:solidFill>
                <a:latin typeface="Segoe UI"/>
              </a:rPr>
              <a:t>A tool that summarises medical discharge notes</a:t>
            </a:r>
          </a:p>
          <a:p>
            <a:pPr marL="237744" indent="-237744" algn="l">
              <a:lnSpc>
                <a:spcPct val="116000"/>
              </a:lnSpc>
              <a:spcBef>
                <a:spcPts val="390"/>
              </a:spcBef>
              <a:spcAft>
                <a:spcPts val="0"/>
              </a:spcAft>
              <a:buClr>
                <a:srgbClr val="5C2D91"/>
              </a:buClr>
              <a:buSzPct val="86000"/>
              <a:buFont typeface="Arial"/>
              <a:buChar char="▪"/>
            </a:pPr>
            <a:r>
              <a:rPr sz="930" b="0" i="0">
                <a:solidFill>
                  <a:srgbClr val="1C2330"/>
                </a:solidFill>
                <a:latin typeface="Segoe UI"/>
              </a:rPr>
              <a:t>Or propose your own</a:t>
            </a:r>
          </a:p>
        </p:txBody>
      </p:sp>
      <p:sp>
        <p:nvSpPr>
          <p:cNvPr id="14" name="Oval 13"/>
          <p:cNvSpPr/>
          <p:nvPr/>
        </p:nvSpPr>
        <p:spPr>
          <a:xfrm>
            <a:off x="685800" y="3017520"/>
            <a:ext cx="365760" cy="365760"/>
          </a:xfrm>
          <a:prstGeom prst="ellipse">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1</a:t>
            </a:r>
          </a:p>
        </p:txBody>
      </p:sp>
      <p:sp>
        <p:nvSpPr>
          <p:cNvPr id="15" name="Rounded Rectangle 14"/>
          <p:cNvSpPr/>
          <p:nvPr/>
        </p:nvSpPr>
        <p:spPr>
          <a:xfrm>
            <a:off x="3336028" y="2816352"/>
            <a:ext cx="2686804" cy="2596896"/>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713232" rIns="164592" bIns="0" rtlCol="0" anchor="t"/>
          <a:lstStyle/>
          <a:p>
            <a:pPr algn="l">
              <a:lnSpc>
                <a:spcPct val="110000"/>
              </a:lnSpc>
              <a:spcBef>
                <a:spcPts val="0"/>
              </a:spcBef>
              <a:spcAft>
                <a:spcPts val="690"/>
              </a:spcAft>
            </a:pPr>
            <a:r>
              <a:rPr sz="1380" b="1" i="0">
                <a:solidFill>
                  <a:srgbClr val="182B49"/>
                </a:solidFill>
                <a:latin typeface="Segoe UI Semibold"/>
              </a:rPr>
              <a:t>Design the system</a:t>
            </a:r>
          </a:p>
          <a:p>
            <a:pPr marL="237744" indent="-237744" algn="l">
              <a:lnSpc>
                <a:spcPct val="116000"/>
              </a:lnSpc>
              <a:spcBef>
                <a:spcPts val="490"/>
              </a:spcBef>
              <a:spcAft>
                <a:spcPts val="0"/>
              </a:spcAft>
              <a:buClr>
                <a:srgbClr val="5C2D91"/>
              </a:buClr>
              <a:buSzPct val="86000"/>
              <a:buFont typeface="Arial"/>
              <a:buChar char="▪"/>
            </a:pPr>
            <a:r>
              <a:rPr sz="1180" b="0" i="0">
                <a:solidFill>
                  <a:srgbClr val="1C2330"/>
                </a:solidFill>
                <a:latin typeface="Segoe UI"/>
              </a:rPr>
              <a:t>Would you use RAG? What would you index?</a:t>
            </a:r>
          </a:p>
          <a:p>
            <a:pPr marL="237744" indent="-237744" algn="l">
              <a:lnSpc>
                <a:spcPct val="116000"/>
              </a:lnSpc>
              <a:spcBef>
                <a:spcPts val="490"/>
              </a:spcBef>
              <a:spcAft>
                <a:spcPts val="0"/>
              </a:spcAft>
              <a:buClr>
                <a:srgbClr val="5C2D91"/>
              </a:buClr>
              <a:buSzPct val="86000"/>
              <a:buFont typeface="Arial"/>
              <a:buChar char="▪"/>
            </a:pPr>
            <a:r>
              <a:rPr sz="1180" b="0" i="0">
                <a:solidFill>
                  <a:srgbClr val="1C2330"/>
                </a:solidFill>
                <a:latin typeface="Segoe UI"/>
              </a:rPr>
              <a:t>Write the key instruction that permits refusal</a:t>
            </a:r>
          </a:p>
          <a:p>
            <a:pPr marL="237744" indent="-237744" algn="l">
              <a:lnSpc>
                <a:spcPct val="116000"/>
              </a:lnSpc>
              <a:spcBef>
                <a:spcPts val="490"/>
              </a:spcBef>
              <a:spcAft>
                <a:spcPts val="0"/>
              </a:spcAft>
              <a:buClr>
                <a:srgbClr val="5C2D91"/>
              </a:buClr>
              <a:buSzPct val="86000"/>
              <a:buFont typeface="Arial"/>
              <a:buChar char="▪"/>
            </a:pPr>
            <a:r>
              <a:rPr sz="1180" b="0" i="0">
                <a:solidFill>
                  <a:srgbClr val="1C2330"/>
                </a:solidFill>
                <a:latin typeface="Segoe UI"/>
              </a:rPr>
              <a:t>How would you evaluate the output?</a:t>
            </a:r>
          </a:p>
        </p:txBody>
      </p:sp>
      <p:sp>
        <p:nvSpPr>
          <p:cNvPr id="16" name="Oval 15"/>
          <p:cNvSpPr/>
          <p:nvPr/>
        </p:nvSpPr>
        <p:spPr>
          <a:xfrm>
            <a:off x="3518908" y="3017520"/>
            <a:ext cx="365760" cy="365760"/>
          </a:xfrm>
          <a:prstGeom prst="ellipse">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2</a:t>
            </a:r>
          </a:p>
        </p:txBody>
      </p:sp>
      <p:sp>
        <p:nvSpPr>
          <p:cNvPr id="17" name="Rounded Rectangle 16"/>
          <p:cNvSpPr/>
          <p:nvPr/>
        </p:nvSpPr>
        <p:spPr>
          <a:xfrm>
            <a:off x="6169136" y="2816352"/>
            <a:ext cx="2686804" cy="2596896"/>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713232" rIns="164592" bIns="0" rtlCol="0" anchor="t"/>
          <a:lstStyle/>
          <a:p>
            <a:pPr algn="l">
              <a:lnSpc>
                <a:spcPct val="110000"/>
              </a:lnSpc>
              <a:spcBef>
                <a:spcPts val="0"/>
              </a:spcBef>
              <a:spcAft>
                <a:spcPts val="690"/>
              </a:spcAft>
            </a:pPr>
            <a:r>
              <a:rPr sz="1380" b="1" i="0">
                <a:solidFill>
                  <a:srgbClr val="182B49"/>
                </a:solidFill>
                <a:latin typeface="Segoe UI Semibold"/>
              </a:rPr>
              <a:t>Audit it</a:t>
            </a:r>
          </a:p>
          <a:p>
            <a:pPr marL="237744" indent="-237744" algn="l">
              <a:lnSpc>
                <a:spcPct val="116000"/>
              </a:lnSpc>
              <a:spcBef>
                <a:spcPts val="490"/>
              </a:spcBef>
              <a:spcAft>
                <a:spcPts val="0"/>
              </a:spcAft>
              <a:buClr>
                <a:srgbClr val="5C2D91"/>
              </a:buClr>
              <a:buSzPct val="86000"/>
              <a:buFont typeface="Arial"/>
              <a:buChar char="▪"/>
            </a:pPr>
            <a:r>
              <a:rPr sz="1180" b="0" i="0">
                <a:solidFill>
                  <a:srgbClr val="1C2330"/>
                </a:solidFill>
                <a:latin typeface="Segoe UI"/>
              </a:rPr>
              <a:t>Where could it hallucinate, and what would that cost?</a:t>
            </a:r>
          </a:p>
          <a:p>
            <a:pPr marL="237744" indent="-237744" algn="l">
              <a:lnSpc>
                <a:spcPct val="116000"/>
              </a:lnSpc>
              <a:spcBef>
                <a:spcPts val="490"/>
              </a:spcBef>
              <a:spcAft>
                <a:spcPts val="0"/>
              </a:spcAft>
              <a:buClr>
                <a:srgbClr val="5C2D91"/>
              </a:buClr>
              <a:buSzPct val="86000"/>
              <a:buFont typeface="Arial"/>
              <a:buChar char="▪"/>
            </a:pPr>
            <a:r>
              <a:rPr sz="1180" b="0" i="0">
                <a:solidFill>
                  <a:srgbClr val="1C2330"/>
                </a:solidFill>
                <a:latin typeface="Segoe UI"/>
              </a:rPr>
              <a:t>Who could it treat unfairly, and how would you check?</a:t>
            </a:r>
          </a:p>
          <a:p>
            <a:pPr marL="237744" indent="-237744" algn="l">
              <a:lnSpc>
                <a:spcPct val="116000"/>
              </a:lnSpc>
              <a:spcBef>
                <a:spcPts val="490"/>
              </a:spcBef>
              <a:spcAft>
                <a:spcPts val="0"/>
              </a:spcAft>
              <a:buClr>
                <a:srgbClr val="5C2D91"/>
              </a:buClr>
              <a:buSzPct val="86000"/>
              <a:buFont typeface="Arial"/>
              <a:buChar char="▪"/>
            </a:pPr>
            <a:r>
              <a:rPr sz="1180" b="0" i="0">
                <a:solidFill>
                  <a:srgbClr val="1C2330"/>
                </a:solidFill>
                <a:latin typeface="Segoe UI"/>
              </a:rPr>
              <a:t>What privacy concern does your data source raise?</a:t>
            </a:r>
          </a:p>
        </p:txBody>
      </p:sp>
      <p:sp>
        <p:nvSpPr>
          <p:cNvPr id="18" name="Oval 17"/>
          <p:cNvSpPr/>
          <p:nvPr/>
        </p:nvSpPr>
        <p:spPr>
          <a:xfrm>
            <a:off x="6352016" y="3017520"/>
            <a:ext cx="365760" cy="365760"/>
          </a:xfrm>
          <a:prstGeom prst="ellipse">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3</a:t>
            </a:r>
          </a:p>
        </p:txBody>
      </p:sp>
      <p:sp>
        <p:nvSpPr>
          <p:cNvPr id="19" name="Rounded Rectangle 18"/>
          <p:cNvSpPr/>
          <p:nvPr/>
        </p:nvSpPr>
        <p:spPr>
          <a:xfrm>
            <a:off x="9002245" y="2816352"/>
            <a:ext cx="2686804" cy="2596896"/>
          </a:xfrm>
          <a:prstGeom prst="roundRect">
            <a:avLst>
              <a:gd name="adj" fmla="val 5500"/>
            </a:avLst>
          </a:prstGeom>
          <a:solidFill>
            <a:srgbClr val="F8FAFC"/>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lIns="182880" tIns="713232" rIns="164592" bIns="0" rtlCol="0" anchor="t"/>
          <a:lstStyle/>
          <a:p>
            <a:pPr algn="l">
              <a:lnSpc>
                <a:spcPct val="110000"/>
              </a:lnSpc>
              <a:spcBef>
                <a:spcPts val="0"/>
              </a:spcBef>
              <a:spcAft>
                <a:spcPts val="700"/>
              </a:spcAft>
            </a:pPr>
            <a:r>
              <a:rPr sz="1400" b="1" i="0">
                <a:solidFill>
                  <a:srgbClr val="182B49"/>
                </a:solidFill>
                <a:latin typeface="Segoe UI Semibold"/>
              </a:rPr>
              <a:t>Govern it</a:t>
            </a:r>
          </a:p>
          <a:p>
            <a:pPr marL="237744" indent="-237744" algn="l">
              <a:lnSpc>
                <a:spcPct val="116000"/>
              </a:lnSpc>
              <a:spcBef>
                <a:spcPts val="500"/>
              </a:spcBef>
              <a:spcAft>
                <a:spcPts val="0"/>
              </a:spcAft>
              <a:buClr>
                <a:srgbClr val="5C2D91"/>
              </a:buClr>
              <a:buSzPct val="86000"/>
              <a:buFont typeface="Arial"/>
              <a:buChar char="▪"/>
            </a:pPr>
            <a:r>
              <a:rPr sz="1200" b="0" i="0">
                <a:solidFill>
                  <a:srgbClr val="1C2330"/>
                </a:solidFill>
                <a:latin typeface="Segoe UI"/>
              </a:rPr>
              <a:t>Who is accountable when it is wrong?</a:t>
            </a:r>
          </a:p>
          <a:p>
            <a:pPr marL="237744" indent="-237744" algn="l">
              <a:lnSpc>
                <a:spcPct val="116000"/>
              </a:lnSpc>
              <a:spcBef>
                <a:spcPts val="500"/>
              </a:spcBef>
              <a:spcAft>
                <a:spcPts val="0"/>
              </a:spcAft>
              <a:buClr>
                <a:srgbClr val="5C2D91"/>
              </a:buClr>
              <a:buSzPct val="86000"/>
              <a:buFont typeface="Arial"/>
              <a:buChar char="▪"/>
            </a:pPr>
            <a:r>
              <a:rPr sz="1200" b="0" i="0">
                <a:solidFill>
                  <a:srgbClr val="1C2330"/>
                </a:solidFill>
                <a:latin typeface="Segoe UI"/>
              </a:rPr>
              <a:t>What is the appeal route?</a:t>
            </a:r>
          </a:p>
          <a:p>
            <a:pPr marL="237744" indent="-237744" algn="l">
              <a:lnSpc>
                <a:spcPct val="116000"/>
              </a:lnSpc>
              <a:spcBef>
                <a:spcPts val="500"/>
              </a:spcBef>
              <a:spcAft>
                <a:spcPts val="0"/>
              </a:spcAft>
              <a:buClr>
                <a:srgbClr val="5C2D91"/>
              </a:buClr>
              <a:buSzPct val="86000"/>
              <a:buFont typeface="Arial"/>
              <a:buChar char="▪"/>
            </a:pPr>
            <a:r>
              <a:rPr sz="1200" b="0" i="0">
                <a:solidFill>
                  <a:srgbClr val="1C2330"/>
                </a:solidFill>
                <a:latin typeface="Segoe UI"/>
              </a:rPr>
              <a:t>State one use you would explicitly forbid</a:t>
            </a:r>
          </a:p>
        </p:txBody>
      </p:sp>
      <p:sp>
        <p:nvSpPr>
          <p:cNvPr id="20" name="Oval 19"/>
          <p:cNvSpPr/>
          <p:nvPr/>
        </p:nvSpPr>
        <p:spPr>
          <a:xfrm>
            <a:off x="9185125" y="3017520"/>
            <a:ext cx="365760" cy="365760"/>
          </a:xfrm>
          <a:prstGeom prst="ellipse">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4</a:t>
            </a:r>
          </a:p>
        </p:txBody>
      </p:sp>
      <p:sp>
        <p:nvSpPr>
          <p:cNvPr id="21" name="Rounded Rectangle 20"/>
          <p:cNvSpPr/>
          <p:nvPr/>
        </p:nvSpPr>
        <p:spPr>
          <a:xfrm>
            <a:off x="502920" y="5541264"/>
            <a:ext cx="11186129" cy="786384"/>
          </a:xfrm>
          <a:prstGeom prst="roundRect">
            <a:avLst>
              <a:gd name="adj" fmla="val 7000"/>
            </a:avLst>
          </a:prstGeom>
          <a:solidFill>
            <a:srgbClr val="FEF3E0"/>
          </a:solidFill>
          <a:ln w="15875">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256032" tIns="0" rIns="219456" bIns="0" rtlCol="0" anchor="ctr"/>
          <a:lstStyle/>
          <a:p>
            <a:pPr algn="l">
              <a:lnSpc>
                <a:spcPct val="116000"/>
              </a:lnSpc>
              <a:spcBef>
                <a:spcPts val="0"/>
              </a:spcBef>
              <a:spcAft>
                <a:spcPts val="0"/>
              </a:spcAft>
            </a:pPr>
            <a:r>
              <a:rPr sz="1150" b="1" i="0">
                <a:solidFill>
                  <a:srgbClr val="D97706"/>
                </a:solidFill>
                <a:latin typeface="Segoe UI Semibold"/>
              </a:rPr>
              <a:t>DELIVERABLE   </a:t>
            </a:r>
            <a:r>
              <a:rPr sz="1350" b="0" i="0">
                <a:solidFill>
                  <a:srgbClr val="1C2330"/>
                </a:solidFill>
                <a:latin typeface="Segoe UI"/>
              </a:rPr>
              <a:t>One speaker per group: 60 seconds on your application, your strongest safeguard, and the risk you could not fully mitigate.</a:t>
            </a:r>
          </a:p>
        </p:txBody>
      </p:sp>
      <p:sp>
        <p:nvSpPr>
          <p:cNvPr id="22" name="Rectangle 21"/>
          <p:cNvSpPr/>
          <p:nvPr/>
        </p:nvSpPr>
        <p:spPr>
          <a:xfrm>
            <a:off x="502920" y="5541264"/>
            <a:ext cx="77724" cy="78638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384"/>
            <a:ext cx="12191969" cy="804672"/>
          </a:xfrm>
          <a:prstGeom prst="rect">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1591056"/>
            <a:ext cx="12191969" cy="4114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786384"/>
            <a:ext cx="77724" cy="804672"/>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02920" y="886968"/>
            <a:ext cx="9540209" cy="237744"/>
          </a:xfrm>
          <a:prstGeom prst="rect">
            <a:avLst/>
          </a:prstGeom>
          <a:noFill/>
        </p:spPr>
        <p:txBody>
          <a:bodyPr wrap="square" lIns="0" tIns="0" rIns="0" bIns="0" anchor="t">
            <a:spAutoFit/>
          </a:bodyPr>
          <a:lstStyle/>
          <a:p>
            <a:pPr algn="l">
              <a:lnSpc>
                <a:spcPct val="115000"/>
              </a:lnSpc>
              <a:spcBef>
                <a:spcPts val="0"/>
              </a:spcBef>
              <a:spcAft>
                <a:spcPts val="0"/>
              </a:spcAft>
            </a:pPr>
            <a:r>
              <a:rPr sz="1050" b="1" i="0">
                <a:solidFill>
                  <a:srgbClr val="7EC5E2"/>
                </a:solidFill>
                <a:latin typeface="Segoe UI Semibold"/>
              </a:rPr>
              <a:t>UNIT V RECAP</a:t>
            </a:r>
          </a:p>
        </p:txBody>
      </p:sp>
      <p:sp>
        <p:nvSpPr>
          <p:cNvPr id="6" name="TextBox 5"/>
          <p:cNvSpPr txBox="1"/>
          <p:nvPr/>
        </p:nvSpPr>
        <p:spPr>
          <a:xfrm>
            <a:off x="502920" y="1115568"/>
            <a:ext cx="9540209" cy="420624"/>
          </a:xfrm>
          <a:prstGeom prst="rect">
            <a:avLst/>
          </a:prstGeom>
          <a:noFill/>
        </p:spPr>
        <p:txBody>
          <a:bodyPr wrap="square" lIns="0" tIns="0" rIns="0" bIns="0" anchor="t">
            <a:spAutoFit/>
          </a:bodyPr>
          <a:lstStyle/>
          <a:p>
            <a:pPr algn="l">
              <a:lnSpc>
                <a:spcPct val="100000"/>
              </a:lnSpc>
              <a:spcBef>
                <a:spcPts val="0"/>
              </a:spcBef>
              <a:spcAft>
                <a:spcPts val="0"/>
              </a:spcAft>
            </a:pPr>
            <a:r>
              <a:rPr sz="2500" b="1" i="0">
                <a:solidFill>
                  <a:srgbClr val="FFFFFF"/>
                </a:solidFill>
                <a:latin typeface="Segoe UI Semibold"/>
              </a:rPr>
              <a:t>Unit V - The Eight Ideas Worth Remembering</a:t>
            </a:r>
          </a:p>
        </p:txBody>
      </p:sp>
      <p:sp>
        <p:nvSpPr>
          <p:cNvPr id="7" name="Rounded Rectangle 6"/>
          <p:cNvSpPr/>
          <p:nvPr/>
        </p:nvSpPr>
        <p:spPr>
          <a:xfrm>
            <a:off x="10088849" y="987552"/>
            <a:ext cx="1600200" cy="402336"/>
          </a:xfrm>
          <a:prstGeom prst="roundRect">
            <a:avLst>
              <a:gd name="adj" fmla="val 30000"/>
            </a:avLst>
          </a:prstGeom>
          <a:solidFill>
            <a:srgbClr val="253E64"/>
          </a:solidFill>
          <a:ln w="9525">
            <a:solidFill>
              <a:srgbClr val="ED771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200" b="1" i="0">
                <a:solidFill>
                  <a:srgbClr val="FACDA5"/>
                </a:solidFill>
                <a:latin typeface="Segoe UI Semibold"/>
              </a:rPr>
              <a:t>UNIT 5</a:t>
            </a:r>
          </a:p>
        </p:txBody>
      </p:sp>
      <p:sp>
        <p:nvSpPr>
          <p:cNvPr id="8" name="Rectangle 7"/>
          <p:cNvSpPr/>
          <p:nvPr/>
        </p:nvSpPr>
        <p:spPr>
          <a:xfrm>
            <a:off x="502920" y="6355079"/>
            <a:ext cx="11186129" cy="10972"/>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02920" y="6419088"/>
            <a:ext cx="8686800" cy="23774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586476"/>
                </a:solidFill>
                <a:latin typeface="Segoe UI"/>
              </a:rPr>
              <a:t>CSE276  ·  Unit 5: Generative AI and Responsible Artificial Intelligence</a:t>
            </a:r>
          </a:p>
        </p:txBody>
      </p:sp>
      <p:sp>
        <p:nvSpPr>
          <p:cNvPr id="10" name="TextBox 9"/>
          <p:cNvSpPr txBox="1"/>
          <p:nvPr/>
        </p:nvSpPr>
        <p:spPr>
          <a:xfrm>
            <a:off x="10226009" y="6419088"/>
            <a:ext cx="1463040" cy="237744"/>
          </a:xfrm>
          <a:prstGeom prst="rect">
            <a:avLst/>
          </a:prstGeom>
          <a:noFill/>
        </p:spPr>
        <p:txBody>
          <a:bodyPr wrap="square" lIns="0" tIns="0" rIns="0" bIns="0" anchor="t">
            <a:spAutoFit/>
          </a:bodyPr>
          <a:lstStyle/>
          <a:p>
            <a:pPr algn="r">
              <a:lnSpc>
                <a:spcPct val="115000"/>
              </a:lnSpc>
              <a:spcBef>
                <a:spcPts val="0"/>
              </a:spcBef>
              <a:spcAft>
                <a:spcPts val="0"/>
              </a:spcAft>
            </a:pPr>
            <a:r>
              <a:rPr sz="950" b="1" i="0">
                <a:solidFill>
                  <a:srgbClr val="586476"/>
                </a:solidFill>
                <a:latin typeface="Segoe UI"/>
              </a:rPr>
              <a:t>23</a:t>
            </a:r>
          </a:p>
        </p:txBody>
      </p:sp>
      <p:sp>
        <p:nvSpPr>
          <p:cNvPr id="11" name="Rounded Rectangle 10"/>
          <p:cNvSpPr/>
          <p:nvPr/>
        </p:nvSpPr>
        <p:spPr>
          <a:xfrm>
            <a:off x="502920" y="1792224"/>
            <a:ext cx="5510768" cy="800100"/>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502920" y="1792224"/>
            <a:ext cx="68580" cy="8001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Oval 12"/>
          <p:cNvSpPr/>
          <p:nvPr/>
        </p:nvSpPr>
        <p:spPr>
          <a:xfrm>
            <a:off x="722376" y="2000250"/>
            <a:ext cx="384048" cy="384048"/>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1</a:t>
            </a:r>
          </a:p>
        </p:txBody>
      </p:sp>
      <p:sp>
        <p:nvSpPr>
          <p:cNvPr id="14" name="TextBox 13"/>
          <p:cNvSpPr txBox="1"/>
          <p:nvPr/>
        </p:nvSpPr>
        <p:spPr>
          <a:xfrm>
            <a:off x="1252728" y="1938528"/>
            <a:ext cx="4578080" cy="544068"/>
          </a:xfrm>
          <a:prstGeom prst="rect">
            <a:avLst/>
          </a:prstGeom>
          <a:noFill/>
        </p:spPr>
        <p:txBody>
          <a:bodyPr wrap="square" lIns="0" tIns="0" rIns="0" bIns="0" anchor="ctr">
            <a:spAutoFit/>
          </a:bodyPr>
          <a:lstStyle/>
          <a:p>
            <a:pPr algn="l">
              <a:lnSpc>
                <a:spcPct val="110000"/>
              </a:lnSpc>
              <a:spcBef>
                <a:spcPts val="0"/>
              </a:spcBef>
              <a:spcAft>
                <a:spcPts val="240"/>
              </a:spcAft>
            </a:pPr>
            <a:r>
              <a:rPr sz="840" b="1" i="0">
                <a:solidFill>
                  <a:srgbClr val="182B49"/>
                </a:solidFill>
                <a:latin typeface="Segoe UI Semibold"/>
              </a:rPr>
              <a:t>Generative models learn what data looks like</a:t>
            </a:r>
          </a:p>
          <a:p>
            <a:pPr algn="l">
              <a:lnSpc>
                <a:spcPct val="116000"/>
              </a:lnSpc>
              <a:spcBef>
                <a:spcPts val="0"/>
              </a:spcBef>
              <a:spcAft>
                <a:spcPts val="0"/>
              </a:spcAft>
            </a:pPr>
            <a:r>
              <a:rPr sz="750" b="0" i="0">
                <a:solidFill>
                  <a:srgbClr val="586476"/>
                </a:solidFill>
                <a:latin typeface="Segoe UI"/>
              </a:rPr>
              <a:t>Discriminative models learn a boundary between classes; generative models learn the distribution well enough to produce new samples.</a:t>
            </a:r>
          </a:p>
        </p:txBody>
      </p:sp>
      <p:sp>
        <p:nvSpPr>
          <p:cNvPr id="15" name="Rounded Rectangle 14"/>
          <p:cNvSpPr/>
          <p:nvPr/>
        </p:nvSpPr>
        <p:spPr>
          <a:xfrm>
            <a:off x="6178280" y="1792224"/>
            <a:ext cx="5510768" cy="800100"/>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6178280" y="1792224"/>
            <a:ext cx="68580" cy="8001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Oval 16"/>
          <p:cNvSpPr/>
          <p:nvPr/>
        </p:nvSpPr>
        <p:spPr>
          <a:xfrm>
            <a:off x="6397736" y="2000250"/>
            <a:ext cx="384048" cy="384048"/>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2</a:t>
            </a:r>
          </a:p>
        </p:txBody>
      </p:sp>
      <p:sp>
        <p:nvSpPr>
          <p:cNvPr id="18" name="TextBox 17"/>
          <p:cNvSpPr txBox="1"/>
          <p:nvPr/>
        </p:nvSpPr>
        <p:spPr>
          <a:xfrm>
            <a:off x="6928088" y="1938528"/>
            <a:ext cx="4578080" cy="544068"/>
          </a:xfrm>
          <a:prstGeom prst="rect">
            <a:avLst/>
          </a:prstGeom>
          <a:noFill/>
        </p:spPr>
        <p:txBody>
          <a:bodyPr wrap="square" lIns="0" tIns="0" rIns="0" bIns="0" anchor="ctr">
            <a:spAutoFit/>
          </a:bodyPr>
          <a:lstStyle/>
          <a:p>
            <a:pPr algn="l">
              <a:lnSpc>
                <a:spcPct val="110000"/>
              </a:lnSpc>
              <a:spcBef>
                <a:spcPts val="0"/>
              </a:spcBef>
              <a:spcAft>
                <a:spcPts val="240"/>
              </a:spcAft>
            </a:pPr>
            <a:r>
              <a:rPr sz="840" b="1" i="0">
                <a:solidFill>
                  <a:srgbClr val="182B49"/>
                </a:solidFill>
                <a:latin typeface="Segoe UI Semibold"/>
              </a:rPr>
              <a:t>An LLM predicts the next token</a:t>
            </a:r>
          </a:p>
          <a:p>
            <a:pPr algn="l">
              <a:lnSpc>
                <a:spcPct val="116000"/>
              </a:lnSpc>
              <a:spcBef>
                <a:spcPts val="0"/>
              </a:spcBef>
              <a:spcAft>
                <a:spcPts val="0"/>
              </a:spcAft>
            </a:pPr>
            <a:r>
              <a:rPr sz="750" b="0" i="0">
                <a:solidFill>
                  <a:srgbClr val="586476"/>
                </a:solidFill>
                <a:latin typeface="Segoe UI"/>
              </a:rPr>
              <a:t>That single self-supervised objective, at scale, is what produces grammar, style, facts and some reasoning as by-products.</a:t>
            </a:r>
          </a:p>
        </p:txBody>
      </p:sp>
      <p:sp>
        <p:nvSpPr>
          <p:cNvPr id="19" name="Rounded Rectangle 18"/>
          <p:cNvSpPr/>
          <p:nvPr/>
        </p:nvSpPr>
        <p:spPr>
          <a:xfrm>
            <a:off x="502920" y="2756915"/>
            <a:ext cx="5510768" cy="800100"/>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502920" y="2756915"/>
            <a:ext cx="68580" cy="8001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Oval 20"/>
          <p:cNvSpPr/>
          <p:nvPr/>
        </p:nvSpPr>
        <p:spPr>
          <a:xfrm>
            <a:off x="722376" y="2964941"/>
            <a:ext cx="384048" cy="384048"/>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3</a:t>
            </a:r>
          </a:p>
        </p:txBody>
      </p:sp>
      <p:sp>
        <p:nvSpPr>
          <p:cNvPr id="22" name="TextBox 21"/>
          <p:cNvSpPr txBox="1"/>
          <p:nvPr/>
        </p:nvSpPr>
        <p:spPr>
          <a:xfrm>
            <a:off x="1252728" y="2903220"/>
            <a:ext cx="4578080" cy="544068"/>
          </a:xfrm>
          <a:prstGeom prst="rect">
            <a:avLst/>
          </a:prstGeom>
          <a:noFill/>
        </p:spPr>
        <p:txBody>
          <a:bodyPr wrap="square" lIns="0" tIns="0" rIns="0" bIns="0" anchor="ctr">
            <a:spAutoFit/>
          </a:bodyPr>
          <a:lstStyle/>
          <a:p>
            <a:pPr algn="l">
              <a:lnSpc>
                <a:spcPct val="110000"/>
              </a:lnSpc>
              <a:spcBef>
                <a:spcPts val="0"/>
              </a:spcBef>
              <a:spcAft>
                <a:spcPts val="290"/>
              </a:spcAft>
            </a:pPr>
            <a:r>
              <a:rPr sz="1010" b="1" i="0">
                <a:solidFill>
                  <a:srgbClr val="182B49"/>
                </a:solidFill>
                <a:latin typeface="Segoe UI Semibold"/>
              </a:rPr>
              <a:t>Fluency and correctness are separate</a:t>
            </a:r>
          </a:p>
          <a:p>
            <a:pPr algn="l">
              <a:lnSpc>
                <a:spcPct val="116000"/>
              </a:lnSpc>
              <a:spcBef>
                <a:spcPts val="0"/>
              </a:spcBef>
              <a:spcAft>
                <a:spcPts val="0"/>
              </a:spcAft>
            </a:pPr>
            <a:r>
              <a:rPr sz="900" b="0" i="0">
                <a:solidFill>
                  <a:srgbClr val="586476"/>
                </a:solidFill>
                <a:latin typeface="Segoe UI"/>
              </a:rPr>
              <a:t>The objective rewards plausible continuations, not true ones, which is precisely why hallucination happens.</a:t>
            </a:r>
          </a:p>
        </p:txBody>
      </p:sp>
      <p:sp>
        <p:nvSpPr>
          <p:cNvPr id="23" name="Rounded Rectangle 22"/>
          <p:cNvSpPr/>
          <p:nvPr/>
        </p:nvSpPr>
        <p:spPr>
          <a:xfrm>
            <a:off x="6178280" y="2756915"/>
            <a:ext cx="5510768" cy="800100"/>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ectangle 23"/>
          <p:cNvSpPr/>
          <p:nvPr/>
        </p:nvSpPr>
        <p:spPr>
          <a:xfrm>
            <a:off x="6178280" y="2756915"/>
            <a:ext cx="68580" cy="8001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Oval 24"/>
          <p:cNvSpPr/>
          <p:nvPr/>
        </p:nvSpPr>
        <p:spPr>
          <a:xfrm>
            <a:off x="6397736" y="2964941"/>
            <a:ext cx="384048" cy="384048"/>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4</a:t>
            </a:r>
          </a:p>
        </p:txBody>
      </p:sp>
      <p:sp>
        <p:nvSpPr>
          <p:cNvPr id="26" name="TextBox 25"/>
          <p:cNvSpPr txBox="1"/>
          <p:nvPr/>
        </p:nvSpPr>
        <p:spPr>
          <a:xfrm>
            <a:off x="6928088" y="2903220"/>
            <a:ext cx="4578080" cy="544068"/>
          </a:xfrm>
          <a:prstGeom prst="rect">
            <a:avLst/>
          </a:prstGeom>
          <a:noFill/>
        </p:spPr>
        <p:txBody>
          <a:bodyPr wrap="square" lIns="0" tIns="0" rIns="0" bIns="0" anchor="ctr">
            <a:spAutoFit/>
          </a:bodyPr>
          <a:lstStyle/>
          <a:p>
            <a:pPr algn="l">
              <a:lnSpc>
                <a:spcPct val="110000"/>
              </a:lnSpc>
              <a:spcBef>
                <a:spcPts val="0"/>
              </a:spcBef>
              <a:spcAft>
                <a:spcPts val="240"/>
              </a:spcAft>
            </a:pPr>
            <a:r>
              <a:rPr sz="840" b="1" i="0">
                <a:solidFill>
                  <a:srgbClr val="182B49"/>
                </a:solidFill>
                <a:latin typeface="Segoe UI Semibold"/>
              </a:rPr>
              <a:t>Prompt design is specificity, examples and permission to refuse</a:t>
            </a:r>
          </a:p>
          <a:p>
            <a:pPr algn="l">
              <a:lnSpc>
                <a:spcPct val="116000"/>
              </a:lnSpc>
              <a:spcBef>
                <a:spcPts val="0"/>
              </a:spcBef>
              <a:spcAft>
                <a:spcPts val="0"/>
              </a:spcAft>
            </a:pPr>
            <a:r>
              <a:rPr sz="750" b="0" i="0">
                <a:solidFill>
                  <a:srgbClr val="586476"/>
                </a:solidFill>
                <a:latin typeface="Segoe UI"/>
              </a:rPr>
              <a:t>Role, format constraints, few-shot examples and chain-of-thought all transfer across models.</a:t>
            </a:r>
          </a:p>
        </p:txBody>
      </p:sp>
      <p:sp>
        <p:nvSpPr>
          <p:cNvPr id="27" name="Rounded Rectangle 26"/>
          <p:cNvSpPr/>
          <p:nvPr/>
        </p:nvSpPr>
        <p:spPr>
          <a:xfrm>
            <a:off x="502920" y="3721608"/>
            <a:ext cx="5510768" cy="800100"/>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27"/>
          <p:cNvSpPr/>
          <p:nvPr/>
        </p:nvSpPr>
        <p:spPr>
          <a:xfrm>
            <a:off x="502920" y="3721608"/>
            <a:ext cx="68580" cy="8001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Oval 28"/>
          <p:cNvSpPr/>
          <p:nvPr/>
        </p:nvSpPr>
        <p:spPr>
          <a:xfrm>
            <a:off x="722376" y="3929634"/>
            <a:ext cx="384048" cy="384048"/>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5</a:t>
            </a:r>
          </a:p>
        </p:txBody>
      </p:sp>
      <p:sp>
        <p:nvSpPr>
          <p:cNvPr id="30" name="TextBox 29"/>
          <p:cNvSpPr txBox="1"/>
          <p:nvPr/>
        </p:nvSpPr>
        <p:spPr>
          <a:xfrm>
            <a:off x="1252728" y="3867912"/>
            <a:ext cx="4578080" cy="544068"/>
          </a:xfrm>
          <a:prstGeom prst="rect">
            <a:avLst/>
          </a:prstGeom>
          <a:noFill/>
        </p:spPr>
        <p:txBody>
          <a:bodyPr wrap="square" lIns="0" tIns="0" rIns="0" bIns="0" anchor="ctr">
            <a:spAutoFit/>
          </a:bodyPr>
          <a:lstStyle/>
          <a:p>
            <a:pPr algn="l">
              <a:lnSpc>
                <a:spcPct val="110000"/>
              </a:lnSpc>
              <a:spcBef>
                <a:spcPts val="0"/>
              </a:spcBef>
              <a:spcAft>
                <a:spcPts val="290"/>
              </a:spcAft>
            </a:pPr>
            <a:r>
              <a:rPr sz="1010" b="1" i="0">
                <a:solidFill>
                  <a:srgbClr val="182B49"/>
                </a:solidFill>
                <a:latin typeface="Segoe UI Semibold"/>
              </a:rPr>
              <a:t>RAG grounds generation in retrieved text</a:t>
            </a:r>
          </a:p>
          <a:p>
            <a:pPr algn="l">
              <a:lnSpc>
                <a:spcPct val="116000"/>
              </a:lnSpc>
              <a:spcBef>
                <a:spcPts val="0"/>
              </a:spcBef>
              <a:spcAft>
                <a:spcPts val="0"/>
              </a:spcAft>
            </a:pPr>
            <a:r>
              <a:rPr sz="900" b="0" i="0">
                <a:solidFill>
                  <a:srgbClr val="586476"/>
                </a:solidFill>
                <a:latin typeface="Segoe UI"/>
              </a:rPr>
              <a:t>Retrieval supplies the facts, the model supplies the fluency, and citations make the result auditable.</a:t>
            </a:r>
          </a:p>
        </p:txBody>
      </p:sp>
      <p:sp>
        <p:nvSpPr>
          <p:cNvPr id="31" name="Rounded Rectangle 30"/>
          <p:cNvSpPr/>
          <p:nvPr/>
        </p:nvSpPr>
        <p:spPr>
          <a:xfrm>
            <a:off x="6178280" y="3721608"/>
            <a:ext cx="5510768" cy="800100"/>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Rectangle 31"/>
          <p:cNvSpPr/>
          <p:nvPr/>
        </p:nvSpPr>
        <p:spPr>
          <a:xfrm>
            <a:off x="6178280" y="3721608"/>
            <a:ext cx="68580" cy="8001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Oval 32"/>
          <p:cNvSpPr/>
          <p:nvPr/>
        </p:nvSpPr>
        <p:spPr>
          <a:xfrm>
            <a:off x="6397736" y="3929634"/>
            <a:ext cx="384048" cy="384048"/>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6</a:t>
            </a:r>
          </a:p>
        </p:txBody>
      </p:sp>
      <p:sp>
        <p:nvSpPr>
          <p:cNvPr id="34" name="TextBox 33"/>
          <p:cNvSpPr txBox="1"/>
          <p:nvPr/>
        </p:nvSpPr>
        <p:spPr>
          <a:xfrm>
            <a:off x="6928088" y="3867912"/>
            <a:ext cx="4578080" cy="544068"/>
          </a:xfrm>
          <a:prstGeom prst="rect">
            <a:avLst/>
          </a:prstGeom>
          <a:noFill/>
        </p:spPr>
        <p:txBody>
          <a:bodyPr wrap="square" lIns="0" tIns="0" rIns="0" bIns="0" anchor="ctr">
            <a:spAutoFit/>
          </a:bodyPr>
          <a:lstStyle/>
          <a:p>
            <a:pPr algn="l">
              <a:lnSpc>
                <a:spcPct val="110000"/>
              </a:lnSpc>
              <a:spcBef>
                <a:spcPts val="0"/>
              </a:spcBef>
              <a:spcAft>
                <a:spcPts val="290"/>
              </a:spcAft>
            </a:pPr>
            <a:r>
              <a:rPr sz="1010" b="1" i="0">
                <a:solidFill>
                  <a:srgbClr val="182B49"/>
                </a:solidFill>
                <a:latin typeface="Segoe UI Semibold"/>
              </a:rPr>
              <a:t>Explanations are global or local</a:t>
            </a:r>
          </a:p>
          <a:p>
            <a:pPr algn="l">
              <a:lnSpc>
                <a:spcPct val="116000"/>
              </a:lnSpc>
              <a:spcBef>
                <a:spcPts val="0"/>
              </a:spcBef>
              <a:spcAft>
                <a:spcPts val="0"/>
              </a:spcAft>
            </a:pPr>
            <a:r>
              <a:rPr sz="900" b="0" i="0">
                <a:solidFill>
                  <a:srgbClr val="586476"/>
                </a:solidFill>
                <a:latin typeface="Segoe UI"/>
              </a:rPr>
              <a:t>Global describes the model; local justifies one decision - and it is local explanations that regulators require.</a:t>
            </a:r>
          </a:p>
        </p:txBody>
      </p:sp>
      <p:sp>
        <p:nvSpPr>
          <p:cNvPr id="35" name="Rounded Rectangle 34"/>
          <p:cNvSpPr/>
          <p:nvPr/>
        </p:nvSpPr>
        <p:spPr>
          <a:xfrm>
            <a:off x="502920" y="4686300"/>
            <a:ext cx="5510768" cy="800100"/>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Rectangle 35"/>
          <p:cNvSpPr/>
          <p:nvPr/>
        </p:nvSpPr>
        <p:spPr>
          <a:xfrm>
            <a:off x="502920" y="4686300"/>
            <a:ext cx="68580" cy="8001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Oval 36"/>
          <p:cNvSpPr/>
          <p:nvPr/>
        </p:nvSpPr>
        <p:spPr>
          <a:xfrm>
            <a:off x="722376" y="4894326"/>
            <a:ext cx="384048" cy="384048"/>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7</a:t>
            </a:r>
          </a:p>
        </p:txBody>
      </p:sp>
      <p:sp>
        <p:nvSpPr>
          <p:cNvPr id="38" name="TextBox 37"/>
          <p:cNvSpPr txBox="1"/>
          <p:nvPr/>
        </p:nvSpPr>
        <p:spPr>
          <a:xfrm>
            <a:off x="1252728" y="4832604"/>
            <a:ext cx="4578080" cy="544068"/>
          </a:xfrm>
          <a:prstGeom prst="rect">
            <a:avLst/>
          </a:prstGeom>
          <a:noFill/>
        </p:spPr>
        <p:txBody>
          <a:bodyPr wrap="square" lIns="0" tIns="0" rIns="0" bIns="0" anchor="ctr">
            <a:spAutoFit/>
          </a:bodyPr>
          <a:lstStyle/>
          <a:p>
            <a:pPr algn="l">
              <a:lnSpc>
                <a:spcPct val="110000"/>
              </a:lnSpc>
              <a:spcBef>
                <a:spcPts val="0"/>
              </a:spcBef>
              <a:spcAft>
                <a:spcPts val="240"/>
              </a:spcAft>
            </a:pPr>
            <a:r>
              <a:rPr sz="840" b="1" i="0">
                <a:solidFill>
                  <a:srgbClr val="182B49"/>
                </a:solidFill>
                <a:latin typeface="Segoe UI Semibold"/>
              </a:rPr>
              <a:t>Bias comes from data and deployment, not from biased code</a:t>
            </a:r>
          </a:p>
          <a:p>
            <a:pPr algn="l">
              <a:lnSpc>
                <a:spcPct val="116000"/>
              </a:lnSpc>
              <a:spcBef>
                <a:spcPts val="0"/>
              </a:spcBef>
              <a:spcAft>
                <a:spcPts val="0"/>
              </a:spcAft>
            </a:pPr>
            <a:r>
              <a:rPr sz="750" b="0" i="0">
                <a:solidFill>
                  <a:srgbClr val="586476"/>
                </a:solidFill>
                <a:latin typeface="Segoe UI"/>
              </a:rPr>
              <a:t>Historical, representation, measurement and deployment bias are the four sources worth naming.</a:t>
            </a:r>
          </a:p>
        </p:txBody>
      </p:sp>
      <p:sp>
        <p:nvSpPr>
          <p:cNvPr id="39" name="Rounded Rectangle 38"/>
          <p:cNvSpPr/>
          <p:nvPr/>
        </p:nvSpPr>
        <p:spPr>
          <a:xfrm>
            <a:off x="6178280" y="4686300"/>
            <a:ext cx="5510768" cy="800100"/>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Rectangle 39"/>
          <p:cNvSpPr/>
          <p:nvPr/>
        </p:nvSpPr>
        <p:spPr>
          <a:xfrm>
            <a:off x="6178280" y="4686300"/>
            <a:ext cx="68580" cy="8001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Oval 40"/>
          <p:cNvSpPr/>
          <p:nvPr/>
        </p:nvSpPr>
        <p:spPr>
          <a:xfrm>
            <a:off x="6397736" y="4894326"/>
            <a:ext cx="384048" cy="384048"/>
          </a:xfrm>
          <a:prstGeom prst="ellipse">
            <a:avLst/>
          </a:prstGeom>
          <a:solidFill>
            <a:srgbClr val="182B4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spcBef>
                <a:spcPts val="0"/>
              </a:spcBef>
              <a:spcAft>
                <a:spcPts val="0"/>
              </a:spcAft>
            </a:pPr>
            <a:r>
              <a:rPr sz="1400" b="1" i="0">
                <a:solidFill>
                  <a:srgbClr val="FFFFFF"/>
                </a:solidFill>
                <a:latin typeface="Segoe UI Semibold"/>
              </a:rPr>
              <a:t>8</a:t>
            </a:r>
          </a:p>
        </p:txBody>
      </p:sp>
      <p:sp>
        <p:nvSpPr>
          <p:cNvPr id="42" name="TextBox 41"/>
          <p:cNvSpPr txBox="1"/>
          <p:nvPr/>
        </p:nvSpPr>
        <p:spPr>
          <a:xfrm>
            <a:off x="6928088" y="4832604"/>
            <a:ext cx="4578080" cy="544068"/>
          </a:xfrm>
          <a:prstGeom prst="rect">
            <a:avLst/>
          </a:prstGeom>
          <a:noFill/>
        </p:spPr>
        <p:txBody>
          <a:bodyPr wrap="square" lIns="0" tIns="0" rIns="0" bIns="0" anchor="ctr">
            <a:spAutoFit/>
          </a:bodyPr>
          <a:lstStyle/>
          <a:p>
            <a:pPr algn="l">
              <a:lnSpc>
                <a:spcPct val="110000"/>
              </a:lnSpc>
              <a:spcBef>
                <a:spcPts val="0"/>
              </a:spcBef>
              <a:spcAft>
                <a:spcPts val="290"/>
              </a:spcAft>
            </a:pPr>
            <a:r>
              <a:rPr sz="1010" b="1" i="0">
                <a:solidFill>
                  <a:srgbClr val="182B49"/>
                </a:solidFill>
                <a:latin typeface="Segoe UI Semibold"/>
              </a:rPr>
              <a:t>Removing a protected attribute does not remove it</a:t>
            </a:r>
          </a:p>
          <a:p>
            <a:pPr algn="l">
              <a:lnSpc>
                <a:spcPct val="116000"/>
              </a:lnSpc>
              <a:spcBef>
                <a:spcPts val="0"/>
              </a:spcBef>
              <a:spcAft>
                <a:spcPts val="0"/>
              </a:spcAft>
            </a:pPr>
            <a:r>
              <a:rPr sz="900" b="0" i="0">
                <a:solidFill>
                  <a:srgbClr val="586476"/>
                </a:solidFill>
                <a:latin typeface="Segoe UI"/>
              </a:rPr>
              <a:t>Proxy variables reconstruct it. Measure the disparity, document it, and decide deliberately.</a:t>
            </a:r>
          </a:p>
        </p:txBody>
      </p:sp>
      <p:sp>
        <p:nvSpPr>
          <p:cNvPr id="43" name="Rounded Rectangle 42"/>
          <p:cNvSpPr/>
          <p:nvPr/>
        </p:nvSpPr>
        <p:spPr>
          <a:xfrm>
            <a:off x="502920" y="5596128"/>
            <a:ext cx="11186129" cy="731520"/>
          </a:xfrm>
          <a:prstGeom prst="roundRect">
            <a:avLst>
              <a:gd name="adj" fmla="val 7000"/>
            </a:avLst>
          </a:prstGeom>
          <a:solidFill>
            <a:srgbClr val="182B49"/>
          </a:solidFill>
          <a:ln w="12700">
            <a:solidFill>
              <a:srgbClr val="182B49"/>
            </a:solidFill>
          </a:ln>
          <a:effectLst/>
        </p:spPr>
        <p:style>
          <a:lnRef idx="1">
            <a:schemeClr val="accent1"/>
          </a:lnRef>
          <a:fillRef idx="3">
            <a:schemeClr val="accent1"/>
          </a:fillRef>
          <a:effectRef idx="2">
            <a:schemeClr val="accent1"/>
          </a:effectRef>
          <a:fontRef idx="minor">
            <a:schemeClr val="lt1"/>
          </a:fontRef>
        </p:style>
        <p:txBody>
          <a:bodyPr wrap="square" lIns="256032" tIns="0" rIns="219456" bIns="0" rtlCol="0" anchor="ctr"/>
          <a:lstStyle/>
          <a:p>
            <a:pPr algn="l">
              <a:lnSpc>
                <a:spcPct val="116000"/>
              </a:lnSpc>
              <a:spcBef>
                <a:spcPts val="0"/>
              </a:spcBef>
              <a:spcAft>
                <a:spcPts val="0"/>
              </a:spcAft>
            </a:pPr>
            <a:r>
              <a:rPr sz="1150" b="1" i="0">
                <a:solidFill>
                  <a:srgbClr val="F5A623"/>
                </a:solidFill>
                <a:latin typeface="Segoe UI Semibold"/>
              </a:rPr>
              <a:t>NEXT UP   </a:t>
            </a:r>
            <a:r>
              <a:rPr sz="1350" b="0" i="0">
                <a:solidFill>
                  <a:srgbClr val="D6E2F0"/>
                </a:solidFill>
                <a:latin typeface="Segoe UI"/>
              </a:rPr>
              <a:t>Unit VI - The AI Ecosystem and Future Trends: the Python ecosystem, TensorFlow and PyTorch, Hugging Face, Ollama and LangChain, vector databases, and where the field is heading.</a:t>
            </a:r>
          </a:p>
        </p:txBody>
      </p:sp>
      <p:sp>
        <p:nvSpPr>
          <p:cNvPr id="44" name="Rectangle 43"/>
          <p:cNvSpPr/>
          <p:nvPr/>
        </p:nvSpPr>
        <p:spPr>
          <a:xfrm>
            <a:off x="502920" y="5596128"/>
            <a:ext cx="77724" cy="731520"/>
          </a:xfrm>
          <a:prstGeom prst="rect">
            <a:avLst/>
          </a:prstGeom>
          <a:solidFill>
            <a:srgbClr val="ED771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5906</TotalTime>
  <Words>3254</Words>
  <Application>Microsoft Office PowerPoint</Application>
  <PresentationFormat>Widescreen</PresentationFormat>
  <Paragraphs>430</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Display</vt:lpstr>
      <vt:lpstr>Arial</vt:lpstr>
      <vt:lpstr>Calibri</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CSE276 Unit 5 - Generative AI and Responsible Artificial Intelligence</dc:title>
  <dc:subject>Artificial Intelligence Foundations</dc:subject>
  <dc:creator>School of Computer Science &amp; Engineering</dc:creator>
  <cp:lastModifiedBy>Piyush Sharma</cp:lastModifiedBy>
  <cp:revision>95</cp:revision>
  <dcterms:created xsi:type="dcterms:W3CDTF">2025-07-15T03:53:59Z</dcterms:created>
  <dcterms:modified xsi:type="dcterms:W3CDTF">2026-10-21T04:02:52Z</dcterms:modified>
</cp:coreProperties>
</file>